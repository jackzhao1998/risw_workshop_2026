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This tutorial breaks a biomedical agentic pipeline into the components you can ask a coding agent to build. We will explain the purpose of each skill, helper, and hook, and show a construction prompt you can adapt. The workshop SAP and datasets are already supplied. The full prompts and function guide accompany the video.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task: compare ABC-201 with placebo on change in HbA1c at Week 24, adjusting for baseline. The supplied analysis plan defines that question. The subject table contains ten synthetic participants, five in each group, with treatment, baseline, and analysis flags. Two alternative efficacy files link by subject ID: one stops at Week 12; the other includes Week 24. The pipeline checks the selected file, then either runs the specified analysis and reviews the result, or stops and explains what is missing.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Begin with a user asking the agent an analysis question. The workflow skill tells the agent how to use SAP extraction, readiness checks, analysis, and review. A structured contract carries the analysis requirements. The pre-analysis gate either blocks fitting or allows the specified ANCOVA, and final review checks the result before reporting. The harness supports the conversation, tool calls, and state. The agent uses the evidence to answer the user, including follow-up questions. A separate pre-tool hook checks declared data operations.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Start with a goal supplied by the user. This project checks readiness for a Week 24 HbA1c comparison, then estimates the treatment difference only when quality control allows it. The first step records that goal, the existing inputs, and the component build order in a project protocol.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prompt supplies the project goal: build a reusable pipeline from an analysis question and estimand to a reviewed result. Study-specific settings come from the user’s request and statistical analysis plan. Ask the agent to record the scope and build order before implementation.</a:t>
            </a:r>
          </a:p>
          <a:p>
            <a:endParaRPr/>
          </a:p>
          <a:p>
            <a:r>
              <a:t>Full construction prompt</a:t>
            </a:r>
          </a:p>
          <a:p>
            <a:endParaRPr/>
          </a:p>
          <a:p>
            <a:r>
              <a:t>I want a reusable biomedical analysis pipeline that turns a user-defined research question and estimand into a checked analysis result. It should extract requirements from a statistical analysis plan, assess the selected data, run the supported analysis only after QC allows it, and explain completed or blocked outcomes. Record this goal, component scope, and build order in project_protocol.md before implementation.</a:t>
            </a:r>
          </a:p>
          <a:p>
            <a:endParaRPr/>
          </a:p>
          <a:p>
            <a:r>
              <a:t>Accept the analysis question, SAP path, selected dataset paths, and output directory as inputs. Plan extraction, an analysis contract, data QC, gated analysis, source-data protection, result review, and workflow state. Derive endpoint, population, treatment comparison, and model settings from the user’s request and SAP. Preserve source files and keep local protocols, outputs, and private files excluded from Git.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SAP skill describes a procedure for turning the analysis plan into requirements that other components can use. Each field carries its value and source evidence. The skill also explains how to expose missing or ambiguous information. Extraction ends before any data readiness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skill should explain what information to extract, rather than name a particular study endpoint. The estimand, population, endpoint, and analysis settings become contract fields. Their values come from the document, with source evidence and explicit status for missing information.</a:t>
            </a:r>
          </a:p>
          <a:p>
            <a:endParaRPr/>
          </a:p>
          <a:p>
            <a:r>
              <a:t>Full construction prompt</a:t>
            </a:r>
          </a:p>
          <a:p>
            <a:endParaRPr/>
          </a:p>
          <a:p>
            <a:r>
              <a:t>Create a SAP extraction skill that reads a statistical analysis plan and produces a structured contract for data readiness and analysis. Extract the estimand, endpoint definition, analysis population, treatment comparison, assessment timing, outcome and covariates, model, missing-data rules, required datasets and variables, readiness criteria, and reporting constraints. Attach a value, source section, evidence, and field status to each requirement.</a:t>
            </a:r>
          </a:p>
          <a:p>
            <a:endParaRPr/>
          </a:p>
          <a:p>
            <a:r>
              <a:t>Write skills/sap-extractor/SKILL.md with its trigger, inputs, extraction procedure, output schema, and helper usage. Take study-specific values from the supplied document and keep missing or ambiguous requirements explicit. End the procedure after extraction.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extraction helper turns the supplied Markdown excerpt into a JSON contract. It reads sections, labeled values, dash lists, and the model formula, then attaches evidence to each extracted field.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for a parser that produces the contract fields needed by downstream tools. The prompt names the concepts to extract, while the supplied plan provides their values. Section and field helpers keep the extraction procedure clear, and the JSON gives later components a common input.</a:t>
            </a:r>
          </a:p>
          <a:p>
            <a:endParaRPr/>
          </a:p>
          <a:p>
            <a:r>
              <a:t>Full construction prompt</a:t>
            </a:r>
          </a:p>
          <a:p>
            <a:endParaRPr/>
          </a:p>
          <a:p>
            <a:r>
              <a:t>Build a Python helper that converts a Markdown statistical analysis plan into an analysis-contract JSON file. Extract the estimand, endpoint, population rules, treatment comparison, assessment timing, model variables, analysis method, and data requirements. Store each requirement with its value, source section, evidence, and status, and include the fields requiring review and overall extraction status.</a:t>
            </a:r>
          </a:p>
          <a:p>
            <a:endParaRPr/>
          </a:p>
          <a:p>
            <a:r>
              <a:t>Implement section, labeled-value, list, formula, and evidence helpers in skills/sap-extractor/scripts/extract_sap_contract.py, with --sap and --output arguments. Read values from the supplied document instead of hard-coding study terms. Use the agreed document layout and contract schema, and keep data checking in its own component.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contract, checking table, result, and manifest form the workflow’s state. Small utilities load JSON and record time. The artifact helper describes a file by its resolved path and whether it exists. These records make a completed workflow easier to inspect.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request describes reusable state utilities. They record file locations, timestamps, and structured artifacts for whichever analysis the user selects. The workflow collects those records with its stage decisions so the result can be inspected.</a:t>
            </a:r>
          </a:p>
          <a:p>
            <a:endParaRPr/>
          </a:p>
          <a:p>
            <a:r>
              <a:t>Full construction prompt</a:t>
            </a:r>
          </a:p>
          <a:p>
            <a:endParaRPr/>
          </a:p>
          <a:p>
            <a:r>
              <a:t>Add utilities that record which files an analysis used and produced. Implement JSON loading, UTC timestamps, and artifact records containing a resolved file path and an existence flag. Use these records to track the selected inputs, generated outputs, and stage decisions in a workflow manifest.</a:t>
            </a:r>
          </a:p>
          <a:p>
            <a:endParaRPr/>
          </a:p>
          <a:p>
            <a:r>
              <a:t>Keep the utilities small and reusable across components. Load JSON without changing the source, record artifact locations, and let the workflow assemble the manifest from its completed stages.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pre-tool hook checks a proposed data operation. It collects paths, identifies targets under the protected data directory, and applies operation and shell-pattern rules. The workflow calls it for declared source-data reads. Its decision matters only where the caller checks and enforces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hook’s purpose is independent of the analysis endpoint. The prompt defines its operation event, protected-source policy, and decision output. Protected paths and operation details are inputs, allowing the same check to be used across analysis projects.</a:t>
            </a:r>
          </a:p>
          <a:p>
            <a:endParaRPr/>
          </a:p>
          <a:p>
            <a:r>
              <a:t>Full construction prompt</a:t>
            </a:r>
          </a:p>
          <a:p>
            <a:endParaRPr/>
          </a:p>
          <a:p>
            <a:r>
              <a:t>Build a pre-tool hook that evaluates proposed operations against a protected-source policy and returns ALLOW or BLOCK with reasons. Accept the tool name, operation, arguments, target paths, protected directory, and base directory. Resolve the targets, identify protected paths, and apply the policy’s rules for reads, mutations, unknown operations, and shell commands.</a:t>
            </a:r>
          </a:p>
          <a:p>
            <a:endParaRPr/>
          </a:p>
          <a:p>
            <a:r>
              <a:t>Implement hooks/pre_tool_data_security_hook.py with a JSON-event CLI and optional decision output. Record the resolved paths and matched rules, and use exit code 2 for BLOCK. The caller must honor the decision before performing the proposed operation.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readiness skill tells the agent which inputs to supply and how to interpret the checker’s evidence. It uses the chosen efficacy file throughout. The demo checker requires endpoint coverage for every FAS subject, which is stricter than the SAP’s missing-record exclusion wording.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readiness skill should work from the contract’s requirements. A missing endpoint, required visit, or population variable can prevent the intended analysis. Ask the skill to explain which requirement failed and how that affects the user’s analysis question.</a:t>
            </a:r>
          </a:p>
          <a:p>
            <a:endParaRPr/>
          </a:p>
          <a:p>
            <a:r>
              <a:t>Full construction prompt</a:t>
            </a:r>
          </a:p>
          <a:p>
            <a:endParaRPr/>
          </a:p>
          <a:p>
            <a:r>
              <a:t>Create a data readiness skill that checks whether selected datasets satisfy an analysis contract. Guide the agent to inspect required variables, subject identifiers, population membership, treatment groups, endpoint selection, assessment timing, and record coverage using a deterministic checker. Explain its findings and ALLOW/BLOCK decision in relation to the intended estimand and analysis.</a:t>
            </a:r>
          </a:p>
          <a:p>
            <a:endParaRPr/>
          </a:p>
          <a:p>
            <a:r>
              <a:t>Write skills/data-checker/SKILL.md with the required inputs, checker command, expected artifacts, and interpretation steps. Derive selection and missing-data requirements from the contract and documented analysis policy. Preserve the user’s selected files and explain unmet requirements without changing the endpoint, replacing datasets, or fitting a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deterministic checker turns contract requirements into a table. It checks columns, subject IDs, treatments, population selection, endpoint records, and subject coverage. Each row records what was expected and observed. The wrapper writes that evidence and a summary decision for the analysis stage.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checker should compare actual data with requirements supplied through the contract. The prompt uses endpoint, population, timing, and coverage as general terms. Its table explains each finding, and its summary tells the analysis component whether the required checks passed.</a:t>
            </a:r>
          </a:p>
          <a:p>
            <a:endParaRPr/>
          </a:p>
          <a:p>
            <a:r>
              <a:t>Full construction prompt</a:t>
            </a:r>
          </a:p>
          <a:p>
            <a:endParaRPr/>
          </a:p>
          <a:p>
            <a:r>
              <a:t>Build a deterministic data checker that compares an analysis contract with subject and endpoint datasets and returns expected-versus-observed QC rows. Check required variables, subject identifiers, permitted treatment values, population selection, endpoint records, assessment timing, and coverage according to the documented rules. Summarize failed terms and status counts, returning BLOCK when a required check fails and ALLOW when the requirements pass.</a:t>
            </a:r>
          </a:p>
          <a:p>
            <a:endParaRPr/>
          </a:p>
          <a:p>
            <a:r>
              <a:t>Implement data_qc_helpers.py and a command-line wrapper. Each row should contain the term, dataset, expected and observed values, pass flag, status, severity, explanation, and source section. Write the table as CSV/JSON and a summary with the decision, selected input paths, and timestamp. Take expected values and selection rules from the contract.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pre-analysis gate sits inside the analysis helper. It reads the QC summary and continues only for an ALLOW decision. Other decisions produce a blocked result before dataset construction or fitting. In this demo, the gate trusts the supplied summary; it does not rerun the data checks.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gate applies to any analysis tool using the same readiness interface. It reads the QC decision and either permits model work or produces a blocked result. The endpoint and model settings remain in the analysis contract.</a:t>
            </a:r>
          </a:p>
          <a:p>
            <a:endParaRPr/>
          </a:p>
          <a:p>
            <a:r>
              <a:t>Full construction prompt</a:t>
            </a:r>
          </a:p>
          <a:p>
            <a:endParaRPr/>
          </a:p>
          <a:p>
            <a:r>
              <a:t>Build a pre-analysis gate that reads the readiness decision before an analysis tool constructs model data or fits a model. Continue only when the decision is ALLOW. Otherwise, return a BLOCKED result with analysis_executed set to false, the failed requirements, and a reason that can be reported to the user.</a:t>
            </a:r>
          </a:p>
          <a:p>
            <a:endParaRPr/>
          </a:p>
          <a:p>
            <a:r>
              <a:t>Implement require_qc_allow() to return the permission flag and failed terms, and call it from the supported analysis entry point. Keep the gate focused on the QC decision, with data checking performed by the readiness component.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numerical helper separates data selection from model fitting. It joins the selected endpoint records to FAS subjects and represents active treatment with an indicator. The model includes an intercept, treatment, and baseline. The result records the treatment difference, uncertainty, sample counts, and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ANCOVA remains the defined capability of this helper. The prompt generalizes the endpoint, population, treatment labels, and baseline variable by taking them from the contract. The returned estimate and uncertainty describe the requested contrast using the selected model settings.</a:t>
            </a:r>
          </a:p>
          <a:p>
            <a:endParaRPr/>
          </a:p>
          <a:p>
            <a:r>
              <a:t>Full construction prompt</a:t>
            </a:r>
          </a:p>
          <a:p>
            <a:endParaRPr/>
          </a:p>
          <a:p>
            <a:r>
              <a:t>Build an ANCOVA helper for a continuous endpoint that runs only after the readiness gate allows analysis. Use an analysis contract to select the population and endpoint records, identify the outcome, treatment groups, and baseline covariate, and define the treatment contrast. Return the adjusted contrast estimate, standard error, confidence interval, p value, sample size, and group counts.</a:t>
            </a:r>
          </a:p>
          <a:p>
            <a:endParaRPr/>
          </a:p>
          <a:p>
            <a:r>
              <a:t>Separate dataset selection, joining by the subject identifier, model fitting, and gated execution in ancova_helpers.py. Use an intercept, treatment indicator, and baseline covariate with NumPy and SciPy. Read variable names and contrast direction from the contract, apply the documented missing-value rule, and record the inference settings and residual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ANCOVA skill explains how an agent should use the analysis tool. A thin command-line wrapper loads the chosen inputs and calls the gated helper. It then records the input paths in the result, so the reader can see which contract, QC summary, and datasets were selected.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skill explains when the ANCOVA capability is appropriate and what it needs. Its wrapper accepts the selected datasets and contract instead of assuming a fixed study. It reuses the gated helper and returns structured results that the agent can explain.</a:t>
            </a:r>
          </a:p>
          <a:p>
            <a:endParaRPr/>
          </a:p>
          <a:p>
            <a:r>
              <a:t>Full construction prompt</a:t>
            </a:r>
          </a:p>
          <a:p>
            <a:endParaRPr/>
          </a:p>
          <a:p>
            <a:r>
              <a:t>Create an ANCOVA skill and command-line wrapper that use an analysis contract, readiness summary, and selected datasets to call a gated analysis helper. The skill should explain the supported endpoint and model, required inputs, and interpretation of completed or blocked results. The wrapper should write structured results and record the selected input paths.</a:t>
            </a:r>
          </a:p>
          <a:p>
            <a:endParaRPr/>
          </a:p>
          <a:p>
            <a:r>
              <a:t>Write skills/ancova-test/SKILL.md and its command-line script with contract, QC-summary, subject-data, endpoint-data, and output arguments. Pass the contract’s endpoint, population, variable, and contrast settings to the helper. Keep data selection and fitting in the analysis module and use the same gate for direct command-line calls.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 review checks the recorded outcome. It compares the gate and execution status, aligns model fields with the contract, and inspects statistical fields and counts. It also checks declared data-handling flags and can scan supplied report text. Failed checks produce a failed release decision.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review request is about consistency with the intended analysis. It takes the model, variables, and contrast from the contract and applies checks appropriate to the supported method. A completed result, a correctly blocked run, and an inconsistent outcome receive distinct decisions.</a:t>
            </a:r>
          </a:p>
          <a:p>
            <a:endParaRPr/>
          </a:p>
          <a:p>
            <a:r>
              <a:t>Full construction prompt</a:t>
            </a:r>
          </a:p>
          <a:p>
            <a:endParaRPr/>
          </a:p>
          <a:p>
            <a:r>
              <a:t>Build a final-result review hook that checks whether an analysis outcome is consistent with its readiness decision and analysis contract. Compare the recorded model, variables, and contrast with the intended analysis; inspect execution status, data-handling declarations, result fields, uncertainty measures, and sample counts. Return individual findings and PASS, BLOCK, or FAIL for reporting.</a:t>
            </a:r>
          </a:p>
          <a:p>
            <a:endParaRPr/>
          </a:p>
          <a:p>
            <a:r>
              <a:t>Implement separate checks in hooks/final_result_review_hook.py, including an optional report-text check. Apply statistical checks appropriate to the supported analysis method. A failed check should yield FAIL, a consistent blocked analysis should yield BLOCK, and a consistent completed analysis should yield PASS. Accept result, contract, optional report, and output paths.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existing demo can check a report supplied by the user. It scans the text for a short list of clinical or regulatory claim phrases and adds a finding to the final review. It does not generate a narrative report. The scan uses keywords, so it does not interpret negation or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report check uses a documented policy for the analysis context. The prompt asks for phrase matching and a review finding, with the restricted phrases held in one list. Optional text can then be checked as part of the final result review.</a:t>
            </a:r>
          </a:p>
          <a:p>
            <a:endParaRPr/>
          </a:p>
          <a:p>
            <a:r>
              <a:t>Full construction prompt</a:t>
            </a:r>
          </a:p>
          <a:p>
            <a:endParaRPr/>
          </a:p>
          <a:p>
            <a:r>
              <a:t>Add an optional report-text check that scans supplied analysis text for phrases restricted by a documented reporting policy. Use case-insensitive matching, record any matching patterns, and add a failed finding when a restricted phrase appears. Add a passing finding when no phrase matches, or an explicit note when no report text was supplied.</a:t>
            </a:r>
          </a:p>
          <a:p>
            <a:endParaRPr/>
          </a:p>
          <a:p>
            <a:r>
              <a:t>Implement check_final_report_text() and connect it to the review hook’s optional report argument. Define the restricted phrases in one policy list so they can be reviewed for the analysis context. Return the finding to the overall result review.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workflow skill teaches the agent how to handle analysis tasks through conversation. It connects the user's question with the available skills, tools, and decision rules. The agent may check readiness, carry out an authorized analysis, or explain an existing blocked result. The harness supports the conversation, tool calls, and working state. Deterministic tools perform the checks and calculations, while the agent uses their evidence to decide the next action and answer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coding agent to create instructions that make this workflow usable in conversation. The skill defines when to use each component, how to respond to a gate decision, and what evidence to include in the reply. A Python runner can remain a convenience tool for a complete run. The workflow skill also guides readiness-only tasks and follow-up questions.</a:t>
            </a:r>
          </a:p>
          <a:p>
            <a:endParaRPr/>
          </a:p>
          <a:p>
            <a:r>
              <a:t>Full construction prompt</a:t>
            </a:r>
          </a:p>
          <a:p>
            <a:endParaRPr/>
          </a:p>
          <a:p>
            <a:r>
              <a:t>Create a workflow skill that lets an agent handle biomedical analysis requests through conversation. Teach it to identify the user's estimand, endpoint, population, and selected inputs; use the SAP extraction, readiness, analysis, and review tools; follow their gate decisions; and explain the outcome with supporting artifacts. The skill should guide the agent's next action for the task and current evidence.</a:t>
            </a:r>
          </a:p>
          <a:p>
            <a:endParaRPr/>
          </a:p>
          <a:p>
            <a:r>
              <a:t>Write skills/biomed-analysis-workflow/SKILL.md with activation cues, required context, component responsibilities, decision rules, and response expectations. Support readiness-only requests, analysis when requested and allowed, and follow-up questions about existing results. Ask for missing essential inputs or unresolved analysis choices. Use the SAP and contract for analysis requirements, preserve selected source files, and explain unsupported requests. Keep computation and gate enforcement in the tools; the agent must stop fitting on BLOCK and release findings only after review. Record selected paths, decisions, and artifacts in workflow state. The existing orchestration script may serve as a convenience tool for complete runs. Explain how the agent uses the skill within its conversation, tool calls, and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recap the build: first, define the analysis goal and scope. Second, build the SAP extraction skill and contract helper. Third, add shared state and source-data protection. Fourth, implement readiness checks and the pre-analysis gate. Fifth, build gated ANCOVA and final-result review tools. Finally, connect these components through a workflow skill, so the agent can carry out requested tasks and explain the evidence in conversation.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13" name="rect-001">
            <a:extLst>
              <a:ext uri="{FF2B5EF4-FFF2-40B4-BE49-F238E27FC236}">
                <a16:creationId xmlns:a16="http://schemas.microsoft.com/office/drawing/2014/main" id="{D3C89A2C-FD7F-48A4-8D28-2E8C38A33B28}"/>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9809FFE4-265D-4643-B14C-77A60AE8B627}"/>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RISW WORKSHOP TUTORIAL">
            <a:extLst>
              <a:ext uri="{FF2B5EF4-FFF2-40B4-BE49-F238E27FC236}">
                <a16:creationId xmlns:a16="http://schemas.microsoft.com/office/drawing/2014/main" id="{BB8CDE66-48A3-4263-BD0E-5F0180D4E41E}"/>
              </a:ext>
            </a:extLst>
          </p:cNvPr>
          <p:cNvSpPr>
            <a:spLocks noGrp="1"/>
          </p:cNvSpPr>
          <p:nvPr/>
        </p:nvSpPr>
        <p:spPr>
          <a:xfrm>
            <a:off x="781050" y="1042290"/>
            <a:ext cx="3085951"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RISW WORKSHOP TUTORIAL</a:t>
            </a:r>
          </a:p>
        </p:txBody>
      </p:sp>
      <p:sp>
        <p:nvSpPr>
          <p:cNvPr id="5" name="text-005 Build a biomedical agentic pipeline">
            <a:extLst>
              <a:ext uri="{FF2B5EF4-FFF2-40B4-BE49-F238E27FC236}">
                <a16:creationId xmlns:a16="http://schemas.microsoft.com/office/drawing/2014/main" id="{D1FCE978-B64D-4920-9D25-6F2A9ABE6157}"/>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a biomedical agentic pipeline</a:t>
            </a:r>
          </a:p>
        </p:txBody>
      </p:sp>
      <p:sp>
        <p:nvSpPr>
          <p:cNvPr id="6" name="line-006-1">
            <a:extLst>
              <a:ext uri="{FF2B5EF4-FFF2-40B4-BE49-F238E27FC236}">
                <a16:creationId xmlns:a16="http://schemas.microsoft.com/office/drawing/2014/main" id="{396D57D6-40BD-417D-8DBE-7DA71E41654F}"/>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7" name="text-007 Authored construction prompts • Full text accompanies the vi">
            <a:extLst>
              <a:ext uri="{FF2B5EF4-FFF2-40B4-BE49-F238E27FC236}">
                <a16:creationId xmlns:a16="http://schemas.microsoft.com/office/drawing/2014/main" id="{907B85B2-2574-41F2-A81A-BC02048B88FB}"/>
              </a:ext>
            </a:extLst>
          </p:cNvPr>
          <p:cNvSpPr>
            <a:spLocks noGrp="1"/>
          </p:cNvSpPr>
          <p:nvPr/>
        </p:nvSpPr>
        <p:spPr>
          <a:xfrm>
            <a:off x="781050" y="8615317"/>
            <a:ext cx="6086475"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Authored construction prompts • Full text accompanies the video</a:t>
            </a:r>
          </a:p>
        </p:txBody>
      </p:sp>
      <p:sp>
        <p:nvSpPr>
          <p:cNvPr id="8" name="roundRect-008">
            <a:extLst>
              <a:ext uri="{FF2B5EF4-FFF2-40B4-BE49-F238E27FC236}">
                <a16:creationId xmlns:a16="http://schemas.microsoft.com/office/drawing/2014/main" id="{55E42356-7DCE-4BEC-A440-560A243D1D47}"/>
              </a:ext>
            </a:extLst>
          </p:cNvPr>
          <p:cNvSpPr>
            <a:spLocks noGrp="1"/>
          </p:cNvSpPr>
          <p:nvPr/>
        </p:nvSpPr>
        <p:spPr>
          <a:xfrm>
            <a:off x="762000" y="2762250"/>
            <a:ext cx="16764000" cy="5334000"/>
          </a:xfrm>
          <a:prstGeom prst="roundRect">
            <a:avLst>
              <a:gd name="adj" fmla="val 3929"/>
            </a:avLst>
          </a:prstGeom>
          <a:solidFill>
            <a:srgbClr val="FFFFFF"/>
          </a:solidFill>
          <a:ln w="19050">
            <a:solidFill>
              <a:srgbClr val="D9E4EB"/>
            </a:solidFill>
          </a:ln>
        </p:spPr>
        <p:txBody>
          <a:bodyPr/>
          <a:lstStyle/>
          <a:p>
            <a:endParaRPr lang="en-US"/>
          </a:p>
        </p:txBody>
      </p:sp>
      <p:sp>
        <p:nvSpPr>
          <p:cNvPr id="9" name="text-009 Understand each component. Ask a coding agent to build it.">
            <a:extLst>
              <a:ext uri="{FF2B5EF4-FFF2-40B4-BE49-F238E27FC236}">
                <a16:creationId xmlns:a16="http://schemas.microsoft.com/office/drawing/2014/main" id="{44D1BBCF-E51A-4325-9149-00820A20471F}"/>
              </a:ext>
            </a:extLst>
          </p:cNvPr>
          <p:cNvSpPr>
            <a:spLocks noGrp="1"/>
          </p:cNvSpPr>
          <p:nvPr/>
        </p:nvSpPr>
        <p:spPr>
          <a:xfrm>
            <a:off x="1190625" y="3105462"/>
            <a:ext cx="15621000" cy="1657350"/>
          </a:xfrm>
          <a:prstGeom prst="rect">
            <a:avLst/>
          </a:prstGeom>
          <a:noFill/>
          <a:ln w="0">
            <a:noFill/>
          </a:ln>
        </p:spPr>
        <p:txBody>
          <a:bodyPr wrap="none" lIns="0" tIns="0" rIns="0" bIns="0" anchor="t">
            <a:noAutofit/>
          </a:bodyPr>
          <a:lstStyle/>
          <a:p>
            <a:pPr algn="l">
              <a:lnSpc>
                <a:spcPct val="112500"/>
              </a:lnSpc>
              <a:buNone/>
              <a:defRPr sz="4350" b="1">
                <a:solidFill>
                  <a:srgbClr val="183047"/>
                </a:solidFill>
                <a:latin typeface="Segoe UI"/>
                <a:ea typeface="Segoe UI"/>
                <a:cs typeface="Segoe UI"/>
              </a:defRPr>
            </a:pPr>
            <a:r>
              <a:rPr sz="4350" b="1">
                <a:solidFill>
                  <a:srgbClr val="183047"/>
                </a:solidFill>
                <a:latin typeface="Segoe UI"/>
                <a:ea typeface="Segoe UI"/>
                <a:cs typeface="Segoe UI"/>
              </a:rPr>
              <a:t>Understand each component.</a:t>
            </a:r>
          </a:p>
          <a:p>
            <a:pPr algn="l">
              <a:lnSpc>
                <a:spcPct val="112500"/>
              </a:lnSpc>
              <a:buNone/>
              <a:defRPr sz="4350" b="1">
                <a:solidFill>
                  <a:srgbClr val="183047"/>
                </a:solidFill>
                <a:latin typeface="Segoe UI"/>
                <a:ea typeface="Segoe UI"/>
                <a:cs typeface="Segoe UI"/>
              </a:defRPr>
            </a:pPr>
            <a:r>
              <a:rPr sz="4350" b="1">
                <a:solidFill>
                  <a:srgbClr val="183047"/>
                </a:solidFill>
                <a:latin typeface="Segoe UI"/>
                <a:ea typeface="Segoe UI"/>
                <a:cs typeface="Segoe UI"/>
              </a:rPr>
              <a:t>Ask a coding agent to build it.</a:t>
            </a:r>
          </a:p>
        </p:txBody>
      </p:sp>
      <p:sp>
        <p:nvSpPr>
          <p:cNvPr id="10" name="text-010 Skills • Helper functions • Hooks • Shared state • Harness A">
            <a:extLst>
              <a:ext uri="{FF2B5EF4-FFF2-40B4-BE49-F238E27FC236}">
                <a16:creationId xmlns:a16="http://schemas.microsoft.com/office/drawing/2014/main" id="{A5E3EF07-249F-4564-A8AD-118BD0AFEBA6}"/>
              </a:ext>
            </a:extLst>
          </p:cNvPr>
          <p:cNvSpPr>
            <a:spLocks noGrp="1"/>
          </p:cNvSpPr>
          <p:nvPr/>
        </p:nvSpPr>
        <p:spPr>
          <a:xfrm>
            <a:off x="1190625" y="5025447"/>
            <a:ext cx="14954250" cy="1000125"/>
          </a:xfrm>
          <a:prstGeom prst="rect">
            <a:avLst/>
          </a:prstGeom>
          <a:noFill/>
          <a:ln w="0">
            <a:noFill/>
          </a:ln>
        </p:spPr>
        <p:txBody>
          <a:bodyPr wrap="none" lIns="0" tIns="0" rIns="0" bIns="0" anchor="t">
            <a:noAutofit/>
          </a:bodyPr>
          <a:lstStyle/>
          <a:p>
            <a:pPr algn="l">
              <a:lnSpc>
                <a:spcPct val="112500"/>
              </a:lnSpc>
              <a:buNone/>
              <a:defRPr sz="2625" b="0">
                <a:solidFill>
                  <a:srgbClr val="183047"/>
                </a:solidFill>
                <a:latin typeface="Segoe UI"/>
                <a:ea typeface="Segoe UI"/>
                <a:cs typeface="Segoe UI"/>
              </a:defRPr>
            </a:pPr>
            <a:r>
              <a:rPr sz="2625" b="0">
                <a:solidFill>
                  <a:srgbClr val="183047"/>
                </a:solidFill>
                <a:latin typeface="Segoe UI"/>
                <a:ea typeface="Segoe UI"/>
                <a:cs typeface="Segoe UI"/>
              </a:rPr>
              <a:t>Skills • Helper functions • Hooks • Shared state • Harness</a:t>
            </a:r>
          </a:p>
          <a:p>
            <a:pPr algn="l">
              <a:lnSpc>
                <a:spcPct val="112500"/>
              </a:lnSpc>
              <a:buNone/>
              <a:defRPr sz="2625" b="0">
                <a:solidFill>
                  <a:srgbClr val="183047"/>
                </a:solidFill>
                <a:latin typeface="Segoe UI"/>
                <a:ea typeface="Segoe UI"/>
                <a:cs typeface="Segoe UI"/>
              </a:defRPr>
            </a:pPr>
            <a:r>
              <a:rPr sz="2625" b="0">
                <a:solidFill>
                  <a:srgbClr val="183047"/>
                </a:solidFill>
                <a:latin typeface="Segoe UI"/>
                <a:ea typeface="Segoe UI"/>
                <a:cs typeface="Segoe UI"/>
              </a:rPr>
              <a:t>A step-by-step blueprint using supplied workshop inputs.</a:t>
            </a:r>
          </a:p>
        </p:txBody>
      </p:sp>
      <p:sp>
        <p:nvSpPr>
          <p:cNvPr id="11" name="roundRect-011">
            <a:extLst>
              <a:ext uri="{FF2B5EF4-FFF2-40B4-BE49-F238E27FC236}">
                <a16:creationId xmlns:a16="http://schemas.microsoft.com/office/drawing/2014/main" id="{EEF947CD-AB8A-4FA9-92F5-FA900A16E6A8}"/>
              </a:ext>
            </a:extLst>
          </p:cNvPr>
          <p:cNvSpPr>
            <a:spLocks noGrp="1"/>
          </p:cNvSpPr>
          <p:nvPr/>
        </p:nvSpPr>
        <p:spPr>
          <a:xfrm>
            <a:off x="1190625" y="7315200"/>
            <a:ext cx="9763125" cy="466725"/>
          </a:xfrm>
          <a:prstGeom prst="roundRect">
            <a:avLst>
              <a:gd name="adj" fmla="val 24490"/>
            </a:avLst>
          </a:prstGeom>
          <a:solidFill>
            <a:srgbClr val="E6F3F1"/>
          </a:solidFill>
          <a:ln w="0">
            <a:noFill/>
          </a:ln>
        </p:spPr>
        <p:txBody>
          <a:bodyPr/>
          <a:lstStyle/>
          <a:p>
            <a:endParaRPr lang="en-US"/>
          </a:p>
        </p:txBody>
      </p:sp>
      <p:sp>
        <p:nvSpPr>
          <p:cNvPr id="12" name="text-012 Project explanation + learner construction prompts">
            <a:extLst>
              <a:ext uri="{FF2B5EF4-FFF2-40B4-BE49-F238E27FC236}">
                <a16:creationId xmlns:a16="http://schemas.microsoft.com/office/drawing/2014/main" id="{04083FB5-A86A-44AC-A934-C16505AAE6A3}"/>
              </a:ext>
            </a:extLst>
          </p:cNvPr>
          <p:cNvSpPr>
            <a:spLocks noGrp="1"/>
          </p:cNvSpPr>
          <p:nvPr/>
        </p:nvSpPr>
        <p:spPr>
          <a:xfrm>
            <a:off x="1381125" y="7375112"/>
            <a:ext cx="5886450" cy="357188"/>
          </a:xfrm>
          <a:prstGeom prst="rect">
            <a:avLst/>
          </a:prstGeom>
          <a:noFill/>
          <a:ln w="0">
            <a:noFill/>
          </a:ln>
        </p:spPr>
        <p:txBody>
          <a:bodyPr wrap="none" lIns="0" tIns="0" rIns="0" bIns="0" anchor="t">
            <a:noAutofit/>
          </a:bodyPr>
          <a:lstStyle/>
          <a:p>
            <a:pPr algn="l">
              <a:lnSpc>
                <a:spcPct val="112500"/>
              </a:lnSpc>
              <a:buNone/>
              <a:defRPr sz="1875" b="1">
                <a:solidFill>
                  <a:srgbClr val="137F7B"/>
                </a:solidFill>
                <a:latin typeface="Segoe UI"/>
                <a:ea typeface="Segoe UI"/>
                <a:cs typeface="Segoe UI"/>
              </a:defRPr>
            </a:pPr>
            <a:r>
              <a:rPr sz="1875" b="1">
                <a:solidFill>
                  <a:srgbClr val="137F7B"/>
                </a:solidFill>
                <a:latin typeface="Segoe UI"/>
                <a:ea typeface="Segoe UI"/>
                <a:cs typeface="Segoe UI"/>
              </a:rPr>
              <a:t>Project explanation + learner construction prompts</a:t>
            </a:r>
          </a:p>
        </p:txBody>
      </p:sp>
    </p:spTree>
    <p:extLst>
      <p:ext uri="{BB962C8B-B14F-4D97-AF65-F5344CB8AC3E}">
        <p14:creationId xmlns:p14="http://schemas.microsoft.com/office/powerpoint/2010/main" val="77098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7" name="rect-001">
            <a:extLst>
              <a:ext uri="{FF2B5EF4-FFF2-40B4-BE49-F238E27FC236}">
                <a16:creationId xmlns:a16="http://schemas.microsoft.com/office/drawing/2014/main" id="{8B3A3E35-0BB7-450F-B0E5-38AC6D675CBA}"/>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5325E18F-D0CB-4AD5-822A-AEFF765AD121}"/>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THE SUPPLIED DATA AND TASK">
            <a:extLst>
              <a:ext uri="{FF2B5EF4-FFF2-40B4-BE49-F238E27FC236}">
                <a16:creationId xmlns:a16="http://schemas.microsoft.com/office/drawing/2014/main" id="{62DE7BC6-0067-4DF3-AF26-C86AA6D7D2AD}"/>
              </a:ext>
            </a:extLst>
          </p:cNvPr>
          <p:cNvSpPr>
            <a:spLocks noGrp="1"/>
          </p:cNvSpPr>
          <p:nvPr/>
        </p:nvSpPr>
        <p:spPr>
          <a:xfrm>
            <a:off x="781050" y="1042290"/>
            <a:ext cx="3380929"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THE SUPPLIED DATA AND TASK</a:t>
            </a:r>
          </a:p>
        </p:txBody>
      </p:sp>
      <p:sp>
        <p:nvSpPr>
          <p:cNvPr id="5" name="text-005 The data and the analysis question">
            <a:extLst>
              <a:ext uri="{FF2B5EF4-FFF2-40B4-BE49-F238E27FC236}">
                <a16:creationId xmlns:a16="http://schemas.microsoft.com/office/drawing/2014/main" id="{4D43293A-7C31-4E2A-8C94-3AE0E4B10BF4}"/>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The data and the analysis question</a:t>
            </a:r>
          </a:p>
        </p:txBody>
      </p:sp>
      <p:sp>
        <p:nvSpPr>
          <p:cNvPr id="6" name="line-006-1">
            <a:extLst>
              <a:ext uri="{FF2B5EF4-FFF2-40B4-BE49-F238E27FC236}">
                <a16:creationId xmlns:a16="http://schemas.microsoft.com/office/drawing/2014/main" id="{CB3A3F15-B962-4A20-8DA7-189532DAF81A}"/>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7" name="text-007 BIO-ABC-101 • Synthetic workshop data • Select one efficacy ">
            <a:extLst>
              <a:ext uri="{FF2B5EF4-FFF2-40B4-BE49-F238E27FC236}">
                <a16:creationId xmlns:a16="http://schemas.microsoft.com/office/drawing/2014/main" id="{D6350175-ECAD-49B9-8C27-40553FA7090E}"/>
              </a:ext>
            </a:extLst>
          </p:cNvPr>
          <p:cNvSpPr>
            <a:spLocks noGrp="1"/>
          </p:cNvSpPr>
          <p:nvPr/>
        </p:nvSpPr>
        <p:spPr>
          <a:xfrm>
            <a:off x="781050" y="8615317"/>
            <a:ext cx="72390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BIO-ABC-101 • Synthetic workshop data • Select one efficacy file for each run</a:t>
            </a:r>
          </a:p>
        </p:txBody>
      </p:sp>
      <p:sp>
        <p:nvSpPr>
          <p:cNvPr id="8" name="roundRect-008">
            <a:extLst>
              <a:ext uri="{FF2B5EF4-FFF2-40B4-BE49-F238E27FC236}">
                <a16:creationId xmlns:a16="http://schemas.microsoft.com/office/drawing/2014/main" id="{830F517C-FBD7-4ACC-84AE-4C20B7F0BC18}"/>
              </a:ext>
            </a:extLst>
          </p:cNvPr>
          <p:cNvSpPr>
            <a:spLocks noGrp="1"/>
          </p:cNvSpPr>
          <p:nvPr/>
        </p:nvSpPr>
        <p:spPr>
          <a:xfrm>
            <a:off x="762000" y="2686050"/>
            <a:ext cx="16764000" cy="1428750"/>
          </a:xfrm>
          <a:prstGeom prst="roundRect">
            <a:avLst>
              <a:gd name="adj" fmla="val 14667"/>
            </a:avLst>
          </a:prstGeom>
          <a:solidFill>
            <a:srgbClr val="E6F3F1"/>
          </a:solidFill>
          <a:ln w="19050">
            <a:solidFill>
              <a:srgbClr val="D9E4EB"/>
            </a:solidFill>
          </a:ln>
        </p:spPr>
        <p:txBody>
          <a:bodyPr/>
          <a:lstStyle/>
          <a:p>
            <a:endParaRPr lang="en-US"/>
          </a:p>
        </p:txBody>
      </p:sp>
      <p:sp>
        <p:nvSpPr>
          <p:cNvPr id="9" name="text-009 ANALYSIS QUESTION">
            <a:extLst>
              <a:ext uri="{FF2B5EF4-FFF2-40B4-BE49-F238E27FC236}">
                <a16:creationId xmlns:a16="http://schemas.microsoft.com/office/drawing/2014/main" id="{226E8E82-2718-47AC-833D-D0742C9541F0}"/>
              </a:ext>
            </a:extLst>
          </p:cNvPr>
          <p:cNvSpPr>
            <a:spLocks noGrp="1"/>
          </p:cNvSpPr>
          <p:nvPr/>
        </p:nvSpPr>
        <p:spPr>
          <a:xfrm>
            <a:off x="1066800" y="2843818"/>
            <a:ext cx="215250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ANALYSIS QUESTION</a:t>
            </a:r>
          </a:p>
        </p:txBody>
      </p:sp>
      <p:sp>
        <p:nvSpPr>
          <p:cNvPr id="10" name="text-010 How does Week 24 HbA1c change differ between ABC-201 and pla">
            <a:extLst>
              <a:ext uri="{FF2B5EF4-FFF2-40B4-BE49-F238E27FC236}">
                <a16:creationId xmlns:a16="http://schemas.microsoft.com/office/drawing/2014/main" id="{CD3FCADD-BEE7-4400-A590-857A2CC83ACF}"/>
              </a:ext>
            </a:extLst>
          </p:cNvPr>
          <p:cNvSpPr>
            <a:spLocks noGrp="1"/>
          </p:cNvSpPr>
          <p:nvPr/>
        </p:nvSpPr>
        <p:spPr>
          <a:xfrm>
            <a:off x="1066800" y="3273579"/>
            <a:ext cx="16002000" cy="471488"/>
          </a:xfrm>
          <a:prstGeom prst="rect">
            <a:avLst/>
          </a:prstGeom>
          <a:noFill/>
          <a:ln w="0">
            <a:noFill/>
          </a:ln>
        </p:spPr>
        <p:txBody>
          <a:bodyPr wrap="none" lIns="0" tIns="0" rIns="0" bIns="0" anchor="t">
            <a:noAutofit/>
          </a:bodyPr>
          <a:lstStyle/>
          <a:p>
            <a:pPr algn="l">
              <a:lnSpc>
                <a:spcPct val="100000"/>
              </a:lnSpc>
              <a:buNone/>
              <a:defRPr sz="2475" b="1">
                <a:solidFill>
                  <a:srgbClr val="183047"/>
                </a:solidFill>
                <a:latin typeface="Segoe UI"/>
                <a:ea typeface="Segoe UI"/>
                <a:cs typeface="Segoe UI"/>
              </a:defRPr>
            </a:pPr>
            <a:r>
              <a:rPr sz="2475" b="1">
                <a:solidFill>
                  <a:srgbClr val="183047"/>
                </a:solidFill>
                <a:latin typeface="Segoe UI"/>
                <a:ea typeface="Segoe UI"/>
                <a:cs typeface="Segoe UI"/>
              </a:rPr>
              <a:t>How does Week 24 HbA1c change differ between ABC-201 and placebo, after adjusting for baseline?</a:t>
            </a:r>
          </a:p>
        </p:txBody>
      </p:sp>
      <p:sp>
        <p:nvSpPr>
          <p:cNvPr id="11" name="roundRect-011">
            <a:extLst>
              <a:ext uri="{FF2B5EF4-FFF2-40B4-BE49-F238E27FC236}">
                <a16:creationId xmlns:a16="http://schemas.microsoft.com/office/drawing/2014/main" id="{70F8AD3E-042B-42C6-B2A7-0F2B29E67F14}"/>
              </a:ext>
            </a:extLst>
          </p:cNvPr>
          <p:cNvSpPr>
            <a:spLocks noGrp="1"/>
          </p:cNvSpPr>
          <p:nvPr/>
        </p:nvSpPr>
        <p:spPr>
          <a:xfrm>
            <a:off x="762000" y="4343400"/>
            <a:ext cx="6429375" cy="2686050"/>
          </a:xfrm>
          <a:prstGeom prst="roundRect">
            <a:avLst>
              <a:gd name="adj" fmla="val 7801"/>
            </a:avLst>
          </a:prstGeom>
          <a:solidFill>
            <a:srgbClr val="FFFFFF"/>
          </a:solidFill>
          <a:ln w="19050">
            <a:solidFill>
              <a:srgbClr val="D9E4EB"/>
            </a:solidFill>
          </a:ln>
        </p:spPr>
        <p:txBody>
          <a:bodyPr/>
          <a:lstStyle/>
          <a:p>
            <a:endParaRPr lang="en-US"/>
          </a:p>
        </p:txBody>
      </p:sp>
      <p:sp>
        <p:nvSpPr>
          <p:cNvPr id="12" name="text-012 SAP.md  ·  Analysis plan">
            <a:extLst>
              <a:ext uri="{FF2B5EF4-FFF2-40B4-BE49-F238E27FC236}">
                <a16:creationId xmlns:a16="http://schemas.microsoft.com/office/drawing/2014/main" id="{DDAFB81B-D94A-4341-A7B3-460ACC6BC9BB}"/>
              </a:ext>
            </a:extLst>
          </p:cNvPr>
          <p:cNvSpPr>
            <a:spLocks noGrp="1"/>
          </p:cNvSpPr>
          <p:nvPr/>
        </p:nvSpPr>
        <p:spPr>
          <a:xfrm>
            <a:off x="1066800" y="4534056"/>
            <a:ext cx="3228380" cy="414338"/>
          </a:xfrm>
          <a:prstGeom prst="rect">
            <a:avLst/>
          </a:prstGeom>
          <a:noFill/>
          <a:ln w="0">
            <a:noFill/>
          </a:ln>
        </p:spPr>
        <p:txBody>
          <a:bodyPr wrap="none" lIns="0" tIns="0" rIns="0" bIns="0" anchor="t">
            <a:noAutofit/>
          </a:bodyPr>
          <a:lstStyle/>
          <a:p>
            <a:pPr algn="l">
              <a:lnSpc>
                <a:spcPct val="112500"/>
              </a:lnSpc>
              <a:buNone/>
              <a:defRPr sz="2175" b="1">
                <a:solidFill>
                  <a:srgbClr val="183047"/>
                </a:solidFill>
                <a:latin typeface="Segoe UI"/>
                <a:ea typeface="Segoe UI"/>
                <a:cs typeface="Segoe UI"/>
              </a:defRPr>
            </a:pPr>
            <a:r>
              <a:rPr sz="2175" b="1">
                <a:solidFill>
                  <a:srgbClr val="183047"/>
                </a:solidFill>
                <a:latin typeface="Segoe UI"/>
                <a:ea typeface="Segoe UI"/>
                <a:cs typeface="Segoe UI"/>
              </a:rPr>
              <a:t>SAP.md  ·  Analysis plan</a:t>
            </a:r>
          </a:p>
        </p:txBody>
      </p:sp>
      <p:sp>
        <p:nvSpPr>
          <p:cNvPr id="13" name="text-013 Endpoint, population, model, and contrast">
            <a:extLst>
              <a:ext uri="{FF2B5EF4-FFF2-40B4-BE49-F238E27FC236}">
                <a16:creationId xmlns:a16="http://schemas.microsoft.com/office/drawing/2014/main" id="{4A28F0B4-7A18-4FD6-A14D-CFD1FEEF7DD1}"/>
              </a:ext>
            </a:extLst>
          </p:cNvPr>
          <p:cNvSpPr>
            <a:spLocks noGrp="1"/>
          </p:cNvSpPr>
          <p:nvPr/>
        </p:nvSpPr>
        <p:spPr>
          <a:xfrm>
            <a:off x="1066800" y="4936712"/>
            <a:ext cx="5867400" cy="392906"/>
          </a:xfrm>
          <a:prstGeom prst="rect">
            <a:avLst/>
          </a:prstGeom>
          <a:noFill/>
          <a:ln w="0">
            <a:noFill/>
          </a:ln>
        </p:spPr>
        <p:txBody>
          <a:bodyPr wrap="none" lIns="0" tIns="0" rIns="0" bIns="0" anchor="t">
            <a:noAutofit/>
          </a:bodyPr>
          <a:lstStyle/>
          <a:p>
            <a:pPr algn="l">
              <a:lnSpc>
                <a:spcPct val="112500"/>
              </a:lnSpc>
              <a:buNone/>
              <a:defRPr sz="1875" b="0">
                <a:solidFill>
                  <a:srgbClr val="183047"/>
                </a:solidFill>
                <a:latin typeface="Segoe UI"/>
                <a:ea typeface="Segoe UI"/>
                <a:cs typeface="Segoe UI"/>
              </a:defRPr>
            </a:pPr>
            <a:r>
              <a:rPr sz="1875" b="0">
                <a:solidFill>
                  <a:srgbClr val="183047"/>
                </a:solidFill>
                <a:latin typeface="Segoe UI"/>
                <a:ea typeface="Segoe UI"/>
                <a:cs typeface="Segoe UI"/>
              </a:rPr>
              <a:t>Endpoint, population, model, and contrast</a:t>
            </a:r>
          </a:p>
        </p:txBody>
      </p:sp>
      <p:sp>
        <p:nvSpPr>
          <p:cNvPr id="14" name="line-014-1">
            <a:extLst>
              <a:ext uri="{FF2B5EF4-FFF2-40B4-BE49-F238E27FC236}">
                <a16:creationId xmlns:a16="http://schemas.microsoft.com/office/drawing/2014/main" id="{1EC1CE9F-727D-4CF9-A77D-B6806EC098AA}"/>
              </a:ext>
            </a:extLst>
          </p:cNvPr>
          <p:cNvSpPr>
            <a:spLocks noGrp="1"/>
          </p:cNvSpPr>
          <p:nvPr/>
        </p:nvSpPr>
        <p:spPr>
          <a:xfrm>
            <a:off x="1066800" y="5419725"/>
            <a:ext cx="5791200" cy="0"/>
          </a:xfrm>
          <a:prstGeom prst="line">
            <a:avLst/>
          </a:prstGeom>
          <a:noFill/>
          <a:ln w="19050">
            <a:solidFill>
              <a:srgbClr val="D9E4EB"/>
            </a:solidFill>
          </a:ln>
        </p:spPr>
        <p:txBody>
          <a:bodyPr/>
          <a:lstStyle/>
          <a:p>
            <a:endParaRPr lang="en-US"/>
          </a:p>
        </p:txBody>
      </p:sp>
      <p:sp>
        <p:nvSpPr>
          <p:cNvPr id="15" name="text-015 adsl.csv  ·  Subject table">
            <a:extLst>
              <a:ext uri="{FF2B5EF4-FFF2-40B4-BE49-F238E27FC236}">
                <a16:creationId xmlns:a16="http://schemas.microsoft.com/office/drawing/2014/main" id="{2D959B40-A17C-4C0A-BBE1-F729872AFC4C}"/>
              </a:ext>
            </a:extLst>
          </p:cNvPr>
          <p:cNvSpPr>
            <a:spLocks noGrp="1"/>
          </p:cNvSpPr>
          <p:nvPr/>
        </p:nvSpPr>
        <p:spPr>
          <a:xfrm>
            <a:off x="1066800" y="5562756"/>
            <a:ext cx="3200400" cy="414338"/>
          </a:xfrm>
          <a:prstGeom prst="rect">
            <a:avLst/>
          </a:prstGeom>
          <a:noFill/>
          <a:ln w="0">
            <a:noFill/>
          </a:ln>
        </p:spPr>
        <p:txBody>
          <a:bodyPr wrap="none" lIns="0" tIns="0" rIns="0" bIns="0" anchor="t">
            <a:noAutofit/>
          </a:bodyPr>
          <a:lstStyle/>
          <a:p>
            <a:pPr algn="l">
              <a:lnSpc>
                <a:spcPct val="112500"/>
              </a:lnSpc>
              <a:buNone/>
              <a:defRPr sz="2175" b="1">
                <a:solidFill>
                  <a:srgbClr val="183047"/>
                </a:solidFill>
                <a:latin typeface="Segoe UI"/>
                <a:ea typeface="Segoe UI"/>
                <a:cs typeface="Segoe UI"/>
              </a:defRPr>
            </a:pPr>
            <a:r>
              <a:rPr sz="2175" b="1">
                <a:solidFill>
                  <a:srgbClr val="183047"/>
                </a:solidFill>
                <a:latin typeface="Segoe UI"/>
                <a:ea typeface="Segoe UI"/>
                <a:cs typeface="Segoe UI"/>
              </a:rPr>
              <a:t>adsl.csv  ·  Subject table</a:t>
            </a:r>
          </a:p>
        </p:txBody>
      </p:sp>
      <p:sp>
        <p:nvSpPr>
          <p:cNvPr id="16" name="text-016 10 synthetic participants • FASFL = Y 5 ABC-201 + 5 placebo ">
            <a:extLst>
              <a:ext uri="{FF2B5EF4-FFF2-40B4-BE49-F238E27FC236}">
                <a16:creationId xmlns:a16="http://schemas.microsoft.com/office/drawing/2014/main" id="{BBDA218E-047A-413D-B5BF-0C5344FE47C0}"/>
              </a:ext>
            </a:extLst>
          </p:cNvPr>
          <p:cNvSpPr>
            <a:spLocks noGrp="1"/>
          </p:cNvSpPr>
          <p:nvPr/>
        </p:nvSpPr>
        <p:spPr>
          <a:xfrm>
            <a:off x="1066800" y="5998750"/>
            <a:ext cx="5867400" cy="1000125"/>
          </a:xfrm>
          <a:prstGeom prst="rect">
            <a:avLst/>
          </a:prstGeom>
          <a:noFill/>
          <a:ln w="0">
            <a:noFill/>
          </a:ln>
        </p:spPr>
        <p:txBody>
          <a:bodyPr wrap="none" lIns="0" tIns="0" rIns="0" bIns="0" anchor="t">
            <a:noAutofit/>
          </a:bodyPr>
          <a:lstStyle/>
          <a:p>
            <a:pPr algn="l">
              <a:lnSpc>
                <a:spcPct val="108333"/>
              </a:lnSpc>
              <a:buNone/>
              <a:defRPr sz="1875" b="0">
                <a:solidFill>
                  <a:srgbClr val="183047"/>
                </a:solidFill>
                <a:latin typeface="Segoe UI"/>
                <a:ea typeface="Segoe UI"/>
                <a:cs typeface="Segoe UI"/>
              </a:defRPr>
            </a:pPr>
            <a:r>
              <a:rPr sz="1875" b="0">
                <a:solidFill>
                  <a:srgbClr val="183047"/>
                </a:solidFill>
                <a:latin typeface="Segoe UI"/>
                <a:ea typeface="Segoe UI"/>
                <a:cs typeface="Segoe UI"/>
              </a:rPr>
              <a:t>10 synthetic participants • FASFL = Y</a:t>
            </a:r>
          </a:p>
          <a:p>
            <a:pPr algn="l">
              <a:lnSpc>
                <a:spcPct val="108333"/>
              </a:lnSpc>
              <a:buNone/>
              <a:defRPr sz="1875" b="0">
                <a:solidFill>
                  <a:srgbClr val="183047"/>
                </a:solidFill>
                <a:latin typeface="Segoe UI"/>
                <a:ea typeface="Segoe UI"/>
                <a:cs typeface="Segoe UI"/>
              </a:defRPr>
            </a:pPr>
            <a:r>
              <a:rPr sz="1875" b="0">
                <a:solidFill>
                  <a:srgbClr val="183047"/>
                </a:solidFill>
                <a:latin typeface="Segoe UI"/>
                <a:ea typeface="Segoe UI"/>
                <a:cs typeface="Segoe UI"/>
              </a:rPr>
              <a:t>5 ABC-201 + 5 placebo</a:t>
            </a:r>
          </a:p>
          <a:p>
            <a:pPr algn="l">
              <a:lnSpc>
                <a:spcPct val="108333"/>
              </a:lnSpc>
              <a:buNone/>
              <a:defRPr sz="1875" b="0">
                <a:solidFill>
                  <a:srgbClr val="183047"/>
                </a:solidFill>
                <a:latin typeface="Segoe UI"/>
                <a:ea typeface="Segoe UI"/>
                <a:cs typeface="Segoe UI"/>
              </a:defRPr>
            </a:pPr>
            <a:r>
              <a:rPr sz="1875" b="0">
                <a:solidFill>
                  <a:srgbClr val="183047"/>
                </a:solidFill>
                <a:latin typeface="Segoe UI"/>
                <a:ea typeface="Segoe UI"/>
                <a:cs typeface="Segoe UI"/>
              </a:rPr>
              <a:t>Treatment, baseline, and analysis flags</a:t>
            </a:r>
          </a:p>
        </p:txBody>
      </p:sp>
      <p:sp>
        <p:nvSpPr>
          <p:cNvPr id="17" name="roundRect-017">
            <a:extLst>
              <a:ext uri="{FF2B5EF4-FFF2-40B4-BE49-F238E27FC236}">
                <a16:creationId xmlns:a16="http://schemas.microsoft.com/office/drawing/2014/main" id="{940DDF5C-6D76-43C8-B6D3-9E075948934D}"/>
              </a:ext>
            </a:extLst>
          </p:cNvPr>
          <p:cNvSpPr>
            <a:spLocks noGrp="1"/>
          </p:cNvSpPr>
          <p:nvPr/>
        </p:nvSpPr>
        <p:spPr>
          <a:xfrm>
            <a:off x="7477125" y="4343400"/>
            <a:ext cx="10048875" cy="2686050"/>
          </a:xfrm>
          <a:prstGeom prst="roundRect">
            <a:avLst>
              <a:gd name="adj" fmla="val 7801"/>
            </a:avLst>
          </a:prstGeom>
          <a:solidFill>
            <a:srgbClr val="FFFFFF"/>
          </a:solidFill>
          <a:ln w="19050">
            <a:solidFill>
              <a:srgbClr val="D9E4EB"/>
            </a:solidFill>
          </a:ln>
        </p:spPr>
        <p:txBody>
          <a:bodyPr/>
          <a:lstStyle/>
          <a:p>
            <a:endParaRPr lang="en-US"/>
          </a:p>
        </p:txBody>
      </p:sp>
      <p:sp>
        <p:nvSpPr>
          <p:cNvPr id="18" name="text-018 CHOOSE ONE EFFICACY FILE">
            <a:extLst>
              <a:ext uri="{FF2B5EF4-FFF2-40B4-BE49-F238E27FC236}">
                <a16:creationId xmlns:a16="http://schemas.microsoft.com/office/drawing/2014/main" id="{B0E3930E-C33D-4629-904B-9597E8D95ADA}"/>
              </a:ext>
            </a:extLst>
          </p:cNvPr>
          <p:cNvSpPr>
            <a:spLocks noGrp="1"/>
          </p:cNvSpPr>
          <p:nvPr/>
        </p:nvSpPr>
        <p:spPr>
          <a:xfrm>
            <a:off x="7781925" y="4539268"/>
            <a:ext cx="27813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CHOOSE ONE EFFICACY FILE</a:t>
            </a:r>
          </a:p>
        </p:txBody>
      </p:sp>
      <p:sp>
        <p:nvSpPr>
          <p:cNvPr id="19" name="text-019 adeff_results.csv">
            <a:extLst>
              <a:ext uri="{FF2B5EF4-FFF2-40B4-BE49-F238E27FC236}">
                <a16:creationId xmlns:a16="http://schemas.microsoft.com/office/drawing/2014/main" id="{45B49C07-8040-4C7E-A0FF-74CE7ED7E6AF}"/>
              </a:ext>
            </a:extLst>
          </p:cNvPr>
          <p:cNvSpPr>
            <a:spLocks noGrp="1"/>
          </p:cNvSpPr>
          <p:nvPr/>
        </p:nvSpPr>
        <p:spPr>
          <a:xfrm>
            <a:off x="7781925" y="4924581"/>
            <a:ext cx="2705100" cy="414338"/>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Consolas"/>
                <a:ea typeface="Consolas"/>
                <a:cs typeface="Consolas"/>
              </a:defRPr>
            </a:pPr>
            <a:r>
              <a:rPr sz="2175" b="0">
                <a:solidFill>
                  <a:srgbClr val="183047"/>
                </a:solidFill>
                <a:latin typeface="Consolas"/>
                <a:ea typeface="Consolas"/>
                <a:cs typeface="Consolas"/>
              </a:rPr>
              <a:t>adeff_results.csv</a:t>
            </a:r>
          </a:p>
        </p:txBody>
      </p:sp>
      <p:sp>
        <p:nvSpPr>
          <p:cNvPr id="20" name="text-020 Baseline + Week 12 • Required Week 24 is missing">
            <a:extLst>
              <a:ext uri="{FF2B5EF4-FFF2-40B4-BE49-F238E27FC236}">
                <a16:creationId xmlns:a16="http://schemas.microsoft.com/office/drawing/2014/main" id="{36792445-AB3B-4F8C-AEF5-D93CEE9F6664}"/>
              </a:ext>
            </a:extLst>
          </p:cNvPr>
          <p:cNvSpPr>
            <a:spLocks noGrp="1"/>
          </p:cNvSpPr>
          <p:nvPr/>
        </p:nvSpPr>
        <p:spPr>
          <a:xfrm>
            <a:off x="7781925" y="5307536"/>
            <a:ext cx="9525000" cy="408623"/>
          </a:xfrm>
          <a:prstGeom prst="rect">
            <a:avLst/>
          </a:prstGeom>
          <a:noFill/>
          <a:ln w="0">
            <a:noFill/>
          </a:ln>
        </p:spPr>
        <p:txBody>
          <a:bodyPr wrap="none" lIns="0" tIns="0" rIns="0" bIns="0" anchor="t">
            <a:noAutofit/>
          </a:bodyPr>
          <a:lstStyle/>
          <a:p>
            <a:pPr algn="l">
              <a:lnSpc>
                <a:spcPct val="112500"/>
              </a:lnSpc>
              <a:buNone/>
              <a:defRPr sz="1950" b="0">
                <a:solidFill>
                  <a:srgbClr val="A9532C"/>
                </a:solidFill>
                <a:latin typeface="Segoe UI"/>
                <a:ea typeface="Segoe UI"/>
                <a:cs typeface="Segoe UI"/>
              </a:defRPr>
            </a:pPr>
            <a:r>
              <a:rPr sz="1950" b="0">
                <a:solidFill>
                  <a:srgbClr val="A9532C"/>
                </a:solidFill>
                <a:latin typeface="Segoe UI"/>
                <a:ea typeface="Segoe UI"/>
                <a:cs typeface="Segoe UI"/>
              </a:rPr>
              <a:t>Baseline + Week 12 • Required Week 24 is missing</a:t>
            </a:r>
          </a:p>
        </p:txBody>
      </p:sp>
      <p:sp>
        <p:nvSpPr>
          <p:cNvPr id="21" name="text-021 adeff_week24_pass.csv">
            <a:extLst>
              <a:ext uri="{FF2B5EF4-FFF2-40B4-BE49-F238E27FC236}">
                <a16:creationId xmlns:a16="http://schemas.microsoft.com/office/drawing/2014/main" id="{32E7907A-7C0A-4F99-9669-3387C97A394C}"/>
              </a:ext>
            </a:extLst>
          </p:cNvPr>
          <p:cNvSpPr>
            <a:spLocks noGrp="1"/>
          </p:cNvSpPr>
          <p:nvPr/>
        </p:nvSpPr>
        <p:spPr>
          <a:xfrm>
            <a:off x="7781925" y="5762781"/>
            <a:ext cx="3314700" cy="414338"/>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Consolas"/>
                <a:ea typeface="Consolas"/>
                <a:cs typeface="Consolas"/>
              </a:defRPr>
            </a:pPr>
            <a:r>
              <a:rPr sz="2175" b="0">
                <a:solidFill>
                  <a:srgbClr val="183047"/>
                </a:solidFill>
                <a:latin typeface="Consolas"/>
                <a:ea typeface="Consolas"/>
                <a:cs typeface="Consolas"/>
              </a:rPr>
              <a:t>adeff_week24_pass.csv</a:t>
            </a:r>
          </a:p>
        </p:txBody>
      </p:sp>
      <p:sp>
        <p:nvSpPr>
          <p:cNvPr id="22" name="text-022 Baseline + Week 24 • Readiness still requires QC">
            <a:extLst>
              <a:ext uri="{FF2B5EF4-FFF2-40B4-BE49-F238E27FC236}">
                <a16:creationId xmlns:a16="http://schemas.microsoft.com/office/drawing/2014/main" id="{D20F150A-6754-47AE-B6B5-D41A375E2C89}"/>
              </a:ext>
            </a:extLst>
          </p:cNvPr>
          <p:cNvSpPr>
            <a:spLocks noGrp="1"/>
          </p:cNvSpPr>
          <p:nvPr/>
        </p:nvSpPr>
        <p:spPr>
          <a:xfrm>
            <a:off x="7781925" y="6145736"/>
            <a:ext cx="9525000" cy="408623"/>
          </a:xfrm>
          <a:prstGeom prst="rect">
            <a:avLst/>
          </a:prstGeom>
          <a:noFill/>
          <a:ln w="0">
            <a:noFill/>
          </a:ln>
        </p:spPr>
        <p:txBody>
          <a:bodyPr wrap="none" lIns="0" tIns="0" rIns="0" bIns="0" anchor="t">
            <a:noAutofit/>
          </a:bodyPr>
          <a:lstStyle/>
          <a:p>
            <a:pPr algn="l">
              <a:lnSpc>
                <a:spcPct val="112500"/>
              </a:lnSpc>
              <a:buNone/>
              <a:defRPr sz="1950" b="0">
                <a:solidFill>
                  <a:srgbClr val="137F7B"/>
                </a:solidFill>
                <a:latin typeface="Segoe UI"/>
                <a:ea typeface="Segoe UI"/>
                <a:cs typeface="Segoe UI"/>
              </a:defRPr>
            </a:pPr>
            <a:r>
              <a:rPr sz="1950" b="0">
                <a:solidFill>
                  <a:srgbClr val="137F7B"/>
                </a:solidFill>
                <a:latin typeface="Segoe UI"/>
                <a:ea typeface="Segoe UI"/>
                <a:cs typeface="Segoe UI"/>
              </a:rPr>
              <a:t>Baseline + Week 24 • Readiness still requires QC</a:t>
            </a:r>
          </a:p>
        </p:txBody>
      </p:sp>
      <p:sp>
        <p:nvSpPr>
          <p:cNvPr id="23" name="text-023 Join the selected efficacy file to subjects using USUBJID">
            <a:extLst>
              <a:ext uri="{FF2B5EF4-FFF2-40B4-BE49-F238E27FC236}">
                <a16:creationId xmlns:a16="http://schemas.microsoft.com/office/drawing/2014/main" id="{7A585EA8-5A2A-48E9-ACBD-A47E65CBF984}"/>
              </a:ext>
            </a:extLst>
          </p:cNvPr>
          <p:cNvSpPr>
            <a:spLocks noGrp="1"/>
          </p:cNvSpPr>
          <p:nvPr/>
        </p:nvSpPr>
        <p:spPr>
          <a:xfrm>
            <a:off x="7781925" y="6623940"/>
            <a:ext cx="9525000" cy="361474"/>
          </a:xfrm>
          <a:prstGeom prst="rect">
            <a:avLst/>
          </a:prstGeom>
          <a:noFill/>
          <a:ln w="0">
            <a:noFill/>
          </a:ln>
        </p:spPr>
        <p:txBody>
          <a:bodyPr wrap="none" lIns="0" tIns="0" rIns="0" bIns="0" anchor="t">
            <a:noAutofit/>
          </a:bodyPr>
          <a:lstStyle/>
          <a:p>
            <a:pPr algn="l">
              <a:lnSpc>
                <a:spcPct val="112500"/>
              </a:lnSpc>
              <a:buNone/>
              <a:defRPr sz="1725" b="0">
                <a:solidFill>
                  <a:srgbClr val="536F80"/>
                </a:solidFill>
                <a:latin typeface="Segoe UI"/>
                <a:ea typeface="Segoe UI"/>
                <a:cs typeface="Segoe UI"/>
              </a:defRPr>
            </a:pPr>
            <a:r>
              <a:rPr sz="1725" b="0">
                <a:solidFill>
                  <a:srgbClr val="536F80"/>
                </a:solidFill>
                <a:latin typeface="Segoe UI"/>
                <a:ea typeface="Segoe UI"/>
                <a:cs typeface="Segoe UI"/>
              </a:rPr>
              <a:t>Join the selected efficacy file to subjects using USUBJID</a:t>
            </a:r>
          </a:p>
        </p:txBody>
      </p:sp>
      <p:sp>
        <p:nvSpPr>
          <p:cNvPr id="24" name="roundRect-024">
            <a:extLst>
              <a:ext uri="{FF2B5EF4-FFF2-40B4-BE49-F238E27FC236}">
                <a16:creationId xmlns:a16="http://schemas.microsoft.com/office/drawing/2014/main" id="{2E916A06-30AB-4F16-9C77-1818EC76A7C8}"/>
              </a:ext>
            </a:extLst>
          </p:cNvPr>
          <p:cNvSpPr>
            <a:spLocks noGrp="1"/>
          </p:cNvSpPr>
          <p:nvPr/>
        </p:nvSpPr>
        <p:spPr>
          <a:xfrm>
            <a:off x="762000" y="7267575"/>
            <a:ext cx="16764000" cy="866775"/>
          </a:xfrm>
          <a:prstGeom prst="roundRect">
            <a:avLst>
              <a:gd name="adj" fmla="val 24176"/>
            </a:avLst>
          </a:prstGeom>
          <a:solidFill>
            <a:srgbClr val="FFFFFF"/>
          </a:solidFill>
          <a:ln w="19050">
            <a:solidFill>
              <a:srgbClr val="D9E4EB"/>
            </a:solidFill>
          </a:ln>
        </p:spPr>
        <p:txBody>
          <a:bodyPr/>
          <a:lstStyle/>
          <a:p>
            <a:endParaRPr lang="en-US"/>
          </a:p>
        </p:txBody>
      </p:sp>
      <p:sp>
        <p:nvSpPr>
          <p:cNvPr id="25" name="text-025 PIPELINE TASK">
            <a:extLst>
              <a:ext uri="{FF2B5EF4-FFF2-40B4-BE49-F238E27FC236}">
                <a16:creationId xmlns:a16="http://schemas.microsoft.com/office/drawing/2014/main" id="{981AADC7-471D-47C0-A459-C1B715ED5CAE}"/>
              </a:ext>
            </a:extLst>
          </p:cNvPr>
          <p:cNvSpPr>
            <a:spLocks noGrp="1"/>
          </p:cNvSpPr>
          <p:nvPr/>
        </p:nvSpPr>
        <p:spPr>
          <a:xfrm>
            <a:off x="1066800" y="7472317"/>
            <a:ext cx="1581001" cy="314325"/>
          </a:xfrm>
          <a:prstGeom prst="rect">
            <a:avLst/>
          </a:prstGeom>
          <a:noFill/>
          <a:ln w="0">
            <a:noFill/>
          </a:ln>
        </p:spPr>
        <p:txBody>
          <a:bodyPr wrap="none" lIns="0" tIns="0" rIns="0" bIns="0" anchor="t">
            <a:noAutofit/>
          </a:bodyPr>
          <a:lstStyle/>
          <a:p>
            <a:pPr algn="l">
              <a:lnSpc>
                <a:spcPct val="112500"/>
              </a:lnSpc>
              <a:buNone/>
              <a:defRPr sz="1650" b="1">
                <a:solidFill>
                  <a:srgbClr val="137F7B"/>
                </a:solidFill>
                <a:latin typeface="Segoe UI"/>
                <a:ea typeface="Segoe UI"/>
                <a:cs typeface="Segoe UI"/>
              </a:defRPr>
            </a:pPr>
            <a:r>
              <a:rPr sz="1650" b="1">
                <a:solidFill>
                  <a:srgbClr val="137F7B"/>
                </a:solidFill>
                <a:latin typeface="Segoe UI"/>
                <a:ea typeface="Segoe UI"/>
                <a:cs typeface="Segoe UI"/>
              </a:rPr>
              <a:t>PIPELINE TASK</a:t>
            </a:r>
          </a:p>
        </p:txBody>
      </p:sp>
      <p:sp>
        <p:nvSpPr>
          <p:cNvPr id="26" name="text-026 Check readiness → analyze and review, or explain missing dat">
            <a:extLst>
              <a:ext uri="{FF2B5EF4-FFF2-40B4-BE49-F238E27FC236}">
                <a16:creationId xmlns:a16="http://schemas.microsoft.com/office/drawing/2014/main" id="{A8B80546-C8F8-43A5-806E-B5F3EF1C7E5E}"/>
              </a:ext>
            </a:extLst>
          </p:cNvPr>
          <p:cNvSpPr>
            <a:spLocks noGrp="1"/>
          </p:cNvSpPr>
          <p:nvPr/>
        </p:nvSpPr>
        <p:spPr>
          <a:xfrm>
            <a:off x="3143250" y="7429005"/>
            <a:ext cx="14001750" cy="471488"/>
          </a:xfrm>
          <a:prstGeom prst="rect">
            <a:avLst/>
          </a:prstGeom>
          <a:noFill/>
          <a:ln w="0">
            <a:noFill/>
          </a:ln>
        </p:spPr>
        <p:txBody>
          <a:bodyPr wrap="none" lIns="0" tIns="0" rIns="0" bIns="0" anchor="t">
            <a:noAutofit/>
          </a:bodyPr>
          <a:lstStyle/>
          <a:p>
            <a:pPr algn="l">
              <a:lnSpc>
                <a:spcPct val="112500"/>
              </a:lnSpc>
              <a:buNone/>
              <a:defRPr sz="2250" b="1">
                <a:solidFill>
                  <a:srgbClr val="183047"/>
                </a:solidFill>
                <a:latin typeface="Segoe UI"/>
                <a:ea typeface="Segoe UI"/>
                <a:cs typeface="Segoe UI"/>
              </a:defRPr>
            </a:pPr>
            <a:r>
              <a:rPr sz="2250" b="1">
                <a:solidFill>
                  <a:srgbClr val="183047"/>
                </a:solidFill>
                <a:latin typeface="Segoe UI"/>
                <a:ea typeface="Segoe UI"/>
                <a:cs typeface="Segoe UI"/>
              </a:rPr>
              <a:t>Check readiness → analyze and review, or explain missing data</a:t>
            </a:r>
          </a:p>
        </p:txBody>
      </p:sp>
    </p:spTree>
    <p:extLst>
      <p:ext uri="{BB962C8B-B14F-4D97-AF65-F5344CB8AC3E}">
        <p14:creationId xmlns:p14="http://schemas.microsoft.com/office/powerpoint/2010/main" val="7566882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46" name="rect-001">
            <a:extLst>
              <a:ext uri="{FF2B5EF4-FFF2-40B4-BE49-F238E27FC236}">
                <a16:creationId xmlns:a16="http://schemas.microsoft.com/office/drawing/2014/main" id="{ABDF8B1B-9ECC-4DD5-948B-AB0A5B9C9B65}"/>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427F81FA-FDBA-4110-AC86-7D0E69D5AEE4}"/>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THE COMPLETE WORKFLOW">
            <a:extLst>
              <a:ext uri="{FF2B5EF4-FFF2-40B4-BE49-F238E27FC236}">
                <a16:creationId xmlns:a16="http://schemas.microsoft.com/office/drawing/2014/main" id="{E850FE91-3285-4921-B4A0-04C9457D82B9}"/>
              </a:ext>
            </a:extLst>
          </p:cNvPr>
          <p:cNvSpPr>
            <a:spLocks noGrp="1"/>
          </p:cNvSpPr>
          <p:nvPr/>
        </p:nvSpPr>
        <p:spPr>
          <a:xfrm>
            <a:off x="781050" y="1042290"/>
            <a:ext cx="3019276"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THE COMPLETE WORKFLOW</a:t>
            </a:r>
          </a:p>
        </p:txBody>
      </p:sp>
      <p:sp>
        <p:nvSpPr>
          <p:cNvPr id="5" name="text-005 From an analysis question to a reviewed outcome">
            <a:extLst>
              <a:ext uri="{FF2B5EF4-FFF2-40B4-BE49-F238E27FC236}">
                <a16:creationId xmlns:a16="http://schemas.microsoft.com/office/drawing/2014/main" id="{E899270C-86D0-44C5-A882-38DFE14DC64E}"/>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From an analysis question to a reviewed outcome</a:t>
            </a:r>
          </a:p>
        </p:txBody>
      </p:sp>
      <p:sp>
        <p:nvSpPr>
          <p:cNvPr id="6" name="line-006-1">
            <a:extLst>
              <a:ext uri="{FF2B5EF4-FFF2-40B4-BE49-F238E27FC236}">
                <a16:creationId xmlns:a16="http://schemas.microsoft.com/office/drawing/2014/main" id="{3FA508CE-ABD5-4266-9F7A-CC090E682307}"/>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7" name="text-007 Authored construction prompts • Full text accompanies the vi">
            <a:extLst>
              <a:ext uri="{FF2B5EF4-FFF2-40B4-BE49-F238E27FC236}">
                <a16:creationId xmlns:a16="http://schemas.microsoft.com/office/drawing/2014/main" id="{0F342CC4-AEE8-410E-ACB1-CE01D639D21F}"/>
              </a:ext>
            </a:extLst>
          </p:cNvPr>
          <p:cNvSpPr>
            <a:spLocks noGrp="1"/>
          </p:cNvSpPr>
          <p:nvPr/>
        </p:nvSpPr>
        <p:spPr>
          <a:xfrm>
            <a:off x="781050" y="8615317"/>
            <a:ext cx="6086475"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Authored construction prompts • Full text accompanies the video</a:t>
            </a:r>
          </a:p>
        </p:txBody>
      </p:sp>
      <p:sp>
        <p:nvSpPr>
          <p:cNvPr id="8" name="roundRect-008">
            <a:extLst>
              <a:ext uri="{FF2B5EF4-FFF2-40B4-BE49-F238E27FC236}">
                <a16:creationId xmlns:a16="http://schemas.microsoft.com/office/drawing/2014/main" id="{61E6892D-7787-4B85-8CE0-29174E05EC4E}"/>
              </a:ext>
            </a:extLst>
          </p:cNvPr>
          <p:cNvSpPr>
            <a:spLocks noGrp="1"/>
          </p:cNvSpPr>
          <p:nvPr/>
        </p:nvSpPr>
        <p:spPr>
          <a:xfrm>
            <a:off x="762000" y="2914650"/>
            <a:ext cx="4000500" cy="1285875"/>
          </a:xfrm>
          <a:prstGeom prst="roundRect">
            <a:avLst>
              <a:gd name="adj" fmla="val 16296"/>
            </a:avLst>
          </a:prstGeom>
          <a:solidFill>
            <a:srgbClr val="FFFFFF"/>
          </a:solidFill>
          <a:ln w="19050">
            <a:solidFill>
              <a:srgbClr val="D9E4EB"/>
            </a:solidFill>
          </a:ln>
        </p:spPr>
        <p:txBody>
          <a:bodyPr/>
          <a:lstStyle/>
          <a:p>
            <a:endParaRPr lang="en-US"/>
          </a:p>
        </p:txBody>
      </p:sp>
      <p:sp>
        <p:nvSpPr>
          <p:cNvPr id="9" name="text-009 Agent + workflow skill">
            <a:extLst>
              <a:ext uri="{FF2B5EF4-FFF2-40B4-BE49-F238E27FC236}">
                <a16:creationId xmlns:a16="http://schemas.microsoft.com/office/drawing/2014/main" id="{45FAB9E6-86F8-4D52-A1FA-BC81118DF107}"/>
              </a:ext>
            </a:extLst>
          </p:cNvPr>
          <p:cNvSpPr>
            <a:spLocks noGrp="1"/>
          </p:cNvSpPr>
          <p:nvPr/>
        </p:nvSpPr>
        <p:spPr>
          <a:xfrm>
            <a:off x="990600" y="3133881"/>
            <a:ext cx="3619500" cy="455771"/>
          </a:xfrm>
          <a:prstGeom prst="rect">
            <a:avLst/>
          </a:prstGeom>
          <a:noFill/>
          <a:ln w="0">
            <a:noFill/>
          </a:ln>
        </p:spPr>
        <p:txBody>
          <a:bodyPr wrap="none" lIns="0" tIns="0" rIns="0" bIns="0" anchor="t">
            <a:noAutofit/>
          </a:bodyPr>
          <a:lstStyle/>
          <a:p>
            <a:pPr algn="l">
              <a:lnSpc>
                <a:spcPct val="112500"/>
              </a:lnSpc>
              <a:buNone/>
              <a:defRPr sz="2175" b="1">
                <a:solidFill>
                  <a:srgbClr val="183047"/>
                </a:solidFill>
                <a:latin typeface="Segoe UI"/>
                <a:ea typeface="Segoe UI"/>
                <a:cs typeface="Segoe UI"/>
              </a:defRPr>
            </a:pPr>
            <a:r>
              <a:rPr sz="2175" b="1">
                <a:solidFill>
                  <a:srgbClr val="183047"/>
                </a:solidFill>
                <a:latin typeface="Segoe UI"/>
                <a:ea typeface="Segoe UI"/>
                <a:cs typeface="Segoe UI"/>
              </a:rPr>
              <a:t>Agent + workflow skill</a:t>
            </a:r>
          </a:p>
        </p:txBody>
      </p:sp>
      <p:sp>
        <p:nvSpPr>
          <p:cNvPr id="10" name="text-010 Understand the request">
            <a:extLst>
              <a:ext uri="{FF2B5EF4-FFF2-40B4-BE49-F238E27FC236}">
                <a16:creationId xmlns:a16="http://schemas.microsoft.com/office/drawing/2014/main" id="{4824AE37-5DDD-4902-B69D-596E1A3AB4B5}"/>
              </a:ext>
            </a:extLst>
          </p:cNvPr>
          <p:cNvSpPr>
            <a:spLocks noGrp="1"/>
          </p:cNvSpPr>
          <p:nvPr/>
        </p:nvSpPr>
        <p:spPr>
          <a:xfrm>
            <a:off x="990600" y="3603864"/>
            <a:ext cx="3619500" cy="377190"/>
          </a:xfrm>
          <a:prstGeom prst="rect">
            <a:avLst/>
          </a:prstGeom>
          <a:noFill/>
          <a:ln w="0">
            <a:noFill/>
          </a:ln>
        </p:spPr>
        <p:txBody>
          <a:bodyPr wrap="none" lIns="0" tIns="0" rIns="0" bIns="0" anchor="t">
            <a:noAutofit/>
          </a:bodyPr>
          <a:lstStyle/>
          <a:p>
            <a:pPr algn="l">
              <a:lnSpc>
                <a:spcPct val="112500"/>
              </a:lnSpc>
              <a:buNone/>
              <a:defRPr sz="1800" b="0">
                <a:solidFill>
                  <a:srgbClr val="536F80"/>
                </a:solidFill>
                <a:latin typeface="Segoe UI"/>
                <a:ea typeface="Segoe UI"/>
                <a:cs typeface="Segoe UI"/>
              </a:defRPr>
            </a:pPr>
            <a:r>
              <a:rPr sz="1800" b="0">
                <a:solidFill>
                  <a:srgbClr val="536F80"/>
                </a:solidFill>
                <a:latin typeface="Segoe UI"/>
                <a:ea typeface="Segoe UI"/>
                <a:cs typeface="Segoe UI"/>
              </a:rPr>
              <a:t>Understand the request</a:t>
            </a:r>
          </a:p>
        </p:txBody>
      </p:sp>
      <p:sp>
        <p:nvSpPr>
          <p:cNvPr id="11" name="line-011-1">
            <a:extLst>
              <a:ext uri="{FF2B5EF4-FFF2-40B4-BE49-F238E27FC236}">
                <a16:creationId xmlns:a16="http://schemas.microsoft.com/office/drawing/2014/main" id="{215D92DC-86C3-4A48-B8A9-A9833B7B711D}"/>
              </a:ext>
            </a:extLst>
          </p:cNvPr>
          <p:cNvSpPr>
            <a:spLocks noGrp="1"/>
          </p:cNvSpPr>
          <p:nvPr/>
        </p:nvSpPr>
        <p:spPr>
          <a:xfrm>
            <a:off x="4772025" y="3533775"/>
            <a:ext cx="209550" cy="0"/>
          </a:xfrm>
          <a:prstGeom prst="line">
            <a:avLst/>
          </a:prstGeom>
          <a:noFill/>
          <a:ln w="38100">
            <a:solidFill>
              <a:srgbClr val="137F7B"/>
            </a:solidFill>
          </a:ln>
        </p:spPr>
        <p:txBody>
          <a:bodyPr/>
          <a:lstStyle/>
          <a:p>
            <a:endParaRPr lang="en-US"/>
          </a:p>
        </p:txBody>
      </p:sp>
      <p:sp>
        <p:nvSpPr>
          <p:cNvPr id="12" name="roundRect-012">
            <a:extLst>
              <a:ext uri="{FF2B5EF4-FFF2-40B4-BE49-F238E27FC236}">
                <a16:creationId xmlns:a16="http://schemas.microsoft.com/office/drawing/2014/main" id="{FF655B39-153A-456A-B4F5-0F2F72AC8348}"/>
              </a:ext>
            </a:extLst>
          </p:cNvPr>
          <p:cNvSpPr>
            <a:spLocks noGrp="1"/>
          </p:cNvSpPr>
          <p:nvPr/>
        </p:nvSpPr>
        <p:spPr>
          <a:xfrm>
            <a:off x="5010150" y="2914650"/>
            <a:ext cx="4000500" cy="1285875"/>
          </a:xfrm>
          <a:prstGeom prst="roundRect">
            <a:avLst>
              <a:gd name="adj" fmla="val 16296"/>
            </a:avLst>
          </a:prstGeom>
          <a:solidFill>
            <a:srgbClr val="FFFFFF"/>
          </a:solidFill>
          <a:ln w="19050">
            <a:solidFill>
              <a:srgbClr val="D9E4EB"/>
            </a:solidFill>
          </a:ln>
        </p:spPr>
        <p:txBody>
          <a:bodyPr/>
          <a:lstStyle/>
          <a:p>
            <a:endParaRPr lang="en-US"/>
          </a:p>
        </p:txBody>
      </p:sp>
      <p:sp>
        <p:nvSpPr>
          <p:cNvPr id="13" name="text-013 Analysis contract">
            <a:extLst>
              <a:ext uri="{FF2B5EF4-FFF2-40B4-BE49-F238E27FC236}">
                <a16:creationId xmlns:a16="http://schemas.microsoft.com/office/drawing/2014/main" id="{50D6171D-87A7-43B0-B459-1C068CD1A244}"/>
              </a:ext>
            </a:extLst>
          </p:cNvPr>
          <p:cNvSpPr>
            <a:spLocks noGrp="1"/>
          </p:cNvSpPr>
          <p:nvPr/>
        </p:nvSpPr>
        <p:spPr>
          <a:xfrm>
            <a:off x="5238750" y="3133881"/>
            <a:ext cx="3619500" cy="455771"/>
          </a:xfrm>
          <a:prstGeom prst="rect">
            <a:avLst/>
          </a:prstGeom>
          <a:noFill/>
          <a:ln w="0">
            <a:noFill/>
          </a:ln>
        </p:spPr>
        <p:txBody>
          <a:bodyPr wrap="none" lIns="0" tIns="0" rIns="0" bIns="0" anchor="t">
            <a:noAutofit/>
          </a:bodyPr>
          <a:lstStyle/>
          <a:p>
            <a:pPr algn="l">
              <a:lnSpc>
                <a:spcPct val="112500"/>
              </a:lnSpc>
              <a:buNone/>
              <a:defRPr sz="2175" b="1">
                <a:solidFill>
                  <a:srgbClr val="183047"/>
                </a:solidFill>
                <a:latin typeface="Segoe UI"/>
                <a:ea typeface="Segoe UI"/>
                <a:cs typeface="Segoe UI"/>
              </a:defRPr>
            </a:pPr>
            <a:r>
              <a:rPr sz="2175" b="1">
                <a:solidFill>
                  <a:srgbClr val="183047"/>
                </a:solidFill>
                <a:latin typeface="Segoe UI"/>
                <a:ea typeface="Segoe UI"/>
                <a:cs typeface="Segoe UI"/>
              </a:rPr>
              <a:t>Analysis contract</a:t>
            </a:r>
          </a:p>
        </p:txBody>
      </p:sp>
      <p:sp>
        <p:nvSpPr>
          <p:cNvPr id="14" name="text-014 Make requirements explicit">
            <a:extLst>
              <a:ext uri="{FF2B5EF4-FFF2-40B4-BE49-F238E27FC236}">
                <a16:creationId xmlns:a16="http://schemas.microsoft.com/office/drawing/2014/main" id="{BE7B6896-8FD0-48F5-9834-4180A4475111}"/>
              </a:ext>
            </a:extLst>
          </p:cNvPr>
          <p:cNvSpPr>
            <a:spLocks noGrp="1"/>
          </p:cNvSpPr>
          <p:nvPr/>
        </p:nvSpPr>
        <p:spPr>
          <a:xfrm>
            <a:off x="5238750" y="3603864"/>
            <a:ext cx="3619500" cy="377190"/>
          </a:xfrm>
          <a:prstGeom prst="rect">
            <a:avLst/>
          </a:prstGeom>
          <a:noFill/>
          <a:ln w="0">
            <a:noFill/>
          </a:ln>
        </p:spPr>
        <p:txBody>
          <a:bodyPr wrap="none" lIns="0" tIns="0" rIns="0" bIns="0" anchor="t">
            <a:noAutofit/>
          </a:bodyPr>
          <a:lstStyle/>
          <a:p>
            <a:pPr algn="l">
              <a:lnSpc>
                <a:spcPct val="112500"/>
              </a:lnSpc>
              <a:buNone/>
              <a:defRPr sz="1800" b="0">
                <a:solidFill>
                  <a:srgbClr val="536F80"/>
                </a:solidFill>
                <a:latin typeface="Segoe UI"/>
                <a:ea typeface="Segoe UI"/>
                <a:cs typeface="Segoe UI"/>
              </a:defRPr>
            </a:pPr>
            <a:r>
              <a:rPr sz="1800" b="0">
                <a:solidFill>
                  <a:srgbClr val="536F80"/>
                </a:solidFill>
                <a:latin typeface="Segoe UI"/>
                <a:ea typeface="Segoe UI"/>
                <a:cs typeface="Segoe UI"/>
              </a:rPr>
              <a:t>Make requirements explicit</a:t>
            </a:r>
          </a:p>
        </p:txBody>
      </p:sp>
      <p:sp>
        <p:nvSpPr>
          <p:cNvPr id="15" name="line-015-1">
            <a:extLst>
              <a:ext uri="{FF2B5EF4-FFF2-40B4-BE49-F238E27FC236}">
                <a16:creationId xmlns:a16="http://schemas.microsoft.com/office/drawing/2014/main" id="{5BB2236B-7BA5-4590-BE93-DBA9937B2B5D}"/>
              </a:ext>
            </a:extLst>
          </p:cNvPr>
          <p:cNvSpPr>
            <a:spLocks noGrp="1"/>
          </p:cNvSpPr>
          <p:nvPr/>
        </p:nvSpPr>
        <p:spPr>
          <a:xfrm>
            <a:off x="9020175" y="3533775"/>
            <a:ext cx="209550" cy="0"/>
          </a:xfrm>
          <a:prstGeom prst="line">
            <a:avLst/>
          </a:prstGeom>
          <a:noFill/>
          <a:ln w="38100">
            <a:solidFill>
              <a:srgbClr val="137F7B"/>
            </a:solidFill>
          </a:ln>
        </p:spPr>
        <p:txBody>
          <a:bodyPr/>
          <a:lstStyle/>
          <a:p>
            <a:endParaRPr lang="en-US"/>
          </a:p>
        </p:txBody>
      </p:sp>
      <p:sp>
        <p:nvSpPr>
          <p:cNvPr id="16" name="roundRect-016">
            <a:extLst>
              <a:ext uri="{FF2B5EF4-FFF2-40B4-BE49-F238E27FC236}">
                <a16:creationId xmlns:a16="http://schemas.microsoft.com/office/drawing/2014/main" id="{42C36B12-1AB6-443B-AA96-784AF5DB1325}"/>
              </a:ext>
            </a:extLst>
          </p:cNvPr>
          <p:cNvSpPr>
            <a:spLocks noGrp="1"/>
          </p:cNvSpPr>
          <p:nvPr/>
        </p:nvSpPr>
        <p:spPr>
          <a:xfrm>
            <a:off x="9258300" y="2914650"/>
            <a:ext cx="4000500" cy="1285875"/>
          </a:xfrm>
          <a:prstGeom prst="roundRect">
            <a:avLst>
              <a:gd name="adj" fmla="val 16296"/>
            </a:avLst>
          </a:prstGeom>
          <a:solidFill>
            <a:srgbClr val="FFFFFF"/>
          </a:solidFill>
          <a:ln w="19050">
            <a:solidFill>
              <a:srgbClr val="D9E4EB"/>
            </a:solidFill>
          </a:ln>
        </p:spPr>
        <p:txBody>
          <a:bodyPr/>
          <a:lstStyle/>
          <a:p>
            <a:endParaRPr lang="en-US"/>
          </a:p>
        </p:txBody>
      </p:sp>
      <p:sp>
        <p:nvSpPr>
          <p:cNvPr id="17" name="text-017 Readiness + QC">
            <a:extLst>
              <a:ext uri="{FF2B5EF4-FFF2-40B4-BE49-F238E27FC236}">
                <a16:creationId xmlns:a16="http://schemas.microsoft.com/office/drawing/2014/main" id="{11851705-1C7A-4B41-BE45-8232A5C98010}"/>
              </a:ext>
            </a:extLst>
          </p:cNvPr>
          <p:cNvSpPr>
            <a:spLocks noGrp="1"/>
          </p:cNvSpPr>
          <p:nvPr/>
        </p:nvSpPr>
        <p:spPr>
          <a:xfrm>
            <a:off x="9486900" y="3133881"/>
            <a:ext cx="3619500" cy="455771"/>
          </a:xfrm>
          <a:prstGeom prst="rect">
            <a:avLst/>
          </a:prstGeom>
          <a:noFill/>
          <a:ln w="0">
            <a:noFill/>
          </a:ln>
        </p:spPr>
        <p:txBody>
          <a:bodyPr wrap="none" lIns="0" tIns="0" rIns="0" bIns="0" anchor="t">
            <a:noAutofit/>
          </a:bodyPr>
          <a:lstStyle/>
          <a:p>
            <a:pPr algn="l">
              <a:lnSpc>
                <a:spcPct val="112500"/>
              </a:lnSpc>
              <a:buNone/>
              <a:defRPr sz="2175" b="1">
                <a:solidFill>
                  <a:srgbClr val="183047"/>
                </a:solidFill>
                <a:latin typeface="Segoe UI"/>
                <a:ea typeface="Segoe UI"/>
                <a:cs typeface="Segoe UI"/>
              </a:defRPr>
            </a:pPr>
            <a:r>
              <a:rPr sz="2175" b="1">
                <a:solidFill>
                  <a:srgbClr val="183047"/>
                </a:solidFill>
                <a:latin typeface="Segoe UI"/>
                <a:ea typeface="Segoe UI"/>
                <a:cs typeface="Segoe UI"/>
              </a:rPr>
              <a:t>Readiness + QC</a:t>
            </a:r>
          </a:p>
        </p:txBody>
      </p:sp>
      <p:sp>
        <p:nvSpPr>
          <p:cNvPr id="18" name="text-018 Check the selected data">
            <a:extLst>
              <a:ext uri="{FF2B5EF4-FFF2-40B4-BE49-F238E27FC236}">
                <a16:creationId xmlns:a16="http://schemas.microsoft.com/office/drawing/2014/main" id="{7C2684F0-9935-4E3F-B88D-C036BE973253}"/>
              </a:ext>
            </a:extLst>
          </p:cNvPr>
          <p:cNvSpPr>
            <a:spLocks noGrp="1"/>
          </p:cNvSpPr>
          <p:nvPr/>
        </p:nvSpPr>
        <p:spPr>
          <a:xfrm>
            <a:off x="9486900" y="3603864"/>
            <a:ext cx="3619500" cy="377190"/>
          </a:xfrm>
          <a:prstGeom prst="rect">
            <a:avLst/>
          </a:prstGeom>
          <a:noFill/>
          <a:ln w="0">
            <a:noFill/>
          </a:ln>
        </p:spPr>
        <p:txBody>
          <a:bodyPr wrap="none" lIns="0" tIns="0" rIns="0" bIns="0" anchor="t">
            <a:noAutofit/>
          </a:bodyPr>
          <a:lstStyle/>
          <a:p>
            <a:pPr algn="l">
              <a:lnSpc>
                <a:spcPct val="112500"/>
              </a:lnSpc>
              <a:buNone/>
              <a:defRPr sz="1800" b="0">
                <a:solidFill>
                  <a:srgbClr val="536F80"/>
                </a:solidFill>
                <a:latin typeface="Segoe UI"/>
                <a:ea typeface="Segoe UI"/>
                <a:cs typeface="Segoe UI"/>
              </a:defRPr>
            </a:pPr>
            <a:r>
              <a:rPr sz="1800" b="0">
                <a:solidFill>
                  <a:srgbClr val="536F80"/>
                </a:solidFill>
                <a:latin typeface="Segoe UI"/>
                <a:ea typeface="Segoe UI"/>
                <a:cs typeface="Segoe UI"/>
              </a:rPr>
              <a:t>Check the selected data</a:t>
            </a:r>
          </a:p>
        </p:txBody>
      </p:sp>
      <p:sp>
        <p:nvSpPr>
          <p:cNvPr id="19" name="line-019-1">
            <a:extLst>
              <a:ext uri="{FF2B5EF4-FFF2-40B4-BE49-F238E27FC236}">
                <a16:creationId xmlns:a16="http://schemas.microsoft.com/office/drawing/2014/main" id="{CB0210AC-06EA-4C40-A019-B0DA6BB8A0EF}"/>
              </a:ext>
            </a:extLst>
          </p:cNvPr>
          <p:cNvSpPr>
            <a:spLocks noGrp="1"/>
          </p:cNvSpPr>
          <p:nvPr/>
        </p:nvSpPr>
        <p:spPr>
          <a:xfrm>
            <a:off x="13268325" y="3533775"/>
            <a:ext cx="209550" cy="0"/>
          </a:xfrm>
          <a:prstGeom prst="line">
            <a:avLst/>
          </a:prstGeom>
          <a:noFill/>
          <a:ln w="38100">
            <a:solidFill>
              <a:srgbClr val="137F7B"/>
            </a:solidFill>
          </a:ln>
        </p:spPr>
        <p:txBody>
          <a:bodyPr/>
          <a:lstStyle/>
          <a:p>
            <a:endParaRPr lang="en-US"/>
          </a:p>
        </p:txBody>
      </p:sp>
      <p:sp>
        <p:nvSpPr>
          <p:cNvPr id="20" name="roundRect-020">
            <a:extLst>
              <a:ext uri="{FF2B5EF4-FFF2-40B4-BE49-F238E27FC236}">
                <a16:creationId xmlns:a16="http://schemas.microsoft.com/office/drawing/2014/main" id="{F43BD0C2-B1DA-4B7F-A933-1E38948DFFC4}"/>
              </a:ext>
            </a:extLst>
          </p:cNvPr>
          <p:cNvSpPr>
            <a:spLocks noGrp="1"/>
          </p:cNvSpPr>
          <p:nvPr/>
        </p:nvSpPr>
        <p:spPr>
          <a:xfrm>
            <a:off x="13506450" y="2914650"/>
            <a:ext cx="4000500" cy="1285875"/>
          </a:xfrm>
          <a:prstGeom prst="roundRect">
            <a:avLst>
              <a:gd name="adj" fmla="val 16296"/>
            </a:avLst>
          </a:prstGeom>
          <a:solidFill>
            <a:srgbClr val="FFFFFF"/>
          </a:solidFill>
          <a:ln w="19050">
            <a:solidFill>
              <a:srgbClr val="D9E4EB"/>
            </a:solidFill>
          </a:ln>
        </p:spPr>
        <p:txBody>
          <a:bodyPr/>
          <a:lstStyle/>
          <a:p>
            <a:endParaRPr lang="en-US"/>
          </a:p>
        </p:txBody>
      </p:sp>
      <p:sp>
        <p:nvSpPr>
          <p:cNvPr id="21" name="text-021 Pre-analysis gate">
            <a:extLst>
              <a:ext uri="{FF2B5EF4-FFF2-40B4-BE49-F238E27FC236}">
                <a16:creationId xmlns:a16="http://schemas.microsoft.com/office/drawing/2014/main" id="{1B887C7F-41EF-4159-BCAE-55AA744D7127}"/>
              </a:ext>
            </a:extLst>
          </p:cNvPr>
          <p:cNvSpPr>
            <a:spLocks noGrp="1"/>
          </p:cNvSpPr>
          <p:nvPr/>
        </p:nvSpPr>
        <p:spPr>
          <a:xfrm>
            <a:off x="13735050" y="3133881"/>
            <a:ext cx="3619500" cy="455771"/>
          </a:xfrm>
          <a:prstGeom prst="rect">
            <a:avLst/>
          </a:prstGeom>
          <a:noFill/>
          <a:ln w="0">
            <a:noFill/>
          </a:ln>
        </p:spPr>
        <p:txBody>
          <a:bodyPr wrap="none" lIns="0" tIns="0" rIns="0" bIns="0" anchor="t">
            <a:noAutofit/>
          </a:bodyPr>
          <a:lstStyle/>
          <a:p>
            <a:pPr algn="l">
              <a:lnSpc>
                <a:spcPct val="112500"/>
              </a:lnSpc>
              <a:buNone/>
              <a:defRPr sz="2175" b="1">
                <a:solidFill>
                  <a:srgbClr val="183047"/>
                </a:solidFill>
                <a:latin typeface="Segoe UI"/>
                <a:ea typeface="Segoe UI"/>
                <a:cs typeface="Segoe UI"/>
              </a:defRPr>
            </a:pPr>
            <a:r>
              <a:rPr sz="2175" b="1">
                <a:solidFill>
                  <a:srgbClr val="183047"/>
                </a:solidFill>
                <a:latin typeface="Segoe UI"/>
                <a:ea typeface="Segoe UI"/>
                <a:cs typeface="Segoe UI"/>
              </a:rPr>
              <a:t>Pre-analysis gate</a:t>
            </a:r>
          </a:p>
        </p:txBody>
      </p:sp>
      <p:sp>
        <p:nvSpPr>
          <p:cNvPr id="22" name="text-022 Enforce ALLOW or BLOCK">
            <a:extLst>
              <a:ext uri="{FF2B5EF4-FFF2-40B4-BE49-F238E27FC236}">
                <a16:creationId xmlns:a16="http://schemas.microsoft.com/office/drawing/2014/main" id="{B8287481-0B10-4DC7-96E5-B3DFD23BD60E}"/>
              </a:ext>
            </a:extLst>
          </p:cNvPr>
          <p:cNvSpPr>
            <a:spLocks noGrp="1"/>
          </p:cNvSpPr>
          <p:nvPr/>
        </p:nvSpPr>
        <p:spPr>
          <a:xfrm>
            <a:off x="13735050" y="3603864"/>
            <a:ext cx="3619500" cy="377190"/>
          </a:xfrm>
          <a:prstGeom prst="rect">
            <a:avLst/>
          </a:prstGeom>
          <a:noFill/>
          <a:ln w="0">
            <a:noFill/>
          </a:ln>
        </p:spPr>
        <p:txBody>
          <a:bodyPr wrap="none" lIns="0" tIns="0" rIns="0" bIns="0" anchor="t">
            <a:noAutofit/>
          </a:bodyPr>
          <a:lstStyle/>
          <a:p>
            <a:pPr algn="l">
              <a:lnSpc>
                <a:spcPct val="112500"/>
              </a:lnSpc>
              <a:buNone/>
              <a:defRPr sz="1800" b="0">
                <a:solidFill>
                  <a:srgbClr val="536F80"/>
                </a:solidFill>
                <a:latin typeface="Segoe UI"/>
                <a:ea typeface="Segoe UI"/>
                <a:cs typeface="Segoe UI"/>
              </a:defRPr>
            </a:pPr>
            <a:r>
              <a:rPr sz="1800" b="0">
                <a:solidFill>
                  <a:srgbClr val="536F80"/>
                </a:solidFill>
                <a:latin typeface="Segoe UI"/>
                <a:ea typeface="Segoe UI"/>
                <a:cs typeface="Segoe UI"/>
              </a:rPr>
              <a:t>Enforce ALLOW or BLOCK</a:t>
            </a:r>
          </a:p>
        </p:txBody>
      </p:sp>
      <p:sp>
        <p:nvSpPr>
          <p:cNvPr id="23" name="line-023-1">
            <a:extLst>
              <a:ext uri="{FF2B5EF4-FFF2-40B4-BE49-F238E27FC236}">
                <a16:creationId xmlns:a16="http://schemas.microsoft.com/office/drawing/2014/main" id="{E69A67B8-07A9-4622-9CD6-89BCD4B52259}"/>
              </a:ext>
            </a:extLst>
          </p:cNvPr>
          <p:cNvSpPr>
            <a:spLocks noGrp="1"/>
          </p:cNvSpPr>
          <p:nvPr/>
        </p:nvSpPr>
        <p:spPr>
          <a:xfrm>
            <a:off x="15525750" y="4229100"/>
            <a:ext cx="0" cy="695325"/>
          </a:xfrm>
          <a:prstGeom prst="line">
            <a:avLst/>
          </a:prstGeom>
          <a:noFill/>
          <a:ln w="38100">
            <a:solidFill>
              <a:srgbClr val="137F7B"/>
            </a:solidFill>
          </a:ln>
        </p:spPr>
        <p:txBody>
          <a:bodyPr/>
          <a:lstStyle/>
          <a:p>
            <a:endParaRPr lang="en-US"/>
          </a:p>
        </p:txBody>
      </p:sp>
      <p:sp>
        <p:nvSpPr>
          <p:cNvPr id="24" name="roundRect-024">
            <a:extLst>
              <a:ext uri="{FF2B5EF4-FFF2-40B4-BE49-F238E27FC236}">
                <a16:creationId xmlns:a16="http://schemas.microsoft.com/office/drawing/2014/main" id="{3F986D98-4F37-4AE0-A7DB-64C54352A1F1}"/>
              </a:ext>
            </a:extLst>
          </p:cNvPr>
          <p:cNvSpPr>
            <a:spLocks noGrp="1"/>
          </p:cNvSpPr>
          <p:nvPr/>
        </p:nvSpPr>
        <p:spPr>
          <a:xfrm>
            <a:off x="12382500" y="4953000"/>
            <a:ext cx="5143500" cy="1238250"/>
          </a:xfrm>
          <a:prstGeom prst="roundRect">
            <a:avLst>
              <a:gd name="adj" fmla="val 16923"/>
            </a:avLst>
          </a:prstGeom>
          <a:solidFill>
            <a:srgbClr val="E6F3F1"/>
          </a:solidFill>
          <a:ln w="19050">
            <a:solidFill>
              <a:srgbClr val="D9E4EB"/>
            </a:solidFill>
          </a:ln>
        </p:spPr>
        <p:txBody>
          <a:bodyPr/>
          <a:lstStyle/>
          <a:p>
            <a:endParaRPr lang="en-US"/>
          </a:p>
        </p:txBody>
      </p:sp>
      <p:sp>
        <p:nvSpPr>
          <p:cNvPr id="25" name="text-025 ALLOW → ANCOVA">
            <a:extLst>
              <a:ext uri="{FF2B5EF4-FFF2-40B4-BE49-F238E27FC236}">
                <a16:creationId xmlns:a16="http://schemas.microsoft.com/office/drawing/2014/main" id="{BEB99405-CAF9-45CA-B1EE-208860ADE8E6}"/>
              </a:ext>
            </a:extLst>
          </p:cNvPr>
          <p:cNvSpPr>
            <a:spLocks noGrp="1"/>
          </p:cNvSpPr>
          <p:nvPr/>
        </p:nvSpPr>
        <p:spPr>
          <a:xfrm>
            <a:off x="12668250" y="5130874"/>
            <a:ext cx="4667250" cy="534353"/>
          </a:xfrm>
          <a:prstGeom prst="rect">
            <a:avLst/>
          </a:prstGeom>
          <a:noFill/>
          <a:ln w="0">
            <a:noFill/>
          </a:ln>
        </p:spPr>
        <p:txBody>
          <a:bodyPr wrap="none" lIns="0" tIns="0" rIns="0" bIns="0" anchor="t">
            <a:noAutofit/>
          </a:bodyPr>
          <a:lstStyle/>
          <a:p>
            <a:pPr algn="l">
              <a:lnSpc>
                <a:spcPct val="112500"/>
              </a:lnSpc>
              <a:buNone/>
              <a:defRPr sz="2550" b="1">
                <a:solidFill>
                  <a:srgbClr val="183047"/>
                </a:solidFill>
                <a:latin typeface="Segoe UI"/>
                <a:ea typeface="Segoe UI"/>
                <a:cs typeface="Segoe UI"/>
              </a:defRPr>
            </a:pPr>
            <a:r>
              <a:rPr sz="2550" b="1">
                <a:solidFill>
                  <a:srgbClr val="183047"/>
                </a:solidFill>
                <a:latin typeface="Segoe UI"/>
                <a:ea typeface="Segoe UI"/>
                <a:cs typeface="Segoe UI"/>
              </a:rPr>
              <a:t>ALLOW → ANCOVA</a:t>
            </a:r>
          </a:p>
        </p:txBody>
      </p:sp>
      <p:sp>
        <p:nvSpPr>
          <p:cNvPr id="26" name="text-026 Fit the authorized model">
            <a:extLst>
              <a:ext uri="{FF2B5EF4-FFF2-40B4-BE49-F238E27FC236}">
                <a16:creationId xmlns:a16="http://schemas.microsoft.com/office/drawing/2014/main" id="{707EA760-92EB-40F5-AFFF-A25E16A8CD57}"/>
              </a:ext>
            </a:extLst>
          </p:cNvPr>
          <p:cNvSpPr>
            <a:spLocks noGrp="1"/>
          </p:cNvSpPr>
          <p:nvPr/>
        </p:nvSpPr>
        <p:spPr>
          <a:xfrm>
            <a:off x="12668250" y="5650436"/>
            <a:ext cx="466725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a:solidFill>
                  <a:srgbClr val="183047"/>
                </a:solidFill>
                <a:latin typeface="Segoe UI"/>
                <a:ea typeface="Segoe UI"/>
                <a:cs typeface="Segoe UI"/>
              </a:rPr>
              <a:t>Fit the authorized model</a:t>
            </a:r>
          </a:p>
        </p:txBody>
      </p:sp>
      <p:sp>
        <p:nvSpPr>
          <p:cNvPr id="27" name="line-027-1">
            <a:extLst>
              <a:ext uri="{FF2B5EF4-FFF2-40B4-BE49-F238E27FC236}">
                <a16:creationId xmlns:a16="http://schemas.microsoft.com/office/drawing/2014/main" id="{8E924F43-156F-4EFF-89FB-4FB16F57578C}"/>
              </a:ext>
            </a:extLst>
          </p:cNvPr>
          <p:cNvSpPr>
            <a:spLocks noGrp="1"/>
          </p:cNvSpPr>
          <p:nvPr/>
        </p:nvSpPr>
        <p:spPr>
          <a:xfrm>
            <a:off x="10096500" y="5543550"/>
            <a:ext cx="2286000" cy="0"/>
          </a:xfrm>
          <a:prstGeom prst="line">
            <a:avLst/>
          </a:prstGeom>
          <a:noFill/>
          <a:ln w="38100">
            <a:solidFill>
              <a:srgbClr val="137F7B"/>
            </a:solidFill>
          </a:ln>
        </p:spPr>
        <p:txBody>
          <a:bodyPr/>
          <a:lstStyle/>
          <a:p>
            <a:endParaRPr lang="en-US"/>
          </a:p>
        </p:txBody>
      </p:sp>
      <p:sp>
        <p:nvSpPr>
          <p:cNvPr id="28" name="roundRect-028">
            <a:extLst>
              <a:ext uri="{FF2B5EF4-FFF2-40B4-BE49-F238E27FC236}">
                <a16:creationId xmlns:a16="http://schemas.microsoft.com/office/drawing/2014/main" id="{010DD8E6-7D5B-46E4-9FF1-3902177E8506}"/>
              </a:ext>
            </a:extLst>
          </p:cNvPr>
          <p:cNvSpPr>
            <a:spLocks noGrp="1"/>
          </p:cNvSpPr>
          <p:nvPr/>
        </p:nvSpPr>
        <p:spPr>
          <a:xfrm>
            <a:off x="5238750" y="4953000"/>
            <a:ext cx="4857750" cy="1238250"/>
          </a:xfrm>
          <a:prstGeom prst="roundRect">
            <a:avLst>
              <a:gd name="adj" fmla="val 16923"/>
            </a:avLst>
          </a:prstGeom>
          <a:solidFill>
            <a:srgbClr val="FFFFFF"/>
          </a:solidFill>
          <a:ln w="19050">
            <a:solidFill>
              <a:srgbClr val="D9E4EB"/>
            </a:solidFill>
          </a:ln>
        </p:spPr>
        <p:txBody>
          <a:bodyPr/>
          <a:lstStyle/>
          <a:p>
            <a:endParaRPr lang="en-US"/>
          </a:p>
        </p:txBody>
      </p:sp>
      <p:sp>
        <p:nvSpPr>
          <p:cNvPr id="29" name="text-029 Post-analysis review">
            <a:extLst>
              <a:ext uri="{FF2B5EF4-FFF2-40B4-BE49-F238E27FC236}">
                <a16:creationId xmlns:a16="http://schemas.microsoft.com/office/drawing/2014/main" id="{59F8A9A7-7D17-4251-BB2B-F6D81DBBAF6C}"/>
              </a:ext>
            </a:extLst>
          </p:cNvPr>
          <p:cNvSpPr>
            <a:spLocks noGrp="1"/>
          </p:cNvSpPr>
          <p:nvPr/>
        </p:nvSpPr>
        <p:spPr>
          <a:xfrm>
            <a:off x="5524500" y="5132177"/>
            <a:ext cx="4381500" cy="502920"/>
          </a:xfrm>
          <a:prstGeom prst="rect">
            <a:avLst/>
          </a:prstGeom>
          <a:noFill/>
          <a:ln w="0">
            <a:noFill/>
          </a:ln>
        </p:spPr>
        <p:txBody>
          <a:bodyPr wrap="none" lIns="0" tIns="0" rIns="0" bIns="0" anchor="t">
            <a:noAutofit/>
          </a:bodyPr>
          <a:lstStyle/>
          <a:p>
            <a:pPr algn="l">
              <a:lnSpc>
                <a:spcPct val="112500"/>
              </a:lnSpc>
              <a:buNone/>
              <a:defRPr sz="2400" b="1">
                <a:solidFill>
                  <a:srgbClr val="183047"/>
                </a:solidFill>
                <a:latin typeface="Segoe UI"/>
                <a:ea typeface="Segoe UI"/>
                <a:cs typeface="Segoe UI"/>
              </a:defRPr>
            </a:pPr>
            <a:r>
              <a:rPr sz="2400" b="1">
                <a:solidFill>
                  <a:srgbClr val="183047"/>
                </a:solidFill>
                <a:latin typeface="Segoe UI"/>
                <a:ea typeface="Segoe UI"/>
                <a:cs typeface="Segoe UI"/>
              </a:rPr>
              <a:t>Post-analysis review</a:t>
            </a:r>
          </a:p>
        </p:txBody>
      </p:sp>
      <p:sp>
        <p:nvSpPr>
          <p:cNvPr id="30" name="text-030 Check before reporting">
            <a:extLst>
              <a:ext uri="{FF2B5EF4-FFF2-40B4-BE49-F238E27FC236}">
                <a16:creationId xmlns:a16="http://schemas.microsoft.com/office/drawing/2014/main" id="{1970C5EE-A47A-423C-A5C4-1E0308FC76E5}"/>
              </a:ext>
            </a:extLst>
          </p:cNvPr>
          <p:cNvSpPr>
            <a:spLocks noGrp="1"/>
          </p:cNvSpPr>
          <p:nvPr/>
        </p:nvSpPr>
        <p:spPr>
          <a:xfrm>
            <a:off x="5524500" y="5650436"/>
            <a:ext cx="438150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a:solidFill>
                  <a:srgbClr val="183047"/>
                </a:solidFill>
                <a:latin typeface="Segoe UI"/>
                <a:ea typeface="Segoe UI"/>
                <a:cs typeface="Segoe UI"/>
              </a:rPr>
              <a:t>Check before reporting</a:t>
            </a:r>
          </a:p>
        </p:txBody>
      </p:sp>
      <p:sp>
        <p:nvSpPr>
          <p:cNvPr id="31" name="roundRect-031">
            <a:extLst>
              <a:ext uri="{FF2B5EF4-FFF2-40B4-BE49-F238E27FC236}">
                <a16:creationId xmlns:a16="http://schemas.microsoft.com/office/drawing/2014/main" id="{1675EF48-5AEC-445B-9F59-3C861EC3BD90}"/>
              </a:ext>
            </a:extLst>
          </p:cNvPr>
          <p:cNvSpPr>
            <a:spLocks noGrp="1"/>
          </p:cNvSpPr>
          <p:nvPr/>
        </p:nvSpPr>
        <p:spPr>
          <a:xfrm>
            <a:off x="762000" y="4953000"/>
            <a:ext cx="4095750" cy="1238250"/>
          </a:xfrm>
          <a:prstGeom prst="roundRect">
            <a:avLst>
              <a:gd name="adj" fmla="val 16923"/>
            </a:avLst>
          </a:prstGeom>
          <a:solidFill>
            <a:srgbClr val="FFFFFF"/>
          </a:solidFill>
          <a:ln w="19050">
            <a:solidFill>
              <a:srgbClr val="D9E4EB"/>
            </a:solidFill>
          </a:ln>
        </p:spPr>
        <p:txBody>
          <a:bodyPr/>
          <a:lstStyle/>
          <a:p>
            <a:endParaRPr lang="en-US"/>
          </a:p>
        </p:txBody>
      </p:sp>
      <p:sp>
        <p:nvSpPr>
          <p:cNvPr id="32" name="text-032 Reviewed outcome">
            <a:extLst>
              <a:ext uri="{FF2B5EF4-FFF2-40B4-BE49-F238E27FC236}">
                <a16:creationId xmlns:a16="http://schemas.microsoft.com/office/drawing/2014/main" id="{216CDC72-CFB4-4DFD-8CF2-72BFA3BF5526}"/>
              </a:ext>
            </a:extLst>
          </p:cNvPr>
          <p:cNvSpPr>
            <a:spLocks noGrp="1"/>
          </p:cNvSpPr>
          <p:nvPr/>
        </p:nvSpPr>
        <p:spPr>
          <a:xfrm>
            <a:off x="1047750" y="5132177"/>
            <a:ext cx="3619500" cy="502920"/>
          </a:xfrm>
          <a:prstGeom prst="rect">
            <a:avLst/>
          </a:prstGeom>
          <a:noFill/>
          <a:ln w="0">
            <a:noFill/>
          </a:ln>
        </p:spPr>
        <p:txBody>
          <a:bodyPr wrap="none" lIns="0" tIns="0" rIns="0" bIns="0" anchor="t">
            <a:noAutofit/>
          </a:bodyPr>
          <a:lstStyle/>
          <a:p>
            <a:pPr algn="l">
              <a:lnSpc>
                <a:spcPct val="112500"/>
              </a:lnSpc>
              <a:buNone/>
              <a:defRPr sz="2400" b="1">
                <a:solidFill>
                  <a:srgbClr val="183047"/>
                </a:solidFill>
                <a:latin typeface="Segoe UI"/>
                <a:ea typeface="Segoe UI"/>
                <a:cs typeface="Segoe UI"/>
              </a:defRPr>
            </a:pPr>
            <a:r>
              <a:rPr sz="2400" b="1">
                <a:solidFill>
                  <a:srgbClr val="183047"/>
                </a:solidFill>
                <a:latin typeface="Segoe UI"/>
                <a:ea typeface="Segoe UI"/>
                <a:cs typeface="Segoe UI"/>
              </a:rPr>
              <a:t>Reviewed outcome</a:t>
            </a:r>
          </a:p>
        </p:txBody>
      </p:sp>
      <p:sp>
        <p:nvSpPr>
          <p:cNvPr id="33" name="text-033 Explain the findings">
            <a:extLst>
              <a:ext uri="{FF2B5EF4-FFF2-40B4-BE49-F238E27FC236}">
                <a16:creationId xmlns:a16="http://schemas.microsoft.com/office/drawing/2014/main" id="{5F662D88-8AFF-42E2-8064-BC3F996655EC}"/>
              </a:ext>
            </a:extLst>
          </p:cNvPr>
          <p:cNvSpPr>
            <a:spLocks noGrp="1"/>
          </p:cNvSpPr>
          <p:nvPr/>
        </p:nvSpPr>
        <p:spPr>
          <a:xfrm>
            <a:off x="1047750" y="5650436"/>
            <a:ext cx="361950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a:solidFill>
                  <a:srgbClr val="183047"/>
                </a:solidFill>
                <a:latin typeface="Segoe UI"/>
                <a:ea typeface="Segoe UI"/>
                <a:cs typeface="Segoe UI"/>
              </a:rPr>
              <a:t>Explain the findings</a:t>
            </a:r>
          </a:p>
        </p:txBody>
      </p:sp>
      <p:sp>
        <p:nvSpPr>
          <p:cNvPr id="34" name="line-034-1">
            <a:extLst>
              <a:ext uri="{FF2B5EF4-FFF2-40B4-BE49-F238E27FC236}">
                <a16:creationId xmlns:a16="http://schemas.microsoft.com/office/drawing/2014/main" id="{49D1D1CB-F5C6-411E-83A9-C6B885C273A1}"/>
              </a:ext>
            </a:extLst>
          </p:cNvPr>
          <p:cNvSpPr>
            <a:spLocks noGrp="1"/>
          </p:cNvSpPr>
          <p:nvPr/>
        </p:nvSpPr>
        <p:spPr>
          <a:xfrm>
            <a:off x="4857750" y="5543550"/>
            <a:ext cx="381000" cy="0"/>
          </a:xfrm>
          <a:prstGeom prst="line">
            <a:avLst/>
          </a:prstGeom>
          <a:noFill/>
          <a:ln w="38100">
            <a:solidFill>
              <a:srgbClr val="137F7B"/>
            </a:solidFill>
          </a:ln>
        </p:spPr>
        <p:txBody>
          <a:bodyPr/>
          <a:lstStyle/>
          <a:p>
            <a:endParaRPr lang="en-US"/>
          </a:p>
        </p:txBody>
      </p:sp>
      <p:sp>
        <p:nvSpPr>
          <p:cNvPr id="35" name="line-035-1">
            <a:extLst>
              <a:ext uri="{FF2B5EF4-FFF2-40B4-BE49-F238E27FC236}">
                <a16:creationId xmlns:a16="http://schemas.microsoft.com/office/drawing/2014/main" id="{020B1A26-D519-4521-A29A-8C06EDB03C72}"/>
              </a:ext>
            </a:extLst>
          </p:cNvPr>
          <p:cNvSpPr>
            <a:spLocks noGrp="1"/>
          </p:cNvSpPr>
          <p:nvPr/>
        </p:nvSpPr>
        <p:spPr>
          <a:xfrm>
            <a:off x="17526000" y="3771900"/>
            <a:ext cx="285750" cy="0"/>
          </a:xfrm>
          <a:prstGeom prst="line">
            <a:avLst/>
          </a:prstGeom>
          <a:noFill/>
          <a:ln w="38100">
            <a:solidFill>
              <a:srgbClr val="BD683F"/>
            </a:solidFill>
          </a:ln>
        </p:spPr>
        <p:txBody>
          <a:bodyPr/>
          <a:lstStyle/>
          <a:p>
            <a:endParaRPr lang="en-US"/>
          </a:p>
        </p:txBody>
      </p:sp>
      <p:sp>
        <p:nvSpPr>
          <p:cNvPr id="36" name="line-035-2">
            <a:extLst>
              <a:ext uri="{FF2B5EF4-FFF2-40B4-BE49-F238E27FC236}">
                <a16:creationId xmlns:a16="http://schemas.microsoft.com/office/drawing/2014/main" id="{FE1272D4-7704-4829-AEA1-7BC82C5AA780}"/>
              </a:ext>
            </a:extLst>
          </p:cNvPr>
          <p:cNvSpPr>
            <a:spLocks noGrp="1"/>
          </p:cNvSpPr>
          <p:nvPr/>
        </p:nvSpPr>
        <p:spPr>
          <a:xfrm>
            <a:off x="17811750" y="3771900"/>
            <a:ext cx="0" cy="3371850"/>
          </a:xfrm>
          <a:prstGeom prst="line">
            <a:avLst/>
          </a:prstGeom>
          <a:noFill/>
          <a:ln w="38100">
            <a:solidFill>
              <a:srgbClr val="BD683F"/>
            </a:solidFill>
          </a:ln>
        </p:spPr>
        <p:txBody>
          <a:bodyPr/>
          <a:lstStyle/>
          <a:p>
            <a:endParaRPr lang="en-US"/>
          </a:p>
        </p:txBody>
      </p:sp>
      <p:sp>
        <p:nvSpPr>
          <p:cNvPr id="37" name="line-035-3">
            <a:extLst>
              <a:ext uri="{FF2B5EF4-FFF2-40B4-BE49-F238E27FC236}">
                <a16:creationId xmlns:a16="http://schemas.microsoft.com/office/drawing/2014/main" id="{55768C7F-7787-4265-900D-3FA828B71053}"/>
              </a:ext>
            </a:extLst>
          </p:cNvPr>
          <p:cNvSpPr>
            <a:spLocks noGrp="1"/>
          </p:cNvSpPr>
          <p:nvPr/>
        </p:nvSpPr>
        <p:spPr>
          <a:xfrm>
            <a:off x="17526000" y="7143750"/>
            <a:ext cx="285750" cy="0"/>
          </a:xfrm>
          <a:prstGeom prst="line">
            <a:avLst/>
          </a:prstGeom>
          <a:noFill/>
          <a:ln w="38100">
            <a:solidFill>
              <a:srgbClr val="BD683F"/>
            </a:solidFill>
          </a:ln>
        </p:spPr>
        <p:txBody>
          <a:bodyPr/>
          <a:lstStyle/>
          <a:p>
            <a:endParaRPr lang="en-US"/>
          </a:p>
        </p:txBody>
      </p:sp>
      <p:sp>
        <p:nvSpPr>
          <p:cNvPr id="38" name="polygon-036">
            <a:extLst>
              <a:ext uri="{FF2B5EF4-FFF2-40B4-BE49-F238E27FC236}">
                <a16:creationId xmlns:a16="http://schemas.microsoft.com/office/drawing/2014/main" id="{07E68283-B8FD-4D73-87E5-B56E2663911D}"/>
              </a:ext>
            </a:extLst>
          </p:cNvPr>
          <p:cNvSpPr>
            <a:spLocks noGrp="1"/>
          </p:cNvSpPr>
          <p:nvPr/>
        </p:nvSpPr>
        <p:spPr>
          <a:xfrm>
            <a:off x="17526000" y="7067550"/>
            <a:ext cx="133350" cy="152400"/>
          </a:xfrm>
          <a:custGeom>
            <a:avLst/>
            <a:gdLst/>
            <a:ahLst/>
            <a:cxnLst/>
            <a:rect l="0" t="0" r="0" b="0"/>
            <a:pathLst>
              <a:path w="133350" h="152400">
                <a:moveTo>
                  <a:pt x="0" y="76200"/>
                </a:moveTo>
                <a:lnTo>
                  <a:pt x="133350" y="0"/>
                </a:lnTo>
                <a:lnTo>
                  <a:pt x="133350" y="152400"/>
                </a:lnTo>
                <a:close/>
              </a:path>
            </a:pathLst>
          </a:custGeom>
          <a:solidFill>
            <a:srgbClr val="BD683F"/>
          </a:solidFill>
          <a:ln w="0">
            <a:noFill/>
          </a:ln>
        </p:spPr>
        <p:txBody>
          <a:bodyPr/>
          <a:lstStyle/>
          <a:p>
            <a:endParaRPr lang="en-US"/>
          </a:p>
        </p:txBody>
      </p:sp>
      <p:sp>
        <p:nvSpPr>
          <p:cNvPr id="39" name="text-037 BLOCK">
            <a:extLst>
              <a:ext uri="{FF2B5EF4-FFF2-40B4-BE49-F238E27FC236}">
                <a16:creationId xmlns:a16="http://schemas.microsoft.com/office/drawing/2014/main" id="{3F079EAA-9A21-49DF-BB97-4DB2F5A5DC56}"/>
              </a:ext>
            </a:extLst>
          </p:cNvPr>
          <p:cNvSpPr>
            <a:spLocks noGrp="1"/>
          </p:cNvSpPr>
          <p:nvPr/>
        </p:nvSpPr>
        <p:spPr>
          <a:xfrm>
            <a:off x="16021050" y="6291217"/>
            <a:ext cx="781050" cy="314325"/>
          </a:xfrm>
          <a:prstGeom prst="rect">
            <a:avLst/>
          </a:prstGeom>
          <a:noFill/>
          <a:ln w="0">
            <a:noFill/>
          </a:ln>
        </p:spPr>
        <p:txBody>
          <a:bodyPr wrap="none" lIns="0" tIns="0" rIns="0" bIns="0" anchor="t">
            <a:noAutofit/>
          </a:bodyPr>
          <a:lstStyle/>
          <a:p>
            <a:pPr algn="l">
              <a:lnSpc>
                <a:spcPct val="112500"/>
              </a:lnSpc>
              <a:buNone/>
              <a:defRPr sz="1650" b="1">
                <a:solidFill>
                  <a:srgbClr val="A9532C"/>
                </a:solidFill>
                <a:latin typeface="Segoe UI"/>
                <a:ea typeface="Segoe UI"/>
                <a:cs typeface="Segoe UI"/>
              </a:defRPr>
            </a:pPr>
            <a:r>
              <a:rPr sz="1650" b="1">
                <a:solidFill>
                  <a:srgbClr val="A9532C"/>
                </a:solidFill>
                <a:latin typeface="Segoe UI"/>
                <a:ea typeface="Segoe UI"/>
                <a:cs typeface="Segoe UI"/>
              </a:rPr>
              <a:t>BLOCK</a:t>
            </a:r>
          </a:p>
        </p:txBody>
      </p:sp>
      <p:sp>
        <p:nvSpPr>
          <p:cNvPr id="40" name="polygon-038">
            <a:extLst>
              <a:ext uri="{FF2B5EF4-FFF2-40B4-BE49-F238E27FC236}">
                <a16:creationId xmlns:a16="http://schemas.microsoft.com/office/drawing/2014/main" id="{5E2AE9FD-F3F6-40EE-8E7D-AD417ABCBA8D}"/>
              </a:ext>
            </a:extLst>
          </p:cNvPr>
          <p:cNvSpPr>
            <a:spLocks noGrp="1"/>
          </p:cNvSpPr>
          <p:nvPr/>
        </p:nvSpPr>
        <p:spPr>
          <a:xfrm>
            <a:off x="15449550" y="4810125"/>
            <a:ext cx="152400" cy="133350"/>
          </a:xfrm>
          <a:custGeom>
            <a:avLst/>
            <a:gdLst/>
            <a:ahLst/>
            <a:cxnLst/>
            <a:rect l="0" t="0" r="0" b="0"/>
            <a:pathLst>
              <a:path w="152400" h="133350">
                <a:moveTo>
                  <a:pt x="76200" y="133350"/>
                </a:moveTo>
                <a:lnTo>
                  <a:pt x="0" y="0"/>
                </a:lnTo>
                <a:lnTo>
                  <a:pt x="152400" y="0"/>
                </a:lnTo>
                <a:close/>
              </a:path>
            </a:pathLst>
          </a:custGeom>
          <a:solidFill>
            <a:srgbClr val="137F7B"/>
          </a:solidFill>
          <a:ln w="0">
            <a:noFill/>
          </a:ln>
        </p:spPr>
        <p:txBody>
          <a:bodyPr/>
          <a:lstStyle/>
          <a:p>
            <a:endParaRPr lang="en-US"/>
          </a:p>
        </p:txBody>
      </p:sp>
      <p:sp>
        <p:nvSpPr>
          <p:cNvPr id="41" name="polygon-039">
            <a:extLst>
              <a:ext uri="{FF2B5EF4-FFF2-40B4-BE49-F238E27FC236}">
                <a16:creationId xmlns:a16="http://schemas.microsoft.com/office/drawing/2014/main" id="{1732693B-98B6-4108-9AAC-8494866A495B}"/>
              </a:ext>
            </a:extLst>
          </p:cNvPr>
          <p:cNvSpPr>
            <a:spLocks noGrp="1"/>
          </p:cNvSpPr>
          <p:nvPr/>
        </p:nvSpPr>
        <p:spPr>
          <a:xfrm>
            <a:off x="10106025" y="5467350"/>
            <a:ext cx="133350" cy="152400"/>
          </a:xfrm>
          <a:custGeom>
            <a:avLst/>
            <a:gdLst/>
            <a:ahLst/>
            <a:cxnLst/>
            <a:rect l="0" t="0" r="0" b="0"/>
            <a:pathLst>
              <a:path w="133350" h="152400">
                <a:moveTo>
                  <a:pt x="0" y="76200"/>
                </a:moveTo>
                <a:lnTo>
                  <a:pt x="133350" y="0"/>
                </a:lnTo>
                <a:lnTo>
                  <a:pt x="133350" y="152400"/>
                </a:lnTo>
                <a:close/>
              </a:path>
            </a:pathLst>
          </a:custGeom>
          <a:solidFill>
            <a:srgbClr val="137F7B"/>
          </a:solidFill>
          <a:ln w="0">
            <a:noFill/>
          </a:ln>
        </p:spPr>
        <p:txBody>
          <a:bodyPr/>
          <a:lstStyle/>
          <a:p>
            <a:endParaRPr lang="en-US"/>
          </a:p>
        </p:txBody>
      </p:sp>
      <p:sp>
        <p:nvSpPr>
          <p:cNvPr id="42" name="polygon-040">
            <a:extLst>
              <a:ext uri="{FF2B5EF4-FFF2-40B4-BE49-F238E27FC236}">
                <a16:creationId xmlns:a16="http://schemas.microsoft.com/office/drawing/2014/main" id="{64191934-DCC5-4F97-BC07-D3F6B749B4B2}"/>
              </a:ext>
            </a:extLst>
          </p:cNvPr>
          <p:cNvSpPr>
            <a:spLocks noGrp="1"/>
          </p:cNvSpPr>
          <p:nvPr/>
        </p:nvSpPr>
        <p:spPr>
          <a:xfrm>
            <a:off x="4867275" y="5467350"/>
            <a:ext cx="133350" cy="152400"/>
          </a:xfrm>
          <a:custGeom>
            <a:avLst/>
            <a:gdLst/>
            <a:ahLst/>
            <a:cxnLst/>
            <a:rect l="0" t="0" r="0" b="0"/>
            <a:pathLst>
              <a:path w="133350" h="152400">
                <a:moveTo>
                  <a:pt x="0" y="76200"/>
                </a:moveTo>
                <a:lnTo>
                  <a:pt x="133350" y="0"/>
                </a:lnTo>
                <a:lnTo>
                  <a:pt x="133350" y="152400"/>
                </a:lnTo>
                <a:close/>
              </a:path>
            </a:pathLst>
          </a:custGeom>
          <a:solidFill>
            <a:srgbClr val="137F7B"/>
          </a:solidFill>
          <a:ln w="0">
            <a:noFill/>
          </a:ln>
        </p:spPr>
        <p:txBody>
          <a:bodyPr/>
          <a:lstStyle/>
          <a:p>
            <a:endParaRPr lang="en-US"/>
          </a:p>
        </p:txBody>
      </p:sp>
      <p:sp>
        <p:nvSpPr>
          <p:cNvPr id="43" name="roundRect-041">
            <a:extLst>
              <a:ext uri="{FF2B5EF4-FFF2-40B4-BE49-F238E27FC236}">
                <a16:creationId xmlns:a16="http://schemas.microsoft.com/office/drawing/2014/main" id="{42A6A899-A53C-457B-B5E3-EB3B43147713}"/>
              </a:ext>
            </a:extLst>
          </p:cNvPr>
          <p:cNvSpPr>
            <a:spLocks noGrp="1"/>
          </p:cNvSpPr>
          <p:nvPr/>
        </p:nvSpPr>
        <p:spPr>
          <a:xfrm>
            <a:off x="762000" y="6677025"/>
            <a:ext cx="16764000" cy="1343025"/>
          </a:xfrm>
          <a:prstGeom prst="roundRect">
            <a:avLst>
              <a:gd name="adj" fmla="val 15603"/>
            </a:avLst>
          </a:prstGeom>
          <a:solidFill>
            <a:srgbClr val="FFFFFF"/>
          </a:solidFill>
          <a:ln w="19050">
            <a:solidFill>
              <a:srgbClr val="D9E4EB"/>
            </a:solidFill>
          </a:ln>
        </p:spPr>
        <p:txBody>
          <a:bodyPr/>
          <a:lstStyle/>
          <a:p>
            <a:endParaRPr lang="en-US"/>
          </a:p>
        </p:txBody>
      </p:sp>
      <p:sp>
        <p:nvSpPr>
          <p:cNvPr id="44" name="text-042 BLOCK → stop fitting and explain the issues">
            <a:extLst>
              <a:ext uri="{FF2B5EF4-FFF2-40B4-BE49-F238E27FC236}">
                <a16:creationId xmlns:a16="http://schemas.microsoft.com/office/drawing/2014/main" id="{65CA5D6A-DCC3-4D9D-B8DB-99B61E2C4588}"/>
              </a:ext>
            </a:extLst>
          </p:cNvPr>
          <p:cNvSpPr>
            <a:spLocks noGrp="1"/>
          </p:cNvSpPr>
          <p:nvPr/>
        </p:nvSpPr>
        <p:spPr>
          <a:xfrm>
            <a:off x="1085850" y="6818753"/>
            <a:ext cx="15716250" cy="487204"/>
          </a:xfrm>
          <a:prstGeom prst="rect">
            <a:avLst/>
          </a:prstGeom>
          <a:noFill/>
          <a:ln w="0">
            <a:noFill/>
          </a:ln>
        </p:spPr>
        <p:txBody>
          <a:bodyPr wrap="none" lIns="0" tIns="0" rIns="0" bIns="0" anchor="t">
            <a:noAutofit/>
          </a:bodyPr>
          <a:lstStyle/>
          <a:p>
            <a:pPr algn="l">
              <a:lnSpc>
                <a:spcPct val="112500"/>
              </a:lnSpc>
              <a:buNone/>
              <a:defRPr sz="2325" b="1">
                <a:solidFill>
                  <a:srgbClr val="A9532C"/>
                </a:solidFill>
                <a:latin typeface="Segoe UI"/>
                <a:ea typeface="Segoe UI"/>
                <a:cs typeface="Segoe UI"/>
              </a:defRPr>
            </a:pPr>
            <a:r>
              <a:rPr sz="2325" b="1">
                <a:solidFill>
                  <a:srgbClr val="A9532C"/>
                </a:solidFill>
                <a:latin typeface="Segoe UI"/>
                <a:ea typeface="Segoe UI"/>
                <a:cs typeface="Segoe UI"/>
              </a:rPr>
              <a:t>BLOCK → stop fitting and explain the issues</a:t>
            </a:r>
          </a:p>
        </p:txBody>
      </p:sp>
      <p:sp>
        <p:nvSpPr>
          <p:cNvPr id="45" name="text-043 Harness: conversation + tool calls + state • Skill: workflow">
            <a:extLst>
              <a:ext uri="{FF2B5EF4-FFF2-40B4-BE49-F238E27FC236}">
                <a16:creationId xmlns:a16="http://schemas.microsoft.com/office/drawing/2014/main" id="{AA40D578-938A-4231-8F00-CC9EF7B5DCE3}"/>
              </a:ext>
            </a:extLst>
          </p:cNvPr>
          <p:cNvSpPr>
            <a:spLocks noGrp="1"/>
          </p:cNvSpPr>
          <p:nvPr/>
        </p:nvSpPr>
        <p:spPr>
          <a:xfrm>
            <a:off x="1085850" y="7334406"/>
            <a:ext cx="15621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Harness: conversation + tool calls + state • Skill: workflow instructions</a:t>
            </a:r>
          </a:p>
        </p:txBody>
      </p:sp>
    </p:spTree>
    <p:extLst>
      <p:ext uri="{BB962C8B-B14F-4D97-AF65-F5344CB8AC3E}">
        <p14:creationId xmlns:p14="http://schemas.microsoft.com/office/powerpoint/2010/main" val="2138278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3" name="rect-001">
            <a:extLst>
              <a:ext uri="{FF2B5EF4-FFF2-40B4-BE49-F238E27FC236}">
                <a16:creationId xmlns:a16="http://schemas.microsoft.com/office/drawing/2014/main" id="{1F38518B-7395-477C-AD21-D1DF96B0A51F}"/>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1220373C-6188-4881-9394-6E318ADCBA10}"/>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PROJECT SETUP">
            <a:extLst>
              <a:ext uri="{FF2B5EF4-FFF2-40B4-BE49-F238E27FC236}">
                <a16:creationId xmlns:a16="http://schemas.microsoft.com/office/drawing/2014/main" id="{686F6A5A-378D-44CA-A136-F52EB4CFF761}"/>
              </a:ext>
            </a:extLst>
          </p:cNvPr>
          <p:cNvSpPr>
            <a:spLocks noGrp="1"/>
          </p:cNvSpPr>
          <p:nvPr/>
        </p:nvSpPr>
        <p:spPr>
          <a:xfrm>
            <a:off x="781050" y="1042290"/>
            <a:ext cx="1733550"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PROJECT SETUP</a:t>
            </a:r>
          </a:p>
        </p:txBody>
      </p:sp>
      <p:sp>
        <p:nvSpPr>
          <p:cNvPr id="5" name="text-005 Define the project and its boundaries">
            <a:extLst>
              <a:ext uri="{FF2B5EF4-FFF2-40B4-BE49-F238E27FC236}">
                <a16:creationId xmlns:a16="http://schemas.microsoft.com/office/drawing/2014/main" id="{E2013263-92CE-4FA8-83EE-1B22A8C5A4B7}"/>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Define the project and its boundaries</a:t>
            </a:r>
          </a:p>
        </p:txBody>
      </p:sp>
      <p:sp>
        <p:nvSpPr>
          <p:cNvPr id="6" name="roundRect-006">
            <a:extLst>
              <a:ext uri="{FF2B5EF4-FFF2-40B4-BE49-F238E27FC236}">
                <a16:creationId xmlns:a16="http://schemas.microsoft.com/office/drawing/2014/main" id="{EF5DA42E-16A9-4D83-9771-5FFEDD615D05}"/>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1">
            <a:extLst>
              <a:ext uri="{FF2B5EF4-FFF2-40B4-BE49-F238E27FC236}">
                <a16:creationId xmlns:a16="http://schemas.microsoft.com/office/drawing/2014/main" id="{61258A74-D3B2-49AE-AB49-41080662303A}"/>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01</a:t>
            </a:r>
          </a:p>
        </p:txBody>
      </p:sp>
      <p:sp>
        <p:nvSpPr>
          <p:cNvPr id="8" name="line-008-1">
            <a:extLst>
              <a:ext uri="{FF2B5EF4-FFF2-40B4-BE49-F238E27FC236}">
                <a16:creationId xmlns:a16="http://schemas.microsoft.com/office/drawing/2014/main" id="{2511365F-659F-4030-964F-868BF7A9E3C1}"/>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1 / 13  •  Component responsibilities">
            <a:extLst>
              <a:ext uri="{FF2B5EF4-FFF2-40B4-BE49-F238E27FC236}">
                <a16:creationId xmlns:a16="http://schemas.microsoft.com/office/drawing/2014/main" id="{776CF1C9-1279-4E12-9EDF-929A9C1DFD03}"/>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01 / 13  •  Component responsibilities</a:t>
            </a:r>
          </a:p>
        </p:txBody>
      </p:sp>
      <p:sp>
        <p:nvSpPr>
          <p:cNvPr id="10" name="roundRect-010">
            <a:extLst>
              <a:ext uri="{FF2B5EF4-FFF2-40B4-BE49-F238E27FC236}">
                <a16:creationId xmlns:a16="http://schemas.microsoft.com/office/drawing/2014/main" id="{A234CFF5-6AEE-4D7D-949B-F432254A0BEE}"/>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9DF3B3D3-CA8C-4B13-9048-FFA3BC4EEBD9}"/>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Give the coding agent the analysis goal, supplied inputs, an">
            <a:extLst>
              <a:ext uri="{FF2B5EF4-FFF2-40B4-BE49-F238E27FC236}">
                <a16:creationId xmlns:a16="http://schemas.microsoft.com/office/drawing/2014/main" id="{4EACFCC6-6DDF-4ED9-A2B1-F8BD1B5313F5}"/>
              </a:ext>
            </a:extLst>
          </p:cNvPr>
          <p:cNvSpPr>
            <a:spLocks noGrp="1"/>
          </p:cNvSpPr>
          <p:nvPr/>
        </p:nvSpPr>
        <p:spPr>
          <a:xfrm>
            <a:off x="1104900" y="3024546"/>
            <a:ext cx="7143750" cy="1491615"/>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Give the coding agent the analysis goal,</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supplied inputs, and component scope</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before implementation.</a:t>
            </a:r>
          </a:p>
        </p:txBody>
      </p:sp>
      <p:sp>
        <p:nvSpPr>
          <p:cNvPr id="13" name="text-013 INPUTS">
            <a:extLst>
              <a:ext uri="{FF2B5EF4-FFF2-40B4-BE49-F238E27FC236}">
                <a16:creationId xmlns:a16="http://schemas.microsoft.com/office/drawing/2014/main" id="{24F7841B-875B-4B0A-951D-1FEBBCAA0126}"/>
              </a:ext>
            </a:extLst>
          </p:cNvPr>
          <p:cNvSpPr>
            <a:spLocks noGrp="1"/>
          </p:cNvSpPr>
          <p:nvPr/>
        </p:nvSpPr>
        <p:spPr>
          <a:xfrm>
            <a:off x="1104900" y="4661188"/>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D020498D-BD31-416F-BD48-9B7535E95406}"/>
              </a:ext>
            </a:extLst>
          </p:cNvPr>
          <p:cNvSpPr>
            <a:spLocks noGrp="1"/>
          </p:cNvSpPr>
          <p:nvPr/>
        </p:nvSpPr>
        <p:spPr>
          <a:xfrm>
            <a:off x="1104900" y="5179695"/>
            <a:ext cx="76200" cy="76200"/>
          </a:xfrm>
          <a:prstGeom prst="ellipse">
            <a:avLst/>
          </a:prstGeom>
          <a:solidFill>
            <a:srgbClr val="137F7B"/>
          </a:solidFill>
          <a:ln w="0">
            <a:noFill/>
          </a:ln>
        </p:spPr>
        <p:txBody>
          <a:bodyPr/>
          <a:lstStyle/>
          <a:p>
            <a:endParaRPr lang="en-US"/>
          </a:p>
        </p:txBody>
      </p:sp>
      <p:sp>
        <p:nvSpPr>
          <p:cNvPr id="15" name="text-015 The user-provided analysis goal">
            <a:extLst>
              <a:ext uri="{FF2B5EF4-FFF2-40B4-BE49-F238E27FC236}">
                <a16:creationId xmlns:a16="http://schemas.microsoft.com/office/drawing/2014/main" id="{B7A160A4-6A10-4A19-9EE7-D27A3802FB8D}"/>
              </a:ext>
            </a:extLst>
          </p:cNvPr>
          <p:cNvSpPr>
            <a:spLocks noGrp="1"/>
          </p:cNvSpPr>
          <p:nvPr/>
        </p:nvSpPr>
        <p:spPr>
          <a:xfrm>
            <a:off x="1343025" y="5036976"/>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The user-provided analysis goal</a:t>
            </a:r>
          </a:p>
        </p:txBody>
      </p:sp>
      <p:sp>
        <p:nvSpPr>
          <p:cNvPr id="16" name="ellipse-016">
            <a:extLst>
              <a:ext uri="{FF2B5EF4-FFF2-40B4-BE49-F238E27FC236}">
                <a16:creationId xmlns:a16="http://schemas.microsoft.com/office/drawing/2014/main" id="{9A54ECEB-1878-4D43-AE9A-568640D8C42F}"/>
              </a:ext>
            </a:extLst>
          </p:cNvPr>
          <p:cNvSpPr>
            <a:spLocks noGrp="1"/>
          </p:cNvSpPr>
          <p:nvPr/>
        </p:nvSpPr>
        <p:spPr>
          <a:xfrm>
            <a:off x="1104900" y="5685949"/>
            <a:ext cx="76200" cy="76200"/>
          </a:xfrm>
          <a:prstGeom prst="ellipse">
            <a:avLst/>
          </a:prstGeom>
          <a:solidFill>
            <a:srgbClr val="137F7B"/>
          </a:solidFill>
          <a:ln w="0">
            <a:noFill/>
          </a:ln>
        </p:spPr>
        <p:txBody>
          <a:bodyPr/>
          <a:lstStyle/>
          <a:p>
            <a:endParaRPr lang="en-US"/>
          </a:p>
        </p:txBody>
      </p:sp>
      <p:sp>
        <p:nvSpPr>
          <p:cNvPr id="17" name="text-017 SAP.md and the supplied data/ folder">
            <a:extLst>
              <a:ext uri="{FF2B5EF4-FFF2-40B4-BE49-F238E27FC236}">
                <a16:creationId xmlns:a16="http://schemas.microsoft.com/office/drawing/2014/main" id="{042AFB1A-E753-44F5-93AC-371FD4F22EC8}"/>
              </a:ext>
            </a:extLst>
          </p:cNvPr>
          <p:cNvSpPr>
            <a:spLocks noGrp="1"/>
          </p:cNvSpPr>
          <p:nvPr/>
        </p:nvSpPr>
        <p:spPr>
          <a:xfrm>
            <a:off x="1343025" y="5543230"/>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SAP.md and the supplied data/ folder</a:t>
            </a:r>
          </a:p>
        </p:txBody>
      </p:sp>
      <p:sp>
        <p:nvSpPr>
          <p:cNvPr id="18" name="text-018 WHAT TO BUILD">
            <a:extLst>
              <a:ext uri="{FF2B5EF4-FFF2-40B4-BE49-F238E27FC236}">
                <a16:creationId xmlns:a16="http://schemas.microsoft.com/office/drawing/2014/main" id="{0DC7E759-97FC-4C01-BF66-3FE26A6863D7}"/>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CA17770D-5E93-4EFA-9112-2375DC8496D5}"/>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project_protocol.md">
            <a:extLst>
              <a:ext uri="{FF2B5EF4-FFF2-40B4-BE49-F238E27FC236}">
                <a16:creationId xmlns:a16="http://schemas.microsoft.com/office/drawing/2014/main" id="{3E8ABAC9-D543-46B0-909E-9FC05DF5959B}"/>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project_protocol.md</a:t>
            </a:r>
          </a:p>
        </p:txBody>
      </p:sp>
      <p:sp>
        <p:nvSpPr>
          <p:cNvPr id="21" name="ellipse-021">
            <a:extLst>
              <a:ext uri="{FF2B5EF4-FFF2-40B4-BE49-F238E27FC236}">
                <a16:creationId xmlns:a16="http://schemas.microsoft.com/office/drawing/2014/main" id="{B5109028-1114-4E6C-AC99-C5DDE1E38C03}"/>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An ordered component build plan">
            <a:extLst>
              <a:ext uri="{FF2B5EF4-FFF2-40B4-BE49-F238E27FC236}">
                <a16:creationId xmlns:a16="http://schemas.microsoft.com/office/drawing/2014/main" id="{EDA6AA4F-EF75-4894-8743-F517A226B2A8}"/>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An ordered component build plan</a:t>
            </a:r>
          </a:p>
        </p:txBody>
      </p:sp>
    </p:spTree>
    <p:extLst>
      <p:ext uri="{BB962C8B-B14F-4D97-AF65-F5344CB8AC3E}">
        <p14:creationId xmlns:p14="http://schemas.microsoft.com/office/powerpoint/2010/main" val="1634062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E6459C3D-1252-46D6-AFA7-870A4D08AFC8}"/>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513811F8-6C7F-4143-9500-C3BCB2B5765F}"/>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PROJECT SETUP">
            <a:extLst>
              <a:ext uri="{FF2B5EF4-FFF2-40B4-BE49-F238E27FC236}">
                <a16:creationId xmlns:a16="http://schemas.microsoft.com/office/drawing/2014/main" id="{F75433F8-EDBE-43FE-8EAF-9FE3662556E6}"/>
              </a:ext>
            </a:extLst>
          </p:cNvPr>
          <p:cNvSpPr>
            <a:spLocks noGrp="1"/>
          </p:cNvSpPr>
          <p:nvPr/>
        </p:nvSpPr>
        <p:spPr>
          <a:xfrm>
            <a:off x="781050" y="1042290"/>
            <a:ext cx="1733550"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PROJECT SETUP</a:t>
            </a:r>
          </a:p>
        </p:txBody>
      </p:sp>
      <p:sp>
        <p:nvSpPr>
          <p:cNvPr id="5" name="text-005 Define the project and its boundaries">
            <a:extLst>
              <a:ext uri="{FF2B5EF4-FFF2-40B4-BE49-F238E27FC236}">
                <a16:creationId xmlns:a16="http://schemas.microsoft.com/office/drawing/2014/main" id="{57307A8A-EDD2-42D3-B455-32E5A28CA95F}"/>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Define the project and its boundaries</a:t>
            </a:r>
          </a:p>
        </p:txBody>
      </p:sp>
      <p:sp>
        <p:nvSpPr>
          <p:cNvPr id="6" name="roundRect-006">
            <a:extLst>
              <a:ext uri="{FF2B5EF4-FFF2-40B4-BE49-F238E27FC236}">
                <a16:creationId xmlns:a16="http://schemas.microsoft.com/office/drawing/2014/main" id="{98D4A23D-2367-4783-8FAD-5EBF261460FE}"/>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1">
            <a:extLst>
              <a:ext uri="{FF2B5EF4-FFF2-40B4-BE49-F238E27FC236}">
                <a16:creationId xmlns:a16="http://schemas.microsoft.com/office/drawing/2014/main" id="{8C4E5BEA-C3D3-4844-85EF-3F0AB1FDDC15}"/>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01</a:t>
            </a:r>
          </a:p>
        </p:txBody>
      </p:sp>
      <p:sp>
        <p:nvSpPr>
          <p:cNvPr id="8" name="line-008-1">
            <a:extLst>
              <a:ext uri="{FF2B5EF4-FFF2-40B4-BE49-F238E27FC236}">
                <a16:creationId xmlns:a16="http://schemas.microsoft.com/office/drawing/2014/main" id="{1A2EB361-0450-457C-A301-A44C2F259956}"/>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1-project-protocol.txt">
            <a:extLst>
              <a:ext uri="{FF2B5EF4-FFF2-40B4-BE49-F238E27FC236}">
                <a16:creationId xmlns:a16="http://schemas.microsoft.com/office/drawing/2014/main" id="{A360DBA9-77F6-48E0-B52B-359521E5E0E1}"/>
              </a:ext>
            </a:extLst>
          </p:cNvPr>
          <p:cNvSpPr>
            <a:spLocks noGrp="1"/>
          </p:cNvSpPr>
          <p:nvPr/>
        </p:nvSpPr>
        <p:spPr>
          <a:xfrm>
            <a:off x="781050" y="8615317"/>
            <a:ext cx="5438626"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prompts/01-project-protocol.txt</a:t>
            </a:r>
          </a:p>
        </p:txBody>
      </p:sp>
      <p:sp>
        <p:nvSpPr>
          <p:cNvPr id="10" name="roundRect-010">
            <a:extLst>
              <a:ext uri="{FF2B5EF4-FFF2-40B4-BE49-F238E27FC236}">
                <a16:creationId xmlns:a16="http://schemas.microsoft.com/office/drawing/2014/main" id="{67CEA8DB-7744-4083-A886-00DBD88671C7}"/>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a:extLst>
              <a:ext uri="{FF2B5EF4-FFF2-40B4-BE49-F238E27FC236}">
                <a16:creationId xmlns:a16="http://schemas.microsoft.com/office/drawing/2014/main" id="{874E6826-43C4-4EA5-BD73-4FC3712F62AB}"/>
              </a:ext>
            </a:extLst>
          </p:cNvPr>
          <p:cNvSpPr>
            <a:spLocks noGrp="1"/>
          </p:cNvSpPr>
          <p:nvPr/>
        </p:nvSpPr>
        <p:spPr>
          <a:xfrm>
            <a:off x="1123950" y="2910493"/>
            <a:ext cx="3647926"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a:t>
            </a:r>
          </a:p>
        </p:txBody>
      </p:sp>
      <p:sp>
        <p:nvSpPr>
          <p:cNvPr id="12" name="text-012 I want a reusable biomedical analysis pipeline that turns a ">
            <a:extLst>
              <a:ext uri="{FF2B5EF4-FFF2-40B4-BE49-F238E27FC236}">
                <a16:creationId xmlns:a16="http://schemas.microsoft.com/office/drawing/2014/main" id="{ABDA8A85-5B36-42D8-A143-AD7A92426581}"/>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I want a reusable biomedical analysis pipeline that turns a user-defined research question and estimand into a</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checked analysis result. It should extract requirements from a statistical analysis plan, assess the selected data, run the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supported analysis only after QC allows it, and explain completed or blocked outcomes. Record this goal, component</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scope, and build order in project_protocol.md before implementation.</a:t>
            </a:r>
          </a:p>
        </p:txBody>
      </p:sp>
      <p:sp>
        <p:nvSpPr>
          <p:cNvPr id="13" name="roundRect-013">
            <a:extLst>
              <a:ext uri="{FF2B5EF4-FFF2-40B4-BE49-F238E27FC236}">
                <a16:creationId xmlns:a16="http://schemas.microsoft.com/office/drawing/2014/main" id="{5F62BE22-C16D-449B-9B96-ED61686B01F5}"/>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BF3E7942-CD9B-43A3-90F0-60587D33751A}"/>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AC296E15-A2D9-416B-82F9-988AFF3DA8EC}"/>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782D38D7-FC77-4365-85CE-5C7BD452A2C4}"/>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State the reusable analysis goal">
            <a:extLst>
              <a:ext uri="{FF2B5EF4-FFF2-40B4-BE49-F238E27FC236}">
                <a16:creationId xmlns:a16="http://schemas.microsoft.com/office/drawing/2014/main" id="{57F1E32D-1F46-40E3-8728-E6506933E71E}"/>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State the reusable analysis goal</a:t>
            </a:r>
          </a:p>
        </p:txBody>
      </p:sp>
      <p:sp>
        <p:nvSpPr>
          <p:cNvPr id="18" name="ellipse-018">
            <a:extLst>
              <a:ext uri="{FF2B5EF4-FFF2-40B4-BE49-F238E27FC236}">
                <a16:creationId xmlns:a16="http://schemas.microsoft.com/office/drawing/2014/main" id="{EC485B66-0FBF-4FE6-9789-153C19436769}"/>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Accept the question, SAP, and selected datasets">
            <a:extLst>
              <a:ext uri="{FF2B5EF4-FFF2-40B4-BE49-F238E27FC236}">
                <a16:creationId xmlns:a16="http://schemas.microsoft.com/office/drawing/2014/main" id="{B4A64C11-7684-43ED-9751-02A4931A2A56}"/>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Accept the question, SAP, and selected datasets</a:t>
            </a:r>
          </a:p>
        </p:txBody>
      </p:sp>
      <p:sp>
        <p:nvSpPr>
          <p:cNvPr id="20" name="ellipse-020">
            <a:extLst>
              <a:ext uri="{FF2B5EF4-FFF2-40B4-BE49-F238E27FC236}">
                <a16:creationId xmlns:a16="http://schemas.microsoft.com/office/drawing/2014/main" id="{B892556C-66A6-4EF0-B90C-E3272F50638D}"/>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Plan components and preserve source files">
            <a:extLst>
              <a:ext uri="{FF2B5EF4-FFF2-40B4-BE49-F238E27FC236}">
                <a16:creationId xmlns:a16="http://schemas.microsoft.com/office/drawing/2014/main" id="{274A695F-74E4-4EA9-A450-B9A59649C297}"/>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Plan components and preserve source files</a:t>
            </a:r>
          </a:p>
        </p:txBody>
      </p:sp>
      <p:sp>
        <p:nvSpPr>
          <p:cNvPr id="22" name="text-022 INSPECT AFTER GENERATION">
            <a:extLst>
              <a:ext uri="{FF2B5EF4-FFF2-40B4-BE49-F238E27FC236}">
                <a16:creationId xmlns:a16="http://schemas.microsoft.com/office/drawing/2014/main" id="{61E59C73-E614-4A46-839A-CE0B91BDFF0F}"/>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protocol records the user-defined analysis goal, require">
            <a:extLst>
              <a:ext uri="{FF2B5EF4-FFF2-40B4-BE49-F238E27FC236}">
                <a16:creationId xmlns:a16="http://schemas.microsoft.com/office/drawing/2014/main" id="{3769DF90-59AE-4343-BF85-7312E4B9244F}"/>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protocol records the user-defined analysis goal,</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required inputs, supported components, and build</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order.</a:t>
            </a:r>
          </a:p>
        </p:txBody>
      </p:sp>
    </p:spTree>
    <p:extLst>
      <p:ext uri="{BB962C8B-B14F-4D97-AF65-F5344CB8AC3E}">
        <p14:creationId xmlns:p14="http://schemas.microsoft.com/office/powerpoint/2010/main" val="80296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1" name="rect-001">
            <a:extLst>
              <a:ext uri="{FF2B5EF4-FFF2-40B4-BE49-F238E27FC236}">
                <a16:creationId xmlns:a16="http://schemas.microsoft.com/office/drawing/2014/main" id="{0DB36205-B461-4E6D-B5C3-5DF93107F04A}"/>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40C5F8B1-39DB-465A-A8AF-132E09CBE1FB}"/>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SKILL">
            <a:extLst>
              <a:ext uri="{FF2B5EF4-FFF2-40B4-BE49-F238E27FC236}">
                <a16:creationId xmlns:a16="http://schemas.microsoft.com/office/drawing/2014/main" id="{7039C5AE-79C7-40A1-959D-A95B48B243A0}"/>
              </a:ext>
            </a:extLst>
          </p:cNvPr>
          <p:cNvSpPr>
            <a:spLocks noGrp="1"/>
          </p:cNvSpPr>
          <p:nvPr/>
        </p:nvSpPr>
        <p:spPr>
          <a:xfrm>
            <a:off x="781050" y="1042290"/>
            <a:ext cx="676275"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SKILL</a:t>
            </a:r>
          </a:p>
        </p:txBody>
      </p:sp>
      <p:sp>
        <p:nvSpPr>
          <p:cNvPr id="5" name="text-005 Create the SAP extraction skill">
            <a:extLst>
              <a:ext uri="{FF2B5EF4-FFF2-40B4-BE49-F238E27FC236}">
                <a16:creationId xmlns:a16="http://schemas.microsoft.com/office/drawing/2014/main" id="{C3E4359C-397E-45C8-AD17-A7E1E6D5FB28}"/>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SAP extraction skill</a:t>
            </a:r>
          </a:p>
        </p:txBody>
      </p:sp>
      <p:sp>
        <p:nvSpPr>
          <p:cNvPr id="6" name="roundRect-006">
            <a:extLst>
              <a:ext uri="{FF2B5EF4-FFF2-40B4-BE49-F238E27FC236}">
                <a16:creationId xmlns:a16="http://schemas.microsoft.com/office/drawing/2014/main" id="{506D392F-D4C2-4470-BCB9-2AF1BFA6E253}"/>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2">
            <a:extLst>
              <a:ext uri="{FF2B5EF4-FFF2-40B4-BE49-F238E27FC236}">
                <a16:creationId xmlns:a16="http://schemas.microsoft.com/office/drawing/2014/main" id="{2D4F59DC-EA31-48DC-8599-6EEF884BF913}"/>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02</a:t>
            </a:r>
          </a:p>
        </p:txBody>
      </p:sp>
      <p:sp>
        <p:nvSpPr>
          <p:cNvPr id="8" name="line-008-1">
            <a:extLst>
              <a:ext uri="{FF2B5EF4-FFF2-40B4-BE49-F238E27FC236}">
                <a16:creationId xmlns:a16="http://schemas.microsoft.com/office/drawing/2014/main" id="{D2E9911C-3C7D-4AC6-8197-BC369B7A712D}"/>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2 / 13  •  Component responsibilities">
            <a:extLst>
              <a:ext uri="{FF2B5EF4-FFF2-40B4-BE49-F238E27FC236}">
                <a16:creationId xmlns:a16="http://schemas.microsoft.com/office/drawing/2014/main" id="{607D49C3-53EA-4A49-BFCF-1B91C761D597}"/>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02 / 13  •  Component responsibilities</a:t>
            </a:r>
          </a:p>
        </p:txBody>
      </p:sp>
      <p:sp>
        <p:nvSpPr>
          <p:cNvPr id="10" name="roundRect-010">
            <a:extLst>
              <a:ext uri="{FF2B5EF4-FFF2-40B4-BE49-F238E27FC236}">
                <a16:creationId xmlns:a16="http://schemas.microsoft.com/office/drawing/2014/main" id="{64FE6326-F8E3-4A36-86AB-DBA418EDFDF8}"/>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7BBFC43D-48DC-4D9D-B0D8-77E09365B4E6}"/>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Define how the agent extracts analysis requirements and pres">
            <a:extLst>
              <a:ext uri="{FF2B5EF4-FFF2-40B4-BE49-F238E27FC236}">
                <a16:creationId xmlns:a16="http://schemas.microsoft.com/office/drawing/2014/main" id="{49F64475-7C0A-4C70-95B2-C64E576E85F5}"/>
              </a:ext>
            </a:extLst>
          </p:cNvPr>
          <p:cNvSpPr>
            <a:spLocks noGrp="1"/>
          </p:cNvSpPr>
          <p:nvPr/>
        </p:nvSpPr>
        <p:spPr>
          <a:xfrm>
            <a:off x="1104900" y="3024546"/>
            <a:ext cx="7143750" cy="1491615"/>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Define how the agent extracts analysis</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requirements and preserves their source</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evidence.</a:t>
            </a:r>
          </a:p>
        </p:txBody>
      </p:sp>
      <p:sp>
        <p:nvSpPr>
          <p:cNvPr id="13" name="text-013 INPUTS">
            <a:extLst>
              <a:ext uri="{FF2B5EF4-FFF2-40B4-BE49-F238E27FC236}">
                <a16:creationId xmlns:a16="http://schemas.microsoft.com/office/drawing/2014/main" id="{E2287A54-85C2-4501-9C61-47DBA14E9656}"/>
              </a:ext>
            </a:extLst>
          </p:cNvPr>
          <p:cNvSpPr>
            <a:spLocks noGrp="1"/>
          </p:cNvSpPr>
          <p:nvPr/>
        </p:nvSpPr>
        <p:spPr>
          <a:xfrm>
            <a:off x="1104900" y="4661188"/>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52B2F082-0309-403D-B3E9-59F95E1AEF2A}"/>
              </a:ext>
            </a:extLst>
          </p:cNvPr>
          <p:cNvSpPr>
            <a:spLocks noGrp="1"/>
          </p:cNvSpPr>
          <p:nvPr/>
        </p:nvSpPr>
        <p:spPr>
          <a:xfrm>
            <a:off x="1104900" y="5179695"/>
            <a:ext cx="76200" cy="76200"/>
          </a:xfrm>
          <a:prstGeom prst="ellipse">
            <a:avLst/>
          </a:prstGeom>
          <a:solidFill>
            <a:srgbClr val="137F7B"/>
          </a:solidFill>
          <a:ln w="0">
            <a:noFill/>
          </a:ln>
        </p:spPr>
        <p:txBody>
          <a:bodyPr/>
          <a:lstStyle/>
          <a:p>
            <a:endParaRPr lang="en-US"/>
          </a:p>
        </p:txBody>
      </p:sp>
      <p:sp>
        <p:nvSpPr>
          <p:cNvPr id="15" name="text-015 SAP.md">
            <a:extLst>
              <a:ext uri="{FF2B5EF4-FFF2-40B4-BE49-F238E27FC236}">
                <a16:creationId xmlns:a16="http://schemas.microsoft.com/office/drawing/2014/main" id="{4C6E75A7-A7CA-4EF0-B5B9-7E21F53B83C7}"/>
              </a:ext>
            </a:extLst>
          </p:cNvPr>
          <p:cNvSpPr>
            <a:spLocks noGrp="1"/>
          </p:cNvSpPr>
          <p:nvPr/>
        </p:nvSpPr>
        <p:spPr>
          <a:xfrm>
            <a:off x="1343025" y="5036976"/>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SAP.md</a:t>
            </a:r>
          </a:p>
        </p:txBody>
      </p:sp>
      <p:sp>
        <p:nvSpPr>
          <p:cNvPr id="16" name="text-016 WHAT TO BUILD">
            <a:extLst>
              <a:ext uri="{FF2B5EF4-FFF2-40B4-BE49-F238E27FC236}">
                <a16:creationId xmlns:a16="http://schemas.microsoft.com/office/drawing/2014/main" id="{577E1C63-D226-4B95-AF0A-DC413EE9BDE1}"/>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7" name="ellipse-017">
            <a:extLst>
              <a:ext uri="{FF2B5EF4-FFF2-40B4-BE49-F238E27FC236}">
                <a16:creationId xmlns:a16="http://schemas.microsoft.com/office/drawing/2014/main" id="{997CD1FC-0D4E-4570-BB97-DF4EE9C37697}"/>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18" name="text-018 skills/sap-extractor/SKILL.md">
            <a:extLst>
              <a:ext uri="{FF2B5EF4-FFF2-40B4-BE49-F238E27FC236}">
                <a16:creationId xmlns:a16="http://schemas.microsoft.com/office/drawing/2014/main" id="{64976062-35AA-4BF2-8446-4FD690D33BEE}"/>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skills/sap-extractor/SKILL.md</a:t>
            </a:r>
          </a:p>
        </p:txBody>
      </p:sp>
      <p:sp>
        <p:nvSpPr>
          <p:cNvPr id="19" name="ellipse-019">
            <a:extLst>
              <a:ext uri="{FF2B5EF4-FFF2-40B4-BE49-F238E27FC236}">
                <a16:creationId xmlns:a16="http://schemas.microsoft.com/office/drawing/2014/main" id="{8C93A78B-8660-47EE-A56D-24C9310BF8BA}"/>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0" name="text-020 Contract fields and extraction procedure">
            <a:extLst>
              <a:ext uri="{FF2B5EF4-FFF2-40B4-BE49-F238E27FC236}">
                <a16:creationId xmlns:a16="http://schemas.microsoft.com/office/drawing/2014/main" id="{1A10B328-BB65-4202-B463-4C588DC22750}"/>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Contract fields and extraction procedure</a:t>
            </a:r>
          </a:p>
        </p:txBody>
      </p:sp>
    </p:spTree>
    <p:extLst>
      <p:ext uri="{BB962C8B-B14F-4D97-AF65-F5344CB8AC3E}">
        <p14:creationId xmlns:p14="http://schemas.microsoft.com/office/powerpoint/2010/main" val="1282857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F3483D64-94BF-4ADA-B009-BDE6EE98B1A5}"/>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63580F62-0F48-4A31-A4A8-2A46F5AD97EF}"/>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SKILL">
            <a:extLst>
              <a:ext uri="{FF2B5EF4-FFF2-40B4-BE49-F238E27FC236}">
                <a16:creationId xmlns:a16="http://schemas.microsoft.com/office/drawing/2014/main" id="{4C009DF1-49B6-4F8D-AAE2-F900FD49682A}"/>
              </a:ext>
            </a:extLst>
          </p:cNvPr>
          <p:cNvSpPr>
            <a:spLocks noGrp="1"/>
          </p:cNvSpPr>
          <p:nvPr/>
        </p:nvSpPr>
        <p:spPr>
          <a:xfrm>
            <a:off x="781050" y="1042290"/>
            <a:ext cx="676275"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SKILL</a:t>
            </a:r>
          </a:p>
        </p:txBody>
      </p:sp>
      <p:sp>
        <p:nvSpPr>
          <p:cNvPr id="5" name="text-005 Create the SAP extraction skill">
            <a:extLst>
              <a:ext uri="{FF2B5EF4-FFF2-40B4-BE49-F238E27FC236}">
                <a16:creationId xmlns:a16="http://schemas.microsoft.com/office/drawing/2014/main" id="{20CAF245-C663-4EFC-AA1F-7CC5798F54B5}"/>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SAP extraction skill</a:t>
            </a:r>
          </a:p>
        </p:txBody>
      </p:sp>
      <p:sp>
        <p:nvSpPr>
          <p:cNvPr id="6" name="roundRect-006">
            <a:extLst>
              <a:ext uri="{FF2B5EF4-FFF2-40B4-BE49-F238E27FC236}">
                <a16:creationId xmlns:a16="http://schemas.microsoft.com/office/drawing/2014/main" id="{AB333807-1055-42B7-B075-825DBED5F9E3}"/>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2">
            <a:extLst>
              <a:ext uri="{FF2B5EF4-FFF2-40B4-BE49-F238E27FC236}">
                <a16:creationId xmlns:a16="http://schemas.microsoft.com/office/drawing/2014/main" id="{866460CE-BF64-4D17-BCD0-41B0712190DB}"/>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02</a:t>
            </a:r>
          </a:p>
        </p:txBody>
      </p:sp>
      <p:sp>
        <p:nvSpPr>
          <p:cNvPr id="8" name="line-008-1">
            <a:extLst>
              <a:ext uri="{FF2B5EF4-FFF2-40B4-BE49-F238E27FC236}">
                <a16:creationId xmlns:a16="http://schemas.microsoft.com/office/drawing/2014/main" id="{6551B4B2-C190-4C40-92FB-F9ACEFC8E7AB}"/>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2-sap-skill.txt">
            <a:extLst>
              <a:ext uri="{FF2B5EF4-FFF2-40B4-BE49-F238E27FC236}">
                <a16:creationId xmlns:a16="http://schemas.microsoft.com/office/drawing/2014/main" id="{833AAEF7-81EE-4EC8-BCAB-988A4B1E3B10}"/>
              </a:ext>
            </a:extLst>
          </p:cNvPr>
          <p:cNvSpPr>
            <a:spLocks noGrp="1"/>
          </p:cNvSpPr>
          <p:nvPr/>
        </p:nvSpPr>
        <p:spPr>
          <a:xfrm>
            <a:off x="781050" y="8615317"/>
            <a:ext cx="4657725"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prompts/02-sap-skill.txt</a:t>
            </a:r>
          </a:p>
        </p:txBody>
      </p:sp>
      <p:sp>
        <p:nvSpPr>
          <p:cNvPr id="10" name="roundRect-010">
            <a:extLst>
              <a:ext uri="{FF2B5EF4-FFF2-40B4-BE49-F238E27FC236}">
                <a16:creationId xmlns:a16="http://schemas.microsoft.com/office/drawing/2014/main" id="{C02CACEE-BCD1-4242-8AC1-2F7550F09F34}"/>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33AED536-DFCE-4DCE-8414-F59B602784C8}"/>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Create a SAP extraction skill that reads a statistical analy">
            <a:extLst>
              <a:ext uri="{FF2B5EF4-FFF2-40B4-BE49-F238E27FC236}">
                <a16:creationId xmlns:a16="http://schemas.microsoft.com/office/drawing/2014/main" id="{2AF0EF1F-70D3-4C84-827E-BBC69DBE02C9}"/>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Create a SAP extraction skill that reads a statistical analysis plan and produces a structured contract for data readiness</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and analysis. Extract the estimand, endpoint definition, analysis population, treatment comparison, assessment timing,</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outcome and covariates, model, missing-data rules, required datasets and variables, readiness criteria, and reporting</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constraints. Attach a value, source section, evidence, and field status to each requirement.</a:t>
            </a:r>
          </a:p>
        </p:txBody>
      </p:sp>
      <p:sp>
        <p:nvSpPr>
          <p:cNvPr id="13" name="roundRect-013">
            <a:extLst>
              <a:ext uri="{FF2B5EF4-FFF2-40B4-BE49-F238E27FC236}">
                <a16:creationId xmlns:a16="http://schemas.microsoft.com/office/drawing/2014/main" id="{ADBCC448-9446-4804-A57D-D97E8ADEF86F}"/>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F55E9FB2-27B9-4F10-BFE3-EFA61D2D514B}"/>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706EFFD8-2ACF-44D9-946A-00FA8CBFCEB2}"/>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9B215889-A504-4F3C-84B6-4BCAEFD99758}"/>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Extract the estimand and analysis requirements">
            <a:extLst>
              <a:ext uri="{FF2B5EF4-FFF2-40B4-BE49-F238E27FC236}">
                <a16:creationId xmlns:a16="http://schemas.microsoft.com/office/drawing/2014/main" id="{FCC85FE6-E269-42E7-855C-14B326735EA1}"/>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Extract the estimand and analysis requirements</a:t>
            </a:r>
          </a:p>
        </p:txBody>
      </p:sp>
      <p:sp>
        <p:nvSpPr>
          <p:cNvPr id="18" name="ellipse-018">
            <a:extLst>
              <a:ext uri="{FF2B5EF4-FFF2-40B4-BE49-F238E27FC236}">
                <a16:creationId xmlns:a16="http://schemas.microsoft.com/office/drawing/2014/main" id="{4BB76815-A871-4782-82B6-34FBB777DB26}"/>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Attach values, source evidence, and status">
            <a:extLst>
              <a:ext uri="{FF2B5EF4-FFF2-40B4-BE49-F238E27FC236}">
                <a16:creationId xmlns:a16="http://schemas.microsoft.com/office/drawing/2014/main" id="{EE0F650F-2B4A-4AC6-896B-2300ACEF2441}"/>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Attach values, source evidence, and status</a:t>
            </a:r>
          </a:p>
        </p:txBody>
      </p:sp>
      <p:sp>
        <p:nvSpPr>
          <p:cNvPr id="20" name="ellipse-020">
            <a:extLst>
              <a:ext uri="{FF2B5EF4-FFF2-40B4-BE49-F238E27FC236}">
                <a16:creationId xmlns:a16="http://schemas.microsoft.com/office/drawing/2014/main" id="{2959EEF6-C3CA-461D-B3D4-E9756F42F585}"/>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Define a reusable extraction procedure">
            <a:extLst>
              <a:ext uri="{FF2B5EF4-FFF2-40B4-BE49-F238E27FC236}">
                <a16:creationId xmlns:a16="http://schemas.microsoft.com/office/drawing/2014/main" id="{7EE63654-31FD-4138-8B9D-51F64F92B6BD}"/>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Define a reusable extraction procedure</a:t>
            </a:r>
          </a:p>
        </p:txBody>
      </p:sp>
      <p:sp>
        <p:nvSpPr>
          <p:cNvPr id="22" name="text-022 INSPECT AFTER GENERATION">
            <a:extLst>
              <a:ext uri="{FF2B5EF4-FFF2-40B4-BE49-F238E27FC236}">
                <a16:creationId xmlns:a16="http://schemas.microsoft.com/office/drawing/2014/main" id="{3459A00F-7C4A-404D-B243-51CA7CEA3E5B}"/>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skill captures the estimand and analysis requirements wi">
            <a:extLst>
              <a:ext uri="{FF2B5EF4-FFF2-40B4-BE49-F238E27FC236}">
                <a16:creationId xmlns:a16="http://schemas.microsoft.com/office/drawing/2014/main" id="{BE8FF7B0-0711-4F94-A67F-FD0112A7B0FE}"/>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skill captures the estimand and analysis</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requirements with source evidence, without</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embedding a fixed endpoint or study.</a:t>
            </a:r>
          </a:p>
        </p:txBody>
      </p:sp>
    </p:spTree>
    <p:extLst>
      <p:ext uri="{BB962C8B-B14F-4D97-AF65-F5344CB8AC3E}">
        <p14:creationId xmlns:p14="http://schemas.microsoft.com/office/powerpoint/2010/main" val="457971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5" name="rect-001">
            <a:extLst>
              <a:ext uri="{FF2B5EF4-FFF2-40B4-BE49-F238E27FC236}">
                <a16:creationId xmlns:a16="http://schemas.microsoft.com/office/drawing/2014/main" id="{5E42CFA3-07A6-4C72-AD61-48D84743B178}"/>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9FA5AB4B-F25A-494A-9C77-8484E7AAB45F}"/>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HELPER + STATE ARTIFACT">
            <a:extLst>
              <a:ext uri="{FF2B5EF4-FFF2-40B4-BE49-F238E27FC236}">
                <a16:creationId xmlns:a16="http://schemas.microsoft.com/office/drawing/2014/main" id="{9BA6E980-F160-4E24-ABC8-EDF772728769}"/>
              </a:ext>
            </a:extLst>
          </p:cNvPr>
          <p:cNvSpPr>
            <a:spLocks noGrp="1"/>
          </p:cNvSpPr>
          <p:nvPr/>
        </p:nvSpPr>
        <p:spPr>
          <a:xfrm>
            <a:off x="781050" y="1042290"/>
            <a:ext cx="2876104"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HELPER + STATE ARTIFACT</a:t>
            </a:r>
          </a:p>
        </p:txBody>
      </p:sp>
      <p:sp>
        <p:nvSpPr>
          <p:cNvPr id="5" name="text-005 Build the extraction helper and contract">
            <a:extLst>
              <a:ext uri="{FF2B5EF4-FFF2-40B4-BE49-F238E27FC236}">
                <a16:creationId xmlns:a16="http://schemas.microsoft.com/office/drawing/2014/main" id="{25F621A3-B50B-44D7-80EC-A256AA614B08}"/>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the extraction helper and contract</a:t>
            </a:r>
          </a:p>
        </p:txBody>
      </p:sp>
      <p:sp>
        <p:nvSpPr>
          <p:cNvPr id="6" name="roundRect-006">
            <a:extLst>
              <a:ext uri="{FF2B5EF4-FFF2-40B4-BE49-F238E27FC236}">
                <a16:creationId xmlns:a16="http://schemas.microsoft.com/office/drawing/2014/main" id="{50F74FB4-2DB9-4A63-97F7-7417E671FD61}"/>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3">
            <a:extLst>
              <a:ext uri="{FF2B5EF4-FFF2-40B4-BE49-F238E27FC236}">
                <a16:creationId xmlns:a16="http://schemas.microsoft.com/office/drawing/2014/main" id="{416779CC-4563-48A7-A407-ED86E246DBED}"/>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03</a:t>
            </a:r>
          </a:p>
        </p:txBody>
      </p:sp>
      <p:sp>
        <p:nvSpPr>
          <p:cNvPr id="8" name="line-008-1">
            <a:extLst>
              <a:ext uri="{FF2B5EF4-FFF2-40B4-BE49-F238E27FC236}">
                <a16:creationId xmlns:a16="http://schemas.microsoft.com/office/drawing/2014/main" id="{B95460D1-3C8C-45DE-A682-BAB78412E498}"/>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3 / 13  •  Component responsibilities">
            <a:extLst>
              <a:ext uri="{FF2B5EF4-FFF2-40B4-BE49-F238E27FC236}">
                <a16:creationId xmlns:a16="http://schemas.microsoft.com/office/drawing/2014/main" id="{367CECA9-0599-43F0-80C6-7719FFF7CE27}"/>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03 / 13  •  Component responsibilities</a:t>
            </a:r>
          </a:p>
        </p:txBody>
      </p:sp>
      <p:sp>
        <p:nvSpPr>
          <p:cNvPr id="10" name="roundRect-010">
            <a:extLst>
              <a:ext uri="{FF2B5EF4-FFF2-40B4-BE49-F238E27FC236}">
                <a16:creationId xmlns:a16="http://schemas.microsoft.com/office/drawing/2014/main" id="{A4C79C5B-5B5A-47A5-A6FB-3E2FFBE359C3}"/>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8A6A4855-BB08-4B72-8713-5AFBBE8D2343}"/>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Convert a Markdown SAP into a structured contract for data r">
            <a:extLst>
              <a:ext uri="{FF2B5EF4-FFF2-40B4-BE49-F238E27FC236}">
                <a16:creationId xmlns:a16="http://schemas.microsoft.com/office/drawing/2014/main" id="{24BFCE13-C526-430C-9942-49538A9F879E}"/>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Convert a Markdown SAP into a structured</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contract for data readiness and analysis.</a:t>
            </a:r>
          </a:p>
        </p:txBody>
      </p:sp>
      <p:sp>
        <p:nvSpPr>
          <p:cNvPr id="13" name="text-013 INPUTS">
            <a:extLst>
              <a:ext uri="{FF2B5EF4-FFF2-40B4-BE49-F238E27FC236}">
                <a16:creationId xmlns:a16="http://schemas.microsoft.com/office/drawing/2014/main" id="{5A082969-C9F0-48B4-927B-6560FAC38323}"/>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EBD2C56B-3BF7-4B39-90B5-FF90CB824982}"/>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A Markdown statistical analysis plan">
            <a:extLst>
              <a:ext uri="{FF2B5EF4-FFF2-40B4-BE49-F238E27FC236}">
                <a16:creationId xmlns:a16="http://schemas.microsoft.com/office/drawing/2014/main" id="{C329FAF3-9242-48B0-8198-0E6F62D994BE}"/>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 Markdown statistical analysis plan</a:t>
            </a:r>
          </a:p>
        </p:txBody>
      </p:sp>
      <p:sp>
        <p:nvSpPr>
          <p:cNvPr id="16" name="ellipse-016">
            <a:extLst>
              <a:ext uri="{FF2B5EF4-FFF2-40B4-BE49-F238E27FC236}">
                <a16:creationId xmlns:a16="http://schemas.microsoft.com/office/drawing/2014/main" id="{F46A3A11-0D64-4706-806A-37EC68413115}"/>
              </a:ext>
            </a:extLst>
          </p:cNvPr>
          <p:cNvSpPr>
            <a:spLocks noGrp="1"/>
          </p:cNvSpPr>
          <p:nvPr/>
        </p:nvSpPr>
        <p:spPr>
          <a:xfrm>
            <a:off x="1104900" y="5223034"/>
            <a:ext cx="76200" cy="76200"/>
          </a:xfrm>
          <a:prstGeom prst="ellipse">
            <a:avLst/>
          </a:prstGeom>
          <a:solidFill>
            <a:srgbClr val="137F7B"/>
          </a:solidFill>
          <a:ln w="0">
            <a:noFill/>
          </a:ln>
        </p:spPr>
        <p:txBody>
          <a:bodyPr/>
          <a:lstStyle/>
          <a:p>
            <a:endParaRPr lang="en-US"/>
          </a:p>
        </p:txBody>
      </p:sp>
      <p:sp>
        <p:nvSpPr>
          <p:cNvPr id="17" name="text-017 The agreed extraction fields and schema">
            <a:extLst>
              <a:ext uri="{FF2B5EF4-FFF2-40B4-BE49-F238E27FC236}">
                <a16:creationId xmlns:a16="http://schemas.microsoft.com/office/drawing/2014/main" id="{9B5E65D7-AAA7-49EE-94AF-DA70FB07C75F}"/>
              </a:ext>
            </a:extLst>
          </p:cNvPr>
          <p:cNvSpPr>
            <a:spLocks noGrp="1"/>
          </p:cNvSpPr>
          <p:nvPr/>
        </p:nvSpPr>
        <p:spPr>
          <a:xfrm>
            <a:off x="1343025" y="5080315"/>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The agreed extraction fields and schema</a:t>
            </a:r>
          </a:p>
        </p:txBody>
      </p:sp>
      <p:sp>
        <p:nvSpPr>
          <p:cNvPr id="18" name="text-018 WHAT TO BUILD">
            <a:extLst>
              <a:ext uri="{FF2B5EF4-FFF2-40B4-BE49-F238E27FC236}">
                <a16:creationId xmlns:a16="http://schemas.microsoft.com/office/drawing/2014/main" id="{6AB9E5E7-67B7-44CF-AEA1-CF6A51A21A9A}"/>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1DF384F3-0609-492E-82C8-5FEFA4529056}"/>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extract_sap_contract.py">
            <a:extLst>
              <a:ext uri="{FF2B5EF4-FFF2-40B4-BE49-F238E27FC236}">
                <a16:creationId xmlns:a16="http://schemas.microsoft.com/office/drawing/2014/main" id="{80F5775B-1A8C-41A5-9082-686C56A46556}"/>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extract_sap_contract.py</a:t>
            </a:r>
          </a:p>
        </p:txBody>
      </p:sp>
      <p:sp>
        <p:nvSpPr>
          <p:cNvPr id="21" name="ellipse-021">
            <a:extLst>
              <a:ext uri="{FF2B5EF4-FFF2-40B4-BE49-F238E27FC236}">
                <a16:creationId xmlns:a16="http://schemas.microsoft.com/office/drawing/2014/main" id="{250CDAB8-D4A5-4E6E-B7FB-1A38BA1FCA70}"/>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sap_analysis_contract.json">
            <a:extLst>
              <a:ext uri="{FF2B5EF4-FFF2-40B4-BE49-F238E27FC236}">
                <a16:creationId xmlns:a16="http://schemas.microsoft.com/office/drawing/2014/main" id="{6091C08B-1413-480C-81C7-E30D9D7B58EF}"/>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sap_analysis_contract.json</a:t>
            </a:r>
          </a:p>
        </p:txBody>
      </p:sp>
      <p:sp>
        <p:nvSpPr>
          <p:cNvPr id="23" name="text-023 FUNCTIONS / INTERFACES">
            <a:extLst>
              <a:ext uri="{FF2B5EF4-FFF2-40B4-BE49-F238E27FC236}">
                <a16:creationId xmlns:a16="http://schemas.microsoft.com/office/drawing/2014/main" id="{069D011C-B52A-4FCF-8692-A46859668279}"/>
              </a:ext>
            </a:extLst>
          </p:cNvPr>
          <p:cNvSpPr>
            <a:spLocks noGrp="1"/>
          </p:cNvSpPr>
          <p:nvPr/>
        </p:nvSpPr>
        <p:spPr>
          <a:xfrm>
            <a:off x="9220200" y="4580226"/>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4" name="text-024 extract_contract split_sections field code_or_text_formula e">
            <a:extLst>
              <a:ext uri="{FF2B5EF4-FFF2-40B4-BE49-F238E27FC236}">
                <a16:creationId xmlns:a16="http://schemas.microsoft.com/office/drawing/2014/main" id="{984C3C4B-6461-4874-A006-598094A3DF22}"/>
              </a:ext>
            </a:extLst>
          </p:cNvPr>
          <p:cNvSpPr>
            <a:spLocks noGrp="1"/>
          </p:cNvSpPr>
          <p:nvPr/>
        </p:nvSpPr>
        <p:spPr>
          <a:xfrm>
            <a:off x="9220200" y="4992037"/>
            <a:ext cx="7905750" cy="155448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extract_contract</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split_sections</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field</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code_or_text_formula</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evidence</a:t>
            </a:r>
          </a:p>
        </p:txBody>
      </p:sp>
    </p:spTree>
    <p:extLst>
      <p:ext uri="{BB962C8B-B14F-4D97-AF65-F5344CB8AC3E}">
        <p14:creationId xmlns:p14="http://schemas.microsoft.com/office/powerpoint/2010/main" val="959476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3BDB83A9-1955-44BE-9B30-F4047543602D}"/>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3E348055-4ABD-46E9-9513-0DBE64DE9764}"/>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HELPER + STATE ARTIFACT">
            <a:extLst>
              <a:ext uri="{FF2B5EF4-FFF2-40B4-BE49-F238E27FC236}">
                <a16:creationId xmlns:a16="http://schemas.microsoft.com/office/drawing/2014/main" id="{082F19AC-3D9B-482C-9DFE-D21CBA917FA3}"/>
              </a:ext>
            </a:extLst>
          </p:cNvPr>
          <p:cNvSpPr>
            <a:spLocks noGrp="1"/>
          </p:cNvSpPr>
          <p:nvPr/>
        </p:nvSpPr>
        <p:spPr>
          <a:xfrm>
            <a:off x="781050" y="1042290"/>
            <a:ext cx="2876104"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HELPER + STATE ARTIFACT</a:t>
            </a:r>
          </a:p>
        </p:txBody>
      </p:sp>
      <p:sp>
        <p:nvSpPr>
          <p:cNvPr id="5" name="text-005 Build the extraction helper and contract">
            <a:extLst>
              <a:ext uri="{FF2B5EF4-FFF2-40B4-BE49-F238E27FC236}">
                <a16:creationId xmlns:a16="http://schemas.microsoft.com/office/drawing/2014/main" id="{7687E29E-38F1-4336-B851-B6809BE27DC1}"/>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the extraction helper and contract</a:t>
            </a:r>
          </a:p>
        </p:txBody>
      </p:sp>
      <p:sp>
        <p:nvSpPr>
          <p:cNvPr id="6" name="roundRect-006">
            <a:extLst>
              <a:ext uri="{FF2B5EF4-FFF2-40B4-BE49-F238E27FC236}">
                <a16:creationId xmlns:a16="http://schemas.microsoft.com/office/drawing/2014/main" id="{92135CF0-B3AA-4DC4-95B0-BAC6BE2D5FCD}"/>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3">
            <a:extLst>
              <a:ext uri="{FF2B5EF4-FFF2-40B4-BE49-F238E27FC236}">
                <a16:creationId xmlns:a16="http://schemas.microsoft.com/office/drawing/2014/main" id="{836D86D5-1F74-4400-A852-9435E518354B}"/>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03</a:t>
            </a:r>
          </a:p>
        </p:txBody>
      </p:sp>
      <p:sp>
        <p:nvSpPr>
          <p:cNvPr id="8" name="line-008-1">
            <a:extLst>
              <a:ext uri="{FF2B5EF4-FFF2-40B4-BE49-F238E27FC236}">
                <a16:creationId xmlns:a16="http://schemas.microsoft.com/office/drawing/2014/main" id="{4E8301FD-2148-4179-8426-5AEE072A760C}"/>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3-contract-helper.txt">
            <a:extLst>
              <a:ext uri="{FF2B5EF4-FFF2-40B4-BE49-F238E27FC236}">
                <a16:creationId xmlns:a16="http://schemas.microsoft.com/office/drawing/2014/main" id="{EF00A150-B307-46E7-B9EE-C251D41C5BEC}"/>
              </a:ext>
            </a:extLst>
          </p:cNvPr>
          <p:cNvSpPr>
            <a:spLocks noGrp="1"/>
          </p:cNvSpPr>
          <p:nvPr/>
        </p:nvSpPr>
        <p:spPr>
          <a:xfrm>
            <a:off x="781050" y="8615317"/>
            <a:ext cx="5343079"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prompts/03-contract-helper.txt</a:t>
            </a:r>
          </a:p>
        </p:txBody>
      </p:sp>
      <p:sp>
        <p:nvSpPr>
          <p:cNvPr id="10" name="roundRect-010">
            <a:extLst>
              <a:ext uri="{FF2B5EF4-FFF2-40B4-BE49-F238E27FC236}">
                <a16:creationId xmlns:a16="http://schemas.microsoft.com/office/drawing/2014/main" id="{E181B19C-B26B-4A7C-A8BE-3C60309CAAD3}"/>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17CEFB79-032A-46E1-A2B0-09C888C430F2}"/>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Build a Python helper that converts a Markdown statistical a">
            <a:extLst>
              <a:ext uri="{FF2B5EF4-FFF2-40B4-BE49-F238E27FC236}">
                <a16:creationId xmlns:a16="http://schemas.microsoft.com/office/drawing/2014/main" id="{1E7B9FE7-7AC5-4BE0-83F9-185547A4BE52}"/>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Build a Python helper that converts a Markdown statistical analysis plan into an analysis-contract JSON file. Extract the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estimand, endpoint, population rules, treatment comparison, assessment timing, model variables, analysis method,</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and data requirements. Store each requirement with its value, source section, evidence, and status, and include the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fields requiring review and overall extraction status.</a:t>
            </a:r>
          </a:p>
        </p:txBody>
      </p:sp>
      <p:sp>
        <p:nvSpPr>
          <p:cNvPr id="13" name="roundRect-013">
            <a:extLst>
              <a:ext uri="{FF2B5EF4-FFF2-40B4-BE49-F238E27FC236}">
                <a16:creationId xmlns:a16="http://schemas.microsoft.com/office/drawing/2014/main" id="{6D101C85-BC36-4A7E-82A6-410395ABC8E3}"/>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E16018CD-F160-4C13-9C72-509C6920AB59}"/>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A20CD677-068D-4D0B-BF0A-35928BAE5A4B}"/>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38D0C3BE-4BB0-4AF3-AAA9-CC847E6F0FE2}"/>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Read analysis requirements from the SAP">
            <a:extLst>
              <a:ext uri="{FF2B5EF4-FFF2-40B4-BE49-F238E27FC236}">
                <a16:creationId xmlns:a16="http://schemas.microsoft.com/office/drawing/2014/main" id="{63772256-8662-4BE3-8153-5DCA06F38A6D}"/>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Read analysis requirements from the SAP</a:t>
            </a:r>
          </a:p>
        </p:txBody>
      </p:sp>
      <p:sp>
        <p:nvSpPr>
          <p:cNvPr id="18" name="ellipse-018">
            <a:extLst>
              <a:ext uri="{FF2B5EF4-FFF2-40B4-BE49-F238E27FC236}">
                <a16:creationId xmlns:a16="http://schemas.microsoft.com/office/drawing/2014/main" id="{1C57C7AC-A8DF-431F-AA8F-4E02462ED7E3}"/>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Keep evidence and unresolved fields visible">
            <a:extLst>
              <a:ext uri="{FF2B5EF4-FFF2-40B4-BE49-F238E27FC236}">
                <a16:creationId xmlns:a16="http://schemas.microsoft.com/office/drawing/2014/main" id="{37220005-4536-4DF4-B443-1F38456356FC}"/>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Keep evidence and unresolved fields visible</a:t>
            </a:r>
          </a:p>
        </p:txBody>
      </p:sp>
      <p:sp>
        <p:nvSpPr>
          <p:cNvPr id="20" name="ellipse-020">
            <a:extLst>
              <a:ext uri="{FF2B5EF4-FFF2-40B4-BE49-F238E27FC236}">
                <a16:creationId xmlns:a16="http://schemas.microsoft.com/office/drawing/2014/main" id="{60766DA9-5BFC-4BDE-B349-15DB9207F17B}"/>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Write the agreed contract JSON">
            <a:extLst>
              <a:ext uri="{FF2B5EF4-FFF2-40B4-BE49-F238E27FC236}">
                <a16:creationId xmlns:a16="http://schemas.microsoft.com/office/drawing/2014/main" id="{C74D8475-B7FE-46C2-99FF-15263643EA39}"/>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Write the agreed contract JSON</a:t>
            </a:r>
          </a:p>
        </p:txBody>
      </p:sp>
      <p:sp>
        <p:nvSpPr>
          <p:cNvPr id="22" name="text-022 INSPECT AFTER GENERATION">
            <a:extLst>
              <a:ext uri="{FF2B5EF4-FFF2-40B4-BE49-F238E27FC236}">
                <a16:creationId xmlns:a16="http://schemas.microsoft.com/office/drawing/2014/main" id="{647BEA2B-74AF-424D-92E9-882AF211AC39}"/>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JSON records the estimand, endpoint, population, model, ">
            <a:extLst>
              <a:ext uri="{FF2B5EF4-FFF2-40B4-BE49-F238E27FC236}">
                <a16:creationId xmlns:a16="http://schemas.microsoft.com/office/drawing/2014/main" id="{287875F5-AAEB-4D0F-A2A5-807284134292}"/>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JSON records the estimand, endpoint, population,</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model, source evidence, and unresolved requirements</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from the supplied SAP.</a:t>
            </a:r>
          </a:p>
        </p:txBody>
      </p:sp>
    </p:spTree>
    <p:extLst>
      <p:ext uri="{BB962C8B-B14F-4D97-AF65-F5344CB8AC3E}">
        <p14:creationId xmlns:p14="http://schemas.microsoft.com/office/powerpoint/2010/main" val="116415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5" name="rect-001">
            <a:extLst>
              <a:ext uri="{FF2B5EF4-FFF2-40B4-BE49-F238E27FC236}">
                <a16:creationId xmlns:a16="http://schemas.microsoft.com/office/drawing/2014/main" id="{12D30341-477E-41F7-90FB-628DCDD5FD8B}"/>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3E362286-E863-4E3D-A1C9-D19AA1D87038}"/>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HELPERS + STATE">
            <a:extLst>
              <a:ext uri="{FF2B5EF4-FFF2-40B4-BE49-F238E27FC236}">
                <a16:creationId xmlns:a16="http://schemas.microsoft.com/office/drawing/2014/main" id="{C84E071D-757B-45A6-B6A8-69546FDE0179}"/>
              </a:ext>
            </a:extLst>
          </p:cNvPr>
          <p:cNvSpPr>
            <a:spLocks noGrp="1"/>
          </p:cNvSpPr>
          <p:nvPr/>
        </p:nvSpPr>
        <p:spPr>
          <a:xfrm>
            <a:off x="781050" y="1042290"/>
            <a:ext cx="1933277"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HELPERS + STATE</a:t>
            </a:r>
          </a:p>
        </p:txBody>
      </p:sp>
      <p:sp>
        <p:nvSpPr>
          <p:cNvPr id="5" name="text-005 Record state and file paths">
            <a:extLst>
              <a:ext uri="{FF2B5EF4-FFF2-40B4-BE49-F238E27FC236}">
                <a16:creationId xmlns:a16="http://schemas.microsoft.com/office/drawing/2014/main" id="{453D9DC7-F340-49B6-803D-15CC0CFAD084}"/>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Record state and file paths</a:t>
            </a:r>
          </a:p>
        </p:txBody>
      </p:sp>
      <p:sp>
        <p:nvSpPr>
          <p:cNvPr id="6" name="roundRect-006">
            <a:extLst>
              <a:ext uri="{FF2B5EF4-FFF2-40B4-BE49-F238E27FC236}">
                <a16:creationId xmlns:a16="http://schemas.microsoft.com/office/drawing/2014/main" id="{9857F6AA-5BF9-448D-92BC-9196EBDA0F6B}"/>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4">
            <a:extLst>
              <a:ext uri="{FF2B5EF4-FFF2-40B4-BE49-F238E27FC236}">
                <a16:creationId xmlns:a16="http://schemas.microsoft.com/office/drawing/2014/main" id="{90DC32A8-8D62-4B40-9406-5C2921FDBBD2}"/>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04</a:t>
            </a:r>
          </a:p>
        </p:txBody>
      </p:sp>
      <p:sp>
        <p:nvSpPr>
          <p:cNvPr id="8" name="line-008-1">
            <a:extLst>
              <a:ext uri="{FF2B5EF4-FFF2-40B4-BE49-F238E27FC236}">
                <a16:creationId xmlns:a16="http://schemas.microsoft.com/office/drawing/2014/main" id="{4A6E8E8A-E366-432F-969C-286A1744E928}"/>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4 / 13  •  Component responsibilities">
            <a:extLst>
              <a:ext uri="{FF2B5EF4-FFF2-40B4-BE49-F238E27FC236}">
                <a16:creationId xmlns:a16="http://schemas.microsoft.com/office/drawing/2014/main" id="{A6180369-44F9-411A-B012-E96E8868576A}"/>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04 / 13  •  Component responsibilities</a:t>
            </a:r>
          </a:p>
        </p:txBody>
      </p:sp>
      <p:sp>
        <p:nvSpPr>
          <p:cNvPr id="10" name="roundRect-010">
            <a:extLst>
              <a:ext uri="{FF2B5EF4-FFF2-40B4-BE49-F238E27FC236}">
                <a16:creationId xmlns:a16="http://schemas.microsoft.com/office/drawing/2014/main" id="{BF78044A-4D5B-4F26-B03D-DC01CCCF53D2}"/>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CDA06A1B-0D01-4BFE-8465-8775304E5048}"/>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Identify the input files and generated artifacts carried bet">
            <a:extLst>
              <a:ext uri="{FF2B5EF4-FFF2-40B4-BE49-F238E27FC236}">
                <a16:creationId xmlns:a16="http://schemas.microsoft.com/office/drawing/2014/main" id="{2E2377DB-5759-4D72-8425-35F540BCB2B2}"/>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Identify the input files and generated</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artifacts carried between pipeline stages.</a:t>
            </a:r>
          </a:p>
        </p:txBody>
      </p:sp>
      <p:sp>
        <p:nvSpPr>
          <p:cNvPr id="13" name="text-013 INPUTS">
            <a:extLst>
              <a:ext uri="{FF2B5EF4-FFF2-40B4-BE49-F238E27FC236}">
                <a16:creationId xmlns:a16="http://schemas.microsoft.com/office/drawing/2014/main" id="{6ACDDDE6-09A2-44F3-98AD-F368006EFC50}"/>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4B1BCCC4-0C50-4B97-A5EC-30AF1CD17A80}"/>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Input and output file paths">
            <a:extLst>
              <a:ext uri="{FF2B5EF4-FFF2-40B4-BE49-F238E27FC236}">
                <a16:creationId xmlns:a16="http://schemas.microsoft.com/office/drawing/2014/main" id="{B0A217C7-438C-45F2-AF66-85F356849298}"/>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Input and output file paths</a:t>
            </a:r>
          </a:p>
        </p:txBody>
      </p:sp>
      <p:sp>
        <p:nvSpPr>
          <p:cNvPr id="16" name="ellipse-016">
            <a:extLst>
              <a:ext uri="{FF2B5EF4-FFF2-40B4-BE49-F238E27FC236}">
                <a16:creationId xmlns:a16="http://schemas.microsoft.com/office/drawing/2014/main" id="{A55FC2CA-31E7-42AD-BCDB-819F9A6885AB}"/>
              </a:ext>
            </a:extLst>
          </p:cNvPr>
          <p:cNvSpPr>
            <a:spLocks noGrp="1"/>
          </p:cNvSpPr>
          <p:nvPr/>
        </p:nvSpPr>
        <p:spPr>
          <a:xfrm>
            <a:off x="1104900" y="5223034"/>
            <a:ext cx="76200" cy="76200"/>
          </a:xfrm>
          <a:prstGeom prst="ellipse">
            <a:avLst/>
          </a:prstGeom>
          <a:solidFill>
            <a:srgbClr val="137F7B"/>
          </a:solidFill>
          <a:ln w="0">
            <a:noFill/>
          </a:ln>
        </p:spPr>
        <p:txBody>
          <a:bodyPr/>
          <a:lstStyle/>
          <a:p>
            <a:endParaRPr lang="en-US"/>
          </a:p>
        </p:txBody>
      </p:sp>
      <p:sp>
        <p:nvSpPr>
          <p:cNvPr id="17" name="text-017 JSON contracts and results">
            <a:extLst>
              <a:ext uri="{FF2B5EF4-FFF2-40B4-BE49-F238E27FC236}">
                <a16:creationId xmlns:a16="http://schemas.microsoft.com/office/drawing/2014/main" id="{C2A034DC-D9B7-4F70-916A-753FDFAA34AF}"/>
              </a:ext>
            </a:extLst>
          </p:cNvPr>
          <p:cNvSpPr>
            <a:spLocks noGrp="1"/>
          </p:cNvSpPr>
          <p:nvPr/>
        </p:nvSpPr>
        <p:spPr>
          <a:xfrm>
            <a:off x="1343025" y="5080315"/>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JSON contracts and results</a:t>
            </a:r>
          </a:p>
        </p:txBody>
      </p:sp>
      <p:sp>
        <p:nvSpPr>
          <p:cNvPr id="18" name="text-018 WHAT TO BUILD">
            <a:extLst>
              <a:ext uri="{FF2B5EF4-FFF2-40B4-BE49-F238E27FC236}">
                <a16:creationId xmlns:a16="http://schemas.microsoft.com/office/drawing/2014/main" id="{FDC03F3D-2007-46F3-B8E1-DD14BE6F1A10}"/>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804D651F-BEE8-419A-B5AA-DD1B21D32F6E}"/>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JSON-loading and timestamp utilities">
            <a:extLst>
              <a:ext uri="{FF2B5EF4-FFF2-40B4-BE49-F238E27FC236}">
                <a16:creationId xmlns:a16="http://schemas.microsoft.com/office/drawing/2014/main" id="{97C20C0F-21AC-4349-BFEF-F3658374D1AF}"/>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JSON-loading and timestamp utilities</a:t>
            </a:r>
          </a:p>
        </p:txBody>
      </p:sp>
      <p:sp>
        <p:nvSpPr>
          <p:cNvPr id="21" name="ellipse-021">
            <a:extLst>
              <a:ext uri="{FF2B5EF4-FFF2-40B4-BE49-F238E27FC236}">
                <a16:creationId xmlns:a16="http://schemas.microsoft.com/office/drawing/2014/main" id="{752447A8-FE95-4173-9281-F750C67598E3}"/>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Artifact records for workflow_manifest.json">
            <a:extLst>
              <a:ext uri="{FF2B5EF4-FFF2-40B4-BE49-F238E27FC236}">
                <a16:creationId xmlns:a16="http://schemas.microsoft.com/office/drawing/2014/main" id="{CA9157F4-8652-4CAF-A5AA-81FB60F16FCE}"/>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Artifact records for workflow_manifest.json</a:t>
            </a:r>
          </a:p>
        </p:txBody>
      </p:sp>
      <p:sp>
        <p:nvSpPr>
          <p:cNvPr id="23" name="text-023 FUNCTIONS / INTERFACES">
            <a:extLst>
              <a:ext uri="{FF2B5EF4-FFF2-40B4-BE49-F238E27FC236}">
                <a16:creationId xmlns:a16="http://schemas.microsoft.com/office/drawing/2014/main" id="{B909B110-3A8B-4EB3-BE62-FDBFD326AAF9}"/>
              </a:ext>
            </a:extLst>
          </p:cNvPr>
          <p:cNvSpPr>
            <a:spLocks noGrp="1"/>
          </p:cNvSpPr>
          <p:nvPr/>
        </p:nvSpPr>
        <p:spPr>
          <a:xfrm>
            <a:off x="9220200" y="4580226"/>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4" name="text-024 utc_now load_json artifact">
            <a:extLst>
              <a:ext uri="{FF2B5EF4-FFF2-40B4-BE49-F238E27FC236}">
                <a16:creationId xmlns:a16="http://schemas.microsoft.com/office/drawing/2014/main" id="{CF5DA59A-A467-4A02-A4EA-647392FF2172}"/>
              </a:ext>
            </a:extLst>
          </p:cNvPr>
          <p:cNvSpPr>
            <a:spLocks noGrp="1"/>
          </p:cNvSpPr>
          <p:nvPr/>
        </p:nvSpPr>
        <p:spPr>
          <a:xfrm>
            <a:off x="9220200" y="4992037"/>
            <a:ext cx="7905750" cy="96012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utc_now</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load_json</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artifact</a:t>
            </a:r>
          </a:p>
        </p:txBody>
      </p:sp>
    </p:spTree>
    <p:extLst>
      <p:ext uri="{BB962C8B-B14F-4D97-AF65-F5344CB8AC3E}">
        <p14:creationId xmlns:p14="http://schemas.microsoft.com/office/powerpoint/2010/main" val="777212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B6C57491-DCF1-48E6-991A-C58E08620DB7}"/>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64CDBBA0-31E4-480C-ACC0-ED635F897BF8}"/>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HELPERS + STATE">
            <a:extLst>
              <a:ext uri="{FF2B5EF4-FFF2-40B4-BE49-F238E27FC236}">
                <a16:creationId xmlns:a16="http://schemas.microsoft.com/office/drawing/2014/main" id="{2D77E262-37CF-4432-971A-C08FB1163D5D}"/>
              </a:ext>
            </a:extLst>
          </p:cNvPr>
          <p:cNvSpPr>
            <a:spLocks noGrp="1"/>
          </p:cNvSpPr>
          <p:nvPr/>
        </p:nvSpPr>
        <p:spPr>
          <a:xfrm>
            <a:off x="781050" y="1042290"/>
            <a:ext cx="1933277"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HELPERS + STATE</a:t>
            </a:r>
          </a:p>
        </p:txBody>
      </p:sp>
      <p:sp>
        <p:nvSpPr>
          <p:cNvPr id="5" name="text-005 Record state and file paths">
            <a:extLst>
              <a:ext uri="{FF2B5EF4-FFF2-40B4-BE49-F238E27FC236}">
                <a16:creationId xmlns:a16="http://schemas.microsoft.com/office/drawing/2014/main" id="{A9F06CDE-0A6C-407C-B791-5006370A46F4}"/>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Record state and file paths</a:t>
            </a:r>
          </a:p>
        </p:txBody>
      </p:sp>
      <p:sp>
        <p:nvSpPr>
          <p:cNvPr id="6" name="roundRect-006">
            <a:extLst>
              <a:ext uri="{FF2B5EF4-FFF2-40B4-BE49-F238E27FC236}">
                <a16:creationId xmlns:a16="http://schemas.microsoft.com/office/drawing/2014/main" id="{1B6A8EC7-23D4-4980-AF6F-2AEC81620D1E}"/>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4">
            <a:extLst>
              <a:ext uri="{FF2B5EF4-FFF2-40B4-BE49-F238E27FC236}">
                <a16:creationId xmlns:a16="http://schemas.microsoft.com/office/drawing/2014/main" id="{AB8A02CD-DE1A-4A1B-AF9F-FED2521AAD0E}"/>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04</a:t>
            </a:r>
          </a:p>
        </p:txBody>
      </p:sp>
      <p:sp>
        <p:nvSpPr>
          <p:cNvPr id="8" name="line-008-1">
            <a:extLst>
              <a:ext uri="{FF2B5EF4-FFF2-40B4-BE49-F238E27FC236}">
                <a16:creationId xmlns:a16="http://schemas.microsoft.com/office/drawing/2014/main" id="{9C68DAD7-6AE9-49F4-BC43-71DE288CB586}"/>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4-shared-state.txt">
            <a:extLst>
              <a:ext uri="{FF2B5EF4-FFF2-40B4-BE49-F238E27FC236}">
                <a16:creationId xmlns:a16="http://schemas.microsoft.com/office/drawing/2014/main" id="{F5887634-AB44-47AF-932E-91592F7BDDD0}"/>
              </a:ext>
            </a:extLst>
          </p:cNvPr>
          <p:cNvSpPr>
            <a:spLocks noGrp="1"/>
          </p:cNvSpPr>
          <p:nvPr/>
        </p:nvSpPr>
        <p:spPr>
          <a:xfrm>
            <a:off x="781050" y="8615317"/>
            <a:ext cx="50673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prompts/04-shared-state.txt</a:t>
            </a:r>
          </a:p>
        </p:txBody>
      </p:sp>
      <p:sp>
        <p:nvSpPr>
          <p:cNvPr id="10" name="roundRect-010">
            <a:extLst>
              <a:ext uri="{FF2B5EF4-FFF2-40B4-BE49-F238E27FC236}">
                <a16:creationId xmlns:a16="http://schemas.microsoft.com/office/drawing/2014/main" id="{62EDE12A-67D1-415F-B050-AB775A6039E9}"/>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B3E174C4-B45C-49D9-99C2-4B6F6E37757F}"/>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Add utilities that record which files an analysis used and p">
            <a:extLst>
              <a:ext uri="{FF2B5EF4-FFF2-40B4-BE49-F238E27FC236}">
                <a16:creationId xmlns:a16="http://schemas.microsoft.com/office/drawing/2014/main" id="{F9AA5520-720B-4B5C-B595-8465E8B42BF4}"/>
              </a:ext>
            </a:extLst>
          </p:cNvPr>
          <p:cNvSpPr>
            <a:spLocks noGrp="1"/>
          </p:cNvSpPr>
          <p:nvPr/>
        </p:nvSpPr>
        <p:spPr>
          <a:xfrm>
            <a:off x="1123950" y="3390549"/>
            <a:ext cx="16097250" cy="1298448"/>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Add utilities that record which files an analysis used and produced. Implement JSON loading, UTC timestamps, and</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artifact records containing a resolved file path and an existence flag. Use these records to track the selected inputs,</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generated outputs, and stage decisions in a workflow manifest.</a:t>
            </a:r>
          </a:p>
        </p:txBody>
      </p:sp>
      <p:sp>
        <p:nvSpPr>
          <p:cNvPr id="13" name="roundRect-013">
            <a:extLst>
              <a:ext uri="{FF2B5EF4-FFF2-40B4-BE49-F238E27FC236}">
                <a16:creationId xmlns:a16="http://schemas.microsoft.com/office/drawing/2014/main" id="{44AEE292-CC1E-4B5C-A2A1-A32ABA936AF5}"/>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47EC8D92-CE42-45ED-8336-0BA7E812D666}"/>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635D522E-E1EA-4ECE-A607-7F46FD02AA8E}"/>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A4E69E85-3414-40F1-A8FB-DA253513B58C}"/>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Load JSON and record UTC timestamps">
            <a:extLst>
              <a:ext uri="{FF2B5EF4-FFF2-40B4-BE49-F238E27FC236}">
                <a16:creationId xmlns:a16="http://schemas.microsoft.com/office/drawing/2014/main" id="{3117A978-9C5E-47E1-B6EF-6F92EFCA712B}"/>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Load JSON and record UTC timestamps</a:t>
            </a:r>
          </a:p>
        </p:txBody>
      </p:sp>
      <p:sp>
        <p:nvSpPr>
          <p:cNvPr id="18" name="ellipse-018">
            <a:extLst>
              <a:ext uri="{FF2B5EF4-FFF2-40B4-BE49-F238E27FC236}">
                <a16:creationId xmlns:a16="http://schemas.microsoft.com/office/drawing/2014/main" id="{AFF937C0-7E70-4497-8488-9B51F3A91041}"/>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Record file paths and whether they exist">
            <a:extLst>
              <a:ext uri="{FF2B5EF4-FFF2-40B4-BE49-F238E27FC236}">
                <a16:creationId xmlns:a16="http://schemas.microsoft.com/office/drawing/2014/main" id="{88ADF586-AE32-4B70-B837-35EB92715D86}"/>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Record file paths and whether they exist</a:t>
            </a:r>
          </a:p>
        </p:txBody>
      </p:sp>
      <p:sp>
        <p:nvSpPr>
          <p:cNvPr id="20" name="ellipse-020">
            <a:extLst>
              <a:ext uri="{FF2B5EF4-FFF2-40B4-BE49-F238E27FC236}">
                <a16:creationId xmlns:a16="http://schemas.microsoft.com/office/drawing/2014/main" id="{5AB7296C-6AC3-42DD-B2AD-7ECBB8CCACE7}"/>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Connect inputs, decisions, and outputs">
            <a:extLst>
              <a:ext uri="{FF2B5EF4-FFF2-40B4-BE49-F238E27FC236}">
                <a16:creationId xmlns:a16="http://schemas.microsoft.com/office/drawing/2014/main" id="{7BD0CF46-A1DC-4D54-ABF7-1D6BEB8C2C68}"/>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Connect inputs, decisions, and outputs</a:t>
            </a:r>
          </a:p>
        </p:txBody>
      </p:sp>
      <p:sp>
        <p:nvSpPr>
          <p:cNvPr id="22" name="text-022 INSPECT AFTER GENERATION">
            <a:extLst>
              <a:ext uri="{FF2B5EF4-FFF2-40B4-BE49-F238E27FC236}">
                <a16:creationId xmlns:a16="http://schemas.microsoft.com/office/drawing/2014/main" id="{2038C90A-3BD6-41A2-8B73-5286034A9B53}"/>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Artifact records identify file locations and existence; the ">
            <a:extLst>
              <a:ext uri="{FF2B5EF4-FFF2-40B4-BE49-F238E27FC236}">
                <a16:creationId xmlns:a16="http://schemas.microsoft.com/office/drawing/2014/main" id="{CE2CE974-A4C2-44FE-BA20-5EFD84F6BAD3}"/>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Artifact records identify file locations and existence;</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manifest connects selected inputs, stage decisions,</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and outputs.</a:t>
            </a:r>
          </a:p>
        </p:txBody>
      </p:sp>
    </p:spTree>
    <p:extLst>
      <p:ext uri="{BB962C8B-B14F-4D97-AF65-F5344CB8AC3E}">
        <p14:creationId xmlns:p14="http://schemas.microsoft.com/office/powerpoint/2010/main" val="555005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5" name="rect-001">
            <a:extLst>
              <a:ext uri="{FF2B5EF4-FFF2-40B4-BE49-F238E27FC236}">
                <a16:creationId xmlns:a16="http://schemas.microsoft.com/office/drawing/2014/main" id="{EE0AA97E-C2DE-4418-89BA-63C9741F421E}"/>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FADF9689-9B84-4BEA-B236-E51859261DFE}"/>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PRE-TOOL HOOK">
            <a:extLst>
              <a:ext uri="{FF2B5EF4-FFF2-40B4-BE49-F238E27FC236}">
                <a16:creationId xmlns:a16="http://schemas.microsoft.com/office/drawing/2014/main" id="{4DC31FA3-21ED-42B4-9ECF-EE40CB0AF29A}"/>
              </a:ext>
            </a:extLst>
          </p:cNvPr>
          <p:cNvSpPr>
            <a:spLocks noGrp="1"/>
          </p:cNvSpPr>
          <p:nvPr/>
        </p:nvSpPr>
        <p:spPr>
          <a:xfrm>
            <a:off x="781050" y="1042290"/>
            <a:ext cx="1847701"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PRE-TOOL HOOK</a:t>
            </a:r>
          </a:p>
        </p:txBody>
      </p:sp>
      <p:sp>
        <p:nvSpPr>
          <p:cNvPr id="5" name="text-005 Create the source-data protection hook">
            <a:extLst>
              <a:ext uri="{FF2B5EF4-FFF2-40B4-BE49-F238E27FC236}">
                <a16:creationId xmlns:a16="http://schemas.microsoft.com/office/drawing/2014/main" id="{4B1FCB9F-C6A7-4F36-9300-3E34CDA85033}"/>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source-data protection hook</a:t>
            </a:r>
          </a:p>
        </p:txBody>
      </p:sp>
      <p:sp>
        <p:nvSpPr>
          <p:cNvPr id="6" name="roundRect-006">
            <a:extLst>
              <a:ext uri="{FF2B5EF4-FFF2-40B4-BE49-F238E27FC236}">
                <a16:creationId xmlns:a16="http://schemas.microsoft.com/office/drawing/2014/main" id="{0EA1CCDC-F210-4F2A-9B57-010681BB25B9}"/>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5">
            <a:extLst>
              <a:ext uri="{FF2B5EF4-FFF2-40B4-BE49-F238E27FC236}">
                <a16:creationId xmlns:a16="http://schemas.microsoft.com/office/drawing/2014/main" id="{F0FA44E4-0066-4F2F-AFB6-E1541674FF32}"/>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05</a:t>
            </a:r>
          </a:p>
        </p:txBody>
      </p:sp>
      <p:sp>
        <p:nvSpPr>
          <p:cNvPr id="8" name="line-008-1">
            <a:extLst>
              <a:ext uri="{FF2B5EF4-FFF2-40B4-BE49-F238E27FC236}">
                <a16:creationId xmlns:a16="http://schemas.microsoft.com/office/drawing/2014/main" id="{EAA5F73B-6BCD-4636-98EA-2687454C5E23}"/>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5 / 13  •  Component responsibilities">
            <a:extLst>
              <a:ext uri="{FF2B5EF4-FFF2-40B4-BE49-F238E27FC236}">
                <a16:creationId xmlns:a16="http://schemas.microsoft.com/office/drawing/2014/main" id="{5421FEA5-3EF8-467E-A0A2-52CFC2DF1DE9}"/>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05 / 13  •  Component responsibilities</a:t>
            </a:r>
          </a:p>
        </p:txBody>
      </p:sp>
      <p:sp>
        <p:nvSpPr>
          <p:cNvPr id="10" name="roundRect-010">
            <a:extLst>
              <a:ext uri="{FF2B5EF4-FFF2-40B4-BE49-F238E27FC236}">
                <a16:creationId xmlns:a16="http://schemas.microsoft.com/office/drawing/2014/main" id="{640F9CF6-3330-45FE-A826-9F2DC476A197}"/>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4E68EA4B-EF48-43E9-91A7-DB3263C81F04}"/>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Evaluate proposed operations against a supplied protected-so">
            <a:extLst>
              <a:ext uri="{FF2B5EF4-FFF2-40B4-BE49-F238E27FC236}">
                <a16:creationId xmlns:a16="http://schemas.microsoft.com/office/drawing/2014/main" id="{8DBD50FB-9C71-400A-927A-4A8737BC2621}"/>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Evaluate proposed operations against a</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supplied protected-source policy.</a:t>
            </a:r>
          </a:p>
        </p:txBody>
      </p:sp>
      <p:sp>
        <p:nvSpPr>
          <p:cNvPr id="13" name="text-013 INPUTS">
            <a:extLst>
              <a:ext uri="{FF2B5EF4-FFF2-40B4-BE49-F238E27FC236}">
                <a16:creationId xmlns:a16="http://schemas.microsoft.com/office/drawing/2014/main" id="{4C56E43B-EA73-4E3C-A557-80753F3EF953}"/>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2A4FDA04-11FE-447D-AB58-43D5D0326A24}"/>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Tool name, operation, arguments, and paths">
            <a:extLst>
              <a:ext uri="{FF2B5EF4-FFF2-40B4-BE49-F238E27FC236}">
                <a16:creationId xmlns:a16="http://schemas.microsoft.com/office/drawing/2014/main" id="{FEC81C6A-3F3F-46A8-8F03-40F699C744E2}"/>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Tool name, operation, arguments, and paths</a:t>
            </a:r>
          </a:p>
        </p:txBody>
      </p:sp>
      <p:sp>
        <p:nvSpPr>
          <p:cNvPr id="16" name="ellipse-016">
            <a:extLst>
              <a:ext uri="{FF2B5EF4-FFF2-40B4-BE49-F238E27FC236}">
                <a16:creationId xmlns:a16="http://schemas.microsoft.com/office/drawing/2014/main" id="{EBF06846-65EE-4C36-8A4C-1E47C834B1EC}"/>
              </a:ext>
            </a:extLst>
          </p:cNvPr>
          <p:cNvSpPr>
            <a:spLocks noGrp="1"/>
          </p:cNvSpPr>
          <p:nvPr/>
        </p:nvSpPr>
        <p:spPr>
          <a:xfrm>
            <a:off x="1104900" y="5223034"/>
            <a:ext cx="76200" cy="76200"/>
          </a:xfrm>
          <a:prstGeom prst="ellipse">
            <a:avLst/>
          </a:prstGeom>
          <a:solidFill>
            <a:srgbClr val="137F7B"/>
          </a:solidFill>
          <a:ln w="0">
            <a:noFill/>
          </a:ln>
        </p:spPr>
        <p:txBody>
          <a:bodyPr/>
          <a:lstStyle/>
          <a:p>
            <a:endParaRPr lang="en-US"/>
          </a:p>
        </p:txBody>
      </p:sp>
      <p:sp>
        <p:nvSpPr>
          <p:cNvPr id="17" name="text-017 Base directory and protected data/ path">
            <a:extLst>
              <a:ext uri="{FF2B5EF4-FFF2-40B4-BE49-F238E27FC236}">
                <a16:creationId xmlns:a16="http://schemas.microsoft.com/office/drawing/2014/main" id="{C10B01FB-91B1-4F3C-AE25-7DD06CB02F5A}"/>
              </a:ext>
            </a:extLst>
          </p:cNvPr>
          <p:cNvSpPr>
            <a:spLocks noGrp="1"/>
          </p:cNvSpPr>
          <p:nvPr/>
        </p:nvSpPr>
        <p:spPr>
          <a:xfrm>
            <a:off x="1343025" y="5080315"/>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Base directory and protected data/ path</a:t>
            </a:r>
          </a:p>
        </p:txBody>
      </p:sp>
      <p:sp>
        <p:nvSpPr>
          <p:cNvPr id="18" name="text-018 WHAT TO BUILD">
            <a:extLst>
              <a:ext uri="{FF2B5EF4-FFF2-40B4-BE49-F238E27FC236}">
                <a16:creationId xmlns:a16="http://schemas.microsoft.com/office/drawing/2014/main" id="{FA96C740-E091-4A10-8765-BD43112619AE}"/>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0DF45515-2E89-4C9E-9165-1D251CADE63B}"/>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pre_tool_data_security_hook.py">
            <a:extLst>
              <a:ext uri="{FF2B5EF4-FFF2-40B4-BE49-F238E27FC236}">
                <a16:creationId xmlns:a16="http://schemas.microsoft.com/office/drawing/2014/main" id="{BAE1A230-359B-42EA-A2B0-E030F1A53752}"/>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pre_tool_data_security_hook.py</a:t>
            </a:r>
          </a:p>
        </p:txBody>
      </p:sp>
      <p:sp>
        <p:nvSpPr>
          <p:cNvPr id="21" name="ellipse-021">
            <a:extLst>
              <a:ext uri="{FF2B5EF4-FFF2-40B4-BE49-F238E27FC236}">
                <a16:creationId xmlns:a16="http://schemas.microsoft.com/office/drawing/2014/main" id="{CBE1C602-7A35-4BAA-A92E-3BFA4076B5C2}"/>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ALLOW/BLOCK JSON with reasons">
            <a:extLst>
              <a:ext uri="{FF2B5EF4-FFF2-40B4-BE49-F238E27FC236}">
                <a16:creationId xmlns:a16="http://schemas.microsoft.com/office/drawing/2014/main" id="{DA1340F3-D65A-4203-A9FA-DC7CE0AEA06E}"/>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ALLOW/BLOCK JSON with reasons</a:t>
            </a:r>
          </a:p>
        </p:txBody>
      </p:sp>
      <p:sp>
        <p:nvSpPr>
          <p:cNvPr id="23" name="text-023 FUNCTIONS / INTERFACES">
            <a:extLst>
              <a:ext uri="{FF2B5EF4-FFF2-40B4-BE49-F238E27FC236}">
                <a16:creationId xmlns:a16="http://schemas.microsoft.com/office/drawing/2014/main" id="{4AF84587-BDA9-4F5D-9B91-E503BB2C2AB5}"/>
              </a:ext>
            </a:extLst>
          </p:cNvPr>
          <p:cNvSpPr>
            <a:spLocks noGrp="1"/>
          </p:cNvSpPr>
          <p:nvPr/>
        </p:nvSpPr>
        <p:spPr>
          <a:xfrm>
            <a:off x="9220200" y="4580226"/>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4" name="text-024 run_pre_tool_data_security_hook collect_path_candidates reso">
            <a:extLst>
              <a:ext uri="{FF2B5EF4-FFF2-40B4-BE49-F238E27FC236}">
                <a16:creationId xmlns:a16="http://schemas.microsoft.com/office/drawing/2014/main" id="{113796A3-B1E3-4C91-9717-3872E4C8E152}"/>
              </a:ext>
            </a:extLst>
          </p:cNvPr>
          <p:cNvSpPr>
            <a:spLocks noGrp="1"/>
          </p:cNvSpPr>
          <p:nvPr/>
        </p:nvSpPr>
        <p:spPr>
          <a:xfrm>
            <a:off x="9220200" y="4992037"/>
            <a:ext cx="7905750" cy="155448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run_pre_tool_data_security_hook</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collect_path_candidates</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resolve_candidate</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is_inside_or_equal</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command_has_mutating_pattern</a:t>
            </a:r>
          </a:p>
        </p:txBody>
      </p:sp>
    </p:spTree>
    <p:extLst>
      <p:ext uri="{BB962C8B-B14F-4D97-AF65-F5344CB8AC3E}">
        <p14:creationId xmlns:p14="http://schemas.microsoft.com/office/powerpoint/2010/main" val="63650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E2AF7B02-494E-4CE5-916F-4630473FFB49}"/>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FA632412-326B-42ED-9479-5D82647B40BB}"/>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PRE-TOOL HOOK">
            <a:extLst>
              <a:ext uri="{FF2B5EF4-FFF2-40B4-BE49-F238E27FC236}">
                <a16:creationId xmlns:a16="http://schemas.microsoft.com/office/drawing/2014/main" id="{9DFFBC12-4590-4D0A-ADF7-B9FC6AD60B06}"/>
              </a:ext>
            </a:extLst>
          </p:cNvPr>
          <p:cNvSpPr>
            <a:spLocks noGrp="1"/>
          </p:cNvSpPr>
          <p:nvPr/>
        </p:nvSpPr>
        <p:spPr>
          <a:xfrm>
            <a:off x="781050" y="1042290"/>
            <a:ext cx="1847701"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PRE-TOOL HOOK</a:t>
            </a:r>
          </a:p>
        </p:txBody>
      </p:sp>
      <p:sp>
        <p:nvSpPr>
          <p:cNvPr id="5" name="text-005 Create the source-data protection hook">
            <a:extLst>
              <a:ext uri="{FF2B5EF4-FFF2-40B4-BE49-F238E27FC236}">
                <a16:creationId xmlns:a16="http://schemas.microsoft.com/office/drawing/2014/main" id="{FD4E2666-7551-442E-AFA3-A76101DF01A6}"/>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source-data protection hook</a:t>
            </a:r>
          </a:p>
        </p:txBody>
      </p:sp>
      <p:sp>
        <p:nvSpPr>
          <p:cNvPr id="6" name="roundRect-006">
            <a:extLst>
              <a:ext uri="{FF2B5EF4-FFF2-40B4-BE49-F238E27FC236}">
                <a16:creationId xmlns:a16="http://schemas.microsoft.com/office/drawing/2014/main" id="{46457BFC-A299-461B-9430-3F5787F53D52}"/>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5">
            <a:extLst>
              <a:ext uri="{FF2B5EF4-FFF2-40B4-BE49-F238E27FC236}">
                <a16:creationId xmlns:a16="http://schemas.microsoft.com/office/drawing/2014/main" id="{C807AEA9-18DB-4627-B547-A33575E971A4}"/>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05</a:t>
            </a:r>
          </a:p>
        </p:txBody>
      </p:sp>
      <p:sp>
        <p:nvSpPr>
          <p:cNvPr id="8" name="line-008-1">
            <a:extLst>
              <a:ext uri="{FF2B5EF4-FFF2-40B4-BE49-F238E27FC236}">
                <a16:creationId xmlns:a16="http://schemas.microsoft.com/office/drawing/2014/main" id="{70BB8FCA-FA34-41DD-A76E-E93D503E7F82}"/>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5-data-protection-hook.tx">
            <a:extLst>
              <a:ext uri="{FF2B5EF4-FFF2-40B4-BE49-F238E27FC236}">
                <a16:creationId xmlns:a16="http://schemas.microsoft.com/office/drawing/2014/main" id="{461D29ED-4B18-457B-A983-F9BFC035D39F}"/>
              </a:ext>
            </a:extLst>
          </p:cNvPr>
          <p:cNvSpPr>
            <a:spLocks noGrp="1"/>
          </p:cNvSpPr>
          <p:nvPr/>
        </p:nvSpPr>
        <p:spPr>
          <a:xfrm>
            <a:off x="781050" y="8615317"/>
            <a:ext cx="5915174"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prompts/05-data-protection-hook.txt</a:t>
            </a:r>
          </a:p>
        </p:txBody>
      </p:sp>
      <p:sp>
        <p:nvSpPr>
          <p:cNvPr id="10" name="roundRect-010">
            <a:extLst>
              <a:ext uri="{FF2B5EF4-FFF2-40B4-BE49-F238E27FC236}">
                <a16:creationId xmlns:a16="http://schemas.microsoft.com/office/drawing/2014/main" id="{6C4044B0-5FE7-4A94-867C-1766F115DF06}"/>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692CBA69-A804-43CD-AF34-68B06C968E42}"/>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Build a pre-tool hook that evaluates proposed operations aga">
            <a:extLst>
              <a:ext uri="{FF2B5EF4-FFF2-40B4-BE49-F238E27FC236}">
                <a16:creationId xmlns:a16="http://schemas.microsoft.com/office/drawing/2014/main" id="{D8F0D655-5C2A-490E-B94E-AFDE5D3BA24A}"/>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Build a pre-tool hook that evaluates proposed operations against a protected-source policy and returns ALLOW or</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BLOCK with reasons. Accept the tool name, operation, arguments, target paths, protected directory, and base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directory. Resolve the targets, identify protected paths, and apply the policy’s rules for reads, mutations, unknown</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operations, and shell commands.</a:t>
            </a:r>
          </a:p>
        </p:txBody>
      </p:sp>
      <p:sp>
        <p:nvSpPr>
          <p:cNvPr id="13" name="roundRect-013">
            <a:extLst>
              <a:ext uri="{FF2B5EF4-FFF2-40B4-BE49-F238E27FC236}">
                <a16:creationId xmlns:a16="http://schemas.microsoft.com/office/drawing/2014/main" id="{417BB5CD-298F-4A96-B26E-F367383D1164}"/>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087C5F87-A6AC-4A47-A3FB-F2B16611A8DE}"/>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4CD5F95B-A84C-4FF3-8090-6AEE2FE44F2F}"/>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62CC1D83-2D58-4F6D-85D0-D98B900ED316}"/>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Accept operation details and protected paths">
            <a:extLst>
              <a:ext uri="{FF2B5EF4-FFF2-40B4-BE49-F238E27FC236}">
                <a16:creationId xmlns:a16="http://schemas.microsoft.com/office/drawing/2014/main" id="{6A386B1B-B11F-41CD-8516-BD260DFE5F1A}"/>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Accept operation details and protected paths</a:t>
            </a:r>
          </a:p>
        </p:txBody>
      </p:sp>
      <p:sp>
        <p:nvSpPr>
          <p:cNvPr id="18" name="ellipse-018">
            <a:extLst>
              <a:ext uri="{FF2B5EF4-FFF2-40B4-BE49-F238E27FC236}">
                <a16:creationId xmlns:a16="http://schemas.microsoft.com/office/drawing/2014/main" id="{7AEE3510-17BA-4F1A-9C47-B112F83DF825}"/>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Resolve targets and apply the policy">
            <a:extLst>
              <a:ext uri="{FF2B5EF4-FFF2-40B4-BE49-F238E27FC236}">
                <a16:creationId xmlns:a16="http://schemas.microsoft.com/office/drawing/2014/main" id="{B719469A-49E9-4774-BDC8-09F9DEEB730F}"/>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Resolve targets and apply the policy</a:t>
            </a:r>
          </a:p>
        </p:txBody>
      </p:sp>
      <p:sp>
        <p:nvSpPr>
          <p:cNvPr id="20" name="ellipse-020">
            <a:extLst>
              <a:ext uri="{FF2B5EF4-FFF2-40B4-BE49-F238E27FC236}">
                <a16:creationId xmlns:a16="http://schemas.microsoft.com/office/drawing/2014/main" id="{15DB0072-2ACA-44D5-B041-A6C818D549C4}"/>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Return the decision and matched rules">
            <a:extLst>
              <a:ext uri="{FF2B5EF4-FFF2-40B4-BE49-F238E27FC236}">
                <a16:creationId xmlns:a16="http://schemas.microsoft.com/office/drawing/2014/main" id="{6940BC6D-6312-4481-AE29-34DD7BB8E808}"/>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Return the decision and matched rules</a:t>
            </a:r>
          </a:p>
        </p:txBody>
      </p:sp>
      <p:sp>
        <p:nvSpPr>
          <p:cNvPr id="22" name="text-022 INSPECT AFTER GENERATION">
            <a:extLst>
              <a:ext uri="{FF2B5EF4-FFF2-40B4-BE49-F238E27FC236}">
                <a16:creationId xmlns:a16="http://schemas.microsoft.com/office/drawing/2014/main" id="{7A52AC8E-6C3E-4025-B20D-F7BBFA2382B8}"/>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hook evaluates the supplied protected paths and operatio">
            <a:extLst>
              <a:ext uri="{FF2B5EF4-FFF2-40B4-BE49-F238E27FC236}">
                <a16:creationId xmlns:a16="http://schemas.microsoft.com/office/drawing/2014/main" id="{BB334BBA-9DCF-4B79-AC16-7AF9CE05DA16}"/>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hook evaluates the supplied protected paths and</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operation policy and returns an actionable decision</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with reasons.</a:t>
            </a:r>
          </a:p>
        </p:txBody>
      </p:sp>
    </p:spTree>
    <p:extLst>
      <p:ext uri="{BB962C8B-B14F-4D97-AF65-F5344CB8AC3E}">
        <p14:creationId xmlns:p14="http://schemas.microsoft.com/office/powerpoint/2010/main" val="787869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5" name="rect-001">
            <a:extLst>
              <a:ext uri="{FF2B5EF4-FFF2-40B4-BE49-F238E27FC236}">
                <a16:creationId xmlns:a16="http://schemas.microsoft.com/office/drawing/2014/main" id="{67E90937-0F65-43F8-A374-5421F2A264A2}"/>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BB0FF8FE-A421-4B67-8778-F3BEE89634A8}"/>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SKILL">
            <a:extLst>
              <a:ext uri="{FF2B5EF4-FFF2-40B4-BE49-F238E27FC236}">
                <a16:creationId xmlns:a16="http://schemas.microsoft.com/office/drawing/2014/main" id="{21852CC6-CB46-4E12-80CB-10F49ED10D35}"/>
              </a:ext>
            </a:extLst>
          </p:cNvPr>
          <p:cNvSpPr>
            <a:spLocks noGrp="1"/>
          </p:cNvSpPr>
          <p:nvPr/>
        </p:nvSpPr>
        <p:spPr>
          <a:xfrm>
            <a:off x="781050" y="1042290"/>
            <a:ext cx="676275"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SKILL</a:t>
            </a:r>
          </a:p>
        </p:txBody>
      </p:sp>
      <p:sp>
        <p:nvSpPr>
          <p:cNvPr id="5" name="text-005 Create the data readiness skill">
            <a:extLst>
              <a:ext uri="{FF2B5EF4-FFF2-40B4-BE49-F238E27FC236}">
                <a16:creationId xmlns:a16="http://schemas.microsoft.com/office/drawing/2014/main" id="{405479B7-F43B-43FB-8538-F2FE3A885F98}"/>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data readiness skill</a:t>
            </a:r>
          </a:p>
        </p:txBody>
      </p:sp>
      <p:sp>
        <p:nvSpPr>
          <p:cNvPr id="6" name="roundRect-006">
            <a:extLst>
              <a:ext uri="{FF2B5EF4-FFF2-40B4-BE49-F238E27FC236}">
                <a16:creationId xmlns:a16="http://schemas.microsoft.com/office/drawing/2014/main" id="{A9BC6708-5BA0-45DA-8E5F-04E7CE0E22C3}"/>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6">
            <a:extLst>
              <a:ext uri="{FF2B5EF4-FFF2-40B4-BE49-F238E27FC236}">
                <a16:creationId xmlns:a16="http://schemas.microsoft.com/office/drawing/2014/main" id="{6D7B2BA9-AA29-47A3-9F9B-13DFAC03EF47}"/>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06</a:t>
            </a:r>
          </a:p>
        </p:txBody>
      </p:sp>
      <p:sp>
        <p:nvSpPr>
          <p:cNvPr id="8" name="line-008-1">
            <a:extLst>
              <a:ext uri="{FF2B5EF4-FFF2-40B4-BE49-F238E27FC236}">
                <a16:creationId xmlns:a16="http://schemas.microsoft.com/office/drawing/2014/main" id="{D08ACF61-8E05-49C2-A528-541919169799}"/>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6 / 13  •  Component responsibilities">
            <a:extLst>
              <a:ext uri="{FF2B5EF4-FFF2-40B4-BE49-F238E27FC236}">
                <a16:creationId xmlns:a16="http://schemas.microsoft.com/office/drawing/2014/main" id="{8EE1ADED-9C83-4E84-9DF2-AACE09400BD7}"/>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06 / 13  •  Component responsibilities</a:t>
            </a:r>
          </a:p>
        </p:txBody>
      </p:sp>
      <p:sp>
        <p:nvSpPr>
          <p:cNvPr id="10" name="roundRect-010">
            <a:extLst>
              <a:ext uri="{FF2B5EF4-FFF2-40B4-BE49-F238E27FC236}">
                <a16:creationId xmlns:a16="http://schemas.microsoft.com/office/drawing/2014/main" id="{94E32132-DAD1-453E-9AC0-5DE7B01CFA5E}"/>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D279765B-C529-4D82-96E7-6A437ACC6513}"/>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Guide the agent through checking the selected CSVs against t">
            <a:extLst>
              <a:ext uri="{FF2B5EF4-FFF2-40B4-BE49-F238E27FC236}">
                <a16:creationId xmlns:a16="http://schemas.microsoft.com/office/drawing/2014/main" id="{B44559FE-C8E8-4415-A904-14EE7D71851F}"/>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Guide the agent through checking the</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selected CSVs against the analysis contract.</a:t>
            </a:r>
          </a:p>
        </p:txBody>
      </p:sp>
      <p:sp>
        <p:nvSpPr>
          <p:cNvPr id="13" name="text-013 INPUTS">
            <a:extLst>
              <a:ext uri="{FF2B5EF4-FFF2-40B4-BE49-F238E27FC236}">
                <a16:creationId xmlns:a16="http://schemas.microsoft.com/office/drawing/2014/main" id="{6D365691-0C8D-4F57-9A9E-B1D0EB030C6E}"/>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94E7C4DA-C2FC-42D0-BE68-0DA95C0DD4B7}"/>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SAP analysis contract">
            <a:extLst>
              <a:ext uri="{FF2B5EF4-FFF2-40B4-BE49-F238E27FC236}">
                <a16:creationId xmlns:a16="http://schemas.microsoft.com/office/drawing/2014/main" id="{53E6FCE8-FB1B-4451-9075-6283DB96A48E}"/>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SAP analysis contract</a:t>
            </a:r>
          </a:p>
        </p:txBody>
      </p:sp>
      <p:sp>
        <p:nvSpPr>
          <p:cNvPr id="16" name="ellipse-016">
            <a:extLst>
              <a:ext uri="{FF2B5EF4-FFF2-40B4-BE49-F238E27FC236}">
                <a16:creationId xmlns:a16="http://schemas.microsoft.com/office/drawing/2014/main" id="{8C57487F-EBA7-4174-BF5A-16970C2CB281}"/>
              </a:ext>
            </a:extLst>
          </p:cNvPr>
          <p:cNvSpPr>
            <a:spLocks noGrp="1"/>
          </p:cNvSpPr>
          <p:nvPr/>
        </p:nvSpPr>
        <p:spPr>
          <a:xfrm>
            <a:off x="1104900" y="5223034"/>
            <a:ext cx="76200" cy="76200"/>
          </a:xfrm>
          <a:prstGeom prst="ellipse">
            <a:avLst/>
          </a:prstGeom>
          <a:solidFill>
            <a:srgbClr val="137F7B"/>
          </a:solidFill>
          <a:ln w="0">
            <a:noFill/>
          </a:ln>
        </p:spPr>
        <p:txBody>
          <a:bodyPr/>
          <a:lstStyle/>
          <a:p>
            <a:endParaRPr lang="en-US"/>
          </a:p>
        </p:txBody>
      </p:sp>
      <p:sp>
        <p:nvSpPr>
          <p:cNvPr id="17" name="text-017 Explicit subject and efficacy CSV paths">
            <a:extLst>
              <a:ext uri="{FF2B5EF4-FFF2-40B4-BE49-F238E27FC236}">
                <a16:creationId xmlns:a16="http://schemas.microsoft.com/office/drawing/2014/main" id="{FE08D3D0-50B3-4D35-9C80-DD23E9B6D263}"/>
              </a:ext>
            </a:extLst>
          </p:cNvPr>
          <p:cNvSpPr>
            <a:spLocks noGrp="1"/>
          </p:cNvSpPr>
          <p:nvPr/>
        </p:nvSpPr>
        <p:spPr>
          <a:xfrm>
            <a:off x="1343025" y="5080315"/>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Explicit subject and efficacy CSV paths</a:t>
            </a:r>
          </a:p>
        </p:txBody>
      </p:sp>
      <p:sp>
        <p:nvSpPr>
          <p:cNvPr id="18" name="text-018 WHAT TO BUILD">
            <a:extLst>
              <a:ext uri="{FF2B5EF4-FFF2-40B4-BE49-F238E27FC236}">
                <a16:creationId xmlns:a16="http://schemas.microsoft.com/office/drawing/2014/main" id="{D513C223-0872-4EED-B154-166749105643}"/>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EF0CFB96-76C9-4FCE-A885-1E48FBDEBA1D}"/>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skills/data-checker/SKILL.md">
            <a:extLst>
              <a:ext uri="{FF2B5EF4-FFF2-40B4-BE49-F238E27FC236}">
                <a16:creationId xmlns:a16="http://schemas.microsoft.com/office/drawing/2014/main" id="{D76F89CF-9749-4959-BE26-37AAFC421A10}"/>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skills/data-checker/SKILL.md</a:t>
            </a:r>
          </a:p>
        </p:txBody>
      </p:sp>
      <p:sp>
        <p:nvSpPr>
          <p:cNvPr id="21" name="ellipse-021">
            <a:extLst>
              <a:ext uri="{FF2B5EF4-FFF2-40B4-BE49-F238E27FC236}">
                <a16:creationId xmlns:a16="http://schemas.microsoft.com/office/drawing/2014/main" id="{D885ED54-4863-4EBD-903F-C9304D2FD9FE}"/>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Procedure for interpreting the QC artifacts">
            <a:extLst>
              <a:ext uri="{FF2B5EF4-FFF2-40B4-BE49-F238E27FC236}">
                <a16:creationId xmlns:a16="http://schemas.microsoft.com/office/drawing/2014/main" id="{3C3B42D6-3120-49D1-8A26-642622D3F052}"/>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Procedure for interpreting the QC artifacts</a:t>
            </a:r>
          </a:p>
        </p:txBody>
      </p:sp>
      <p:sp>
        <p:nvSpPr>
          <p:cNvPr id="23" name="text-023 FUNCTIONS / INTERFACES">
            <a:extLst>
              <a:ext uri="{FF2B5EF4-FFF2-40B4-BE49-F238E27FC236}">
                <a16:creationId xmlns:a16="http://schemas.microsoft.com/office/drawing/2014/main" id="{7CB8F899-C484-4730-B435-DC742BFF8BAE}"/>
              </a:ext>
            </a:extLst>
          </p:cNvPr>
          <p:cNvSpPr>
            <a:spLocks noGrp="1"/>
          </p:cNvSpPr>
          <p:nvPr/>
        </p:nvSpPr>
        <p:spPr>
          <a:xfrm>
            <a:off x="9220200" y="4580226"/>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4" name="text-024 check_sap_contract_against_data">
            <a:extLst>
              <a:ext uri="{FF2B5EF4-FFF2-40B4-BE49-F238E27FC236}">
                <a16:creationId xmlns:a16="http://schemas.microsoft.com/office/drawing/2014/main" id="{FE26285C-E18E-471D-95B5-5F867BC41CBF}"/>
              </a:ext>
            </a:extLst>
          </p:cNvPr>
          <p:cNvSpPr>
            <a:spLocks noGrp="1"/>
          </p:cNvSpPr>
          <p:nvPr/>
        </p:nvSpPr>
        <p:spPr>
          <a:xfrm>
            <a:off x="9220200" y="4992037"/>
            <a:ext cx="7905750" cy="36576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check_sap_contract_against_data</a:t>
            </a:r>
          </a:p>
        </p:txBody>
      </p:sp>
    </p:spTree>
    <p:extLst>
      <p:ext uri="{BB962C8B-B14F-4D97-AF65-F5344CB8AC3E}">
        <p14:creationId xmlns:p14="http://schemas.microsoft.com/office/powerpoint/2010/main" val="693383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C5AA414D-64BD-4BA0-A9EC-7C84218230FC}"/>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57369403-BE0E-4DE0-BB92-C251A425ECCA}"/>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SKILL">
            <a:extLst>
              <a:ext uri="{FF2B5EF4-FFF2-40B4-BE49-F238E27FC236}">
                <a16:creationId xmlns:a16="http://schemas.microsoft.com/office/drawing/2014/main" id="{5A810E31-8721-4FED-9376-5E57F5773D34}"/>
              </a:ext>
            </a:extLst>
          </p:cNvPr>
          <p:cNvSpPr>
            <a:spLocks noGrp="1"/>
          </p:cNvSpPr>
          <p:nvPr/>
        </p:nvSpPr>
        <p:spPr>
          <a:xfrm>
            <a:off x="781050" y="1042290"/>
            <a:ext cx="676275"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SKILL</a:t>
            </a:r>
          </a:p>
        </p:txBody>
      </p:sp>
      <p:sp>
        <p:nvSpPr>
          <p:cNvPr id="5" name="text-005 Create the data readiness skill">
            <a:extLst>
              <a:ext uri="{FF2B5EF4-FFF2-40B4-BE49-F238E27FC236}">
                <a16:creationId xmlns:a16="http://schemas.microsoft.com/office/drawing/2014/main" id="{C2BB5FF8-03E5-4731-97A1-E4131BD81536}"/>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data readiness skill</a:t>
            </a:r>
          </a:p>
        </p:txBody>
      </p:sp>
      <p:sp>
        <p:nvSpPr>
          <p:cNvPr id="6" name="roundRect-006">
            <a:extLst>
              <a:ext uri="{FF2B5EF4-FFF2-40B4-BE49-F238E27FC236}">
                <a16:creationId xmlns:a16="http://schemas.microsoft.com/office/drawing/2014/main" id="{F6FDE5CB-A3CA-47FF-8BBC-1EF98D4797BF}"/>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6">
            <a:extLst>
              <a:ext uri="{FF2B5EF4-FFF2-40B4-BE49-F238E27FC236}">
                <a16:creationId xmlns:a16="http://schemas.microsoft.com/office/drawing/2014/main" id="{4E3E4494-67F9-4A29-B45A-AA3C5F77F6E4}"/>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06</a:t>
            </a:r>
          </a:p>
        </p:txBody>
      </p:sp>
      <p:sp>
        <p:nvSpPr>
          <p:cNvPr id="8" name="line-008-1">
            <a:extLst>
              <a:ext uri="{FF2B5EF4-FFF2-40B4-BE49-F238E27FC236}">
                <a16:creationId xmlns:a16="http://schemas.microsoft.com/office/drawing/2014/main" id="{D33031E5-EFAE-46E8-BEE9-02C5B09156CC}"/>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6-readiness-skill.txt">
            <a:extLst>
              <a:ext uri="{FF2B5EF4-FFF2-40B4-BE49-F238E27FC236}">
                <a16:creationId xmlns:a16="http://schemas.microsoft.com/office/drawing/2014/main" id="{DE1A5CDD-7D9D-4A18-91C0-B9738A4F4E7F}"/>
              </a:ext>
            </a:extLst>
          </p:cNvPr>
          <p:cNvSpPr>
            <a:spLocks noGrp="1"/>
          </p:cNvSpPr>
          <p:nvPr/>
        </p:nvSpPr>
        <p:spPr>
          <a:xfrm>
            <a:off x="781050" y="8615317"/>
            <a:ext cx="5210175"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prompts/06-readiness-skill.txt</a:t>
            </a:r>
          </a:p>
        </p:txBody>
      </p:sp>
      <p:sp>
        <p:nvSpPr>
          <p:cNvPr id="10" name="roundRect-010">
            <a:extLst>
              <a:ext uri="{FF2B5EF4-FFF2-40B4-BE49-F238E27FC236}">
                <a16:creationId xmlns:a16="http://schemas.microsoft.com/office/drawing/2014/main" id="{73F72F3C-C15A-4000-9CAF-727514852EDB}"/>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F80D5CE3-223C-43D5-B2D0-21F0BECE6DC1}"/>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Create a data readiness skill that checks whether selected d">
            <a:extLst>
              <a:ext uri="{FF2B5EF4-FFF2-40B4-BE49-F238E27FC236}">
                <a16:creationId xmlns:a16="http://schemas.microsoft.com/office/drawing/2014/main" id="{B4B92570-CC3E-4E8F-9B5E-D1C2ECBD8044}"/>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Create a data readiness skill that checks whether selected datasets satisfy an analysis contract. Guide the agent to</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inspect required variables, subject identifiers, population membership, treatment groups, endpoint selection,</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assessment timing, and record coverage using a deterministic checker. Explain its findings and ALLOW/BLOCK</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decision in relation to the intended estimand and analysis.</a:t>
            </a:r>
          </a:p>
        </p:txBody>
      </p:sp>
      <p:sp>
        <p:nvSpPr>
          <p:cNvPr id="13" name="roundRect-013">
            <a:extLst>
              <a:ext uri="{FF2B5EF4-FFF2-40B4-BE49-F238E27FC236}">
                <a16:creationId xmlns:a16="http://schemas.microsoft.com/office/drawing/2014/main" id="{BAEC9BE5-DF5B-461D-A6C0-BC899B3F8779}"/>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ABF056AB-15E9-438F-B248-A44CC5E22006}"/>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D72D62C7-34BE-4E64-9EFE-3C18B1FDDE21}"/>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274D1316-F996-4B2D-85BC-5D78DCBFBB22}"/>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Use the analysis contract and selected datasets">
            <a:extLst>
              <a:ext uri="{FF2B5EF4-FFF2-40B4-BE49-F238E27FC236}">
                <a16:creationId xmlns:a16="http://schemas.microsoft.com/office/drawing/2014/main" id="{592862AA-39E2-4036-906D-51AE9905AC30}"/>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Use the analysis contract and selected datasets</a:t>
            </a:r>
          </a:p>
        </p:txBody>
      </p:sp>
      <p:sp>
        <p:nvSpPr>
          <p:cNvPr id="18" name="ellipse-018">
            <a:extLst>
              <a:ext uri="{FF2B5EF4-FFF2-40B4-BE49-F238E27FC236}">
                <a16:creationId xmlns:a16="http://schemas.microsoft.com/office/drawing/2014/main" id="{60812D01-8019-417D-8597-EA12A4613855}"/>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Call the checker and interpret its findings">
            <a:extLst>
              <a:ext uri="{FF2B5EF4-FFF2-40B4-BE49-F238E27FC236}">
                <a16:creationId xmlns:a16="http://schemas.microsoft.com/office/drawing/2014/main" id="{5E3FF5D8-799D-4E94-A97C-047D3B4516BC}"/>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Call the checker and interpret its findings</a:t>
            </a:r>
          </a:p>
        </p:txBody>
      </p:sp>
      <p:sp>
        <p:nvSpPr>
          <p:cNvPr id="20" name="ellipse-020">
            <a:extLst>
              <a:ext uri="{FF2B5EF4-FFF2-40B4-BE49-F238E27FC236}">
                <a16:creationId xmlns:a16="http://schemas.microsoft.com/office/drawing/2014/main" id="{1C18A800-9171-4487-954A-A59029FCB867}"/>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Explain unmet requirements for the analysis">
            <a:extLst>
              <a:ext uri="{FF2B5EF4-FFF2-40B4-BE49-F238E27FC236}">
                <a16:creationId xmlns:a16="http://schemas.microsoft.com/office/drawing/2014/main" id="{64A696C2-75A1-42E9-9996-534E86EC7FA4}"/>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Explain unmet requirements for the analysis</a:t>
            </a:r>
          </a:p>
        </p:txBody>
      </p:sp>
      <p:sp>
        <p:nvSpPr>
          <p:cNvPr id="22" name="text-022 INSPECT AFTER GENERATION">
            <a:extLst>
              <a:ext uri="{FF2B5EF4-FFF2-40B4-BE49-F238E27FC236}">
                <a16:creationId xmlns:a16="http://schemas.microsoft.com/office/drawing/2014/main" id="{65B9AC9B-E8EF-4749-9321-DBEFB07C1416}"/>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Readiness findings refer to the supplied contract’s endpoint">
            <a:extLst>
              <a:ext uri="{FF2B5EF4-FFF2-40B4-BE49-F238E27FC236}">
                <a16:creationId xmlns:a16="http://schemas.microsoft.com/office/drawing/2014/main" id="{DF442133-283A-4E60-9710-3EA337D813F7}"/>
              </a:ext>
            </a:extLst>
          </p:cNvPr>
          <p:cNvSpPr>
            <a:spLocks noGrp="1"/>
          </p:cNvSpPr>
          <p:nvPr/>
        </p:nvSpPr>
        <p:spPr>
          <a:xfrm>
            <a:off x="10629900" y="6182533"/>
            <a:ext cx="6572250" cy="800100"/>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Readiness findings refer to the supplied contract’s</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endpoint, population, timing, and data requirements.</a:t>
            </a:r>
          </a:p>
        </p:txBody>
      </p:sp>
    </p:spTree>
    <p:extLst>
      <p:ext uri="{BB962C8B-B14F-4D97-AF65-F5344CB8AC3E}">
        <p14:creationId xmlns:p14="http://schemas.microsoft.com/office/powerpoint/2010/main" val="552143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7" name="rect-001">
            <a:extLst>
              <a:ext uri="{FF2B5EF4-FFF2-40B4-BE49-F238E27FC236}">
                <a16:creationId xmlns:a16="http://schemas.microsoft.com/office/drawing/2014/main" id="{5D6B09F8-2568-4208-A467-8A8A90C5561F}"/>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8E79F914-4353-43BB-937C-3E5D422A0F80}"/>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HELPER + CLI">
            <a:extLst>
              <a:ext uri="{FF2B5EF4-FFF2-40B4-BE49-F238E27FC236}">
                <a16:creationId xmlns:a16="http://schemas.microsoft.com/office/drawing/2014/main" id="{9D78DF50-FC9E-4D49-A7A6-5F720DEF6BD1}"/>
              </a:ext>
            </a:extLst>
          </p:cNvPr>
          <p:cNvSpPr>
            <a:spLocks noGrp="1"/>
          </p:cNvSpPr>
          <p:nvPr/>
        </p:nvSpPr>
        <p:spPr>
          <a:xfrm>
            <a:off x="781050" y="1042290"/>
            <a:ext cx="1485900"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HELPER + CLI</a:t>
            </a:r>
          </a:p>
        </p:txBody>
      </p:sp>
      <p:sp>
        <p:nvSpPr>
          <p:cNvPr id="5" name="text-005 Build deterministic data QC">
            <a:extLst>
              <a:ext uri="{FF2B5EF4-FFF2-40B4-BE49-F238E27FC236}">
                <a16:creationId xmlns:a16="http://schemas.microsoft.com/office/drawing/2014/main" id="{665D0817-7589-4047-B488-826735766DCE}"/>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deterministic data QC</a:t>
            </a:r>
          </a:p>
        </p:txBody>
      </p:sp>
      <p:sp>
        <p:nvSpPr>
          <p:cNvPr id="6" name="roundRect-006">
            <a:extLst>
              <a:ext uri="{FF2B5EF4-FFF2-40B4-BE49-F238E27FC236}">
                <a16:creationId xmlns:a16="http://schemas.microsoft.com/office/drawing/2014/main" id="{BD17EF46-8D8A-482F-A0B9-81BA54CED048}"/>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7">
            <a:extLst>
              <a:ext uri="{FF2B5EF4-FFF2-40B4-BE49-F238E27FC236}">
                <a16:creationId xmlns:a16="http://schemas.microsoft.com/office/drawing/2014/main" id="{663F8ED2-1364-4DFB-85DB-5058314B3761}"/>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07</a:t>
            </a:r>
          </a:p>
        </p:txBody>
      </p:sp>
      <p:sp>
        <p:nvSpPr>
          <p:cNvPr id="8" name="line-008-1">
            <a:extLst>
              <a:ext uri="{FF2B5EF4-FFF2-40B4-BE49-F238E27FC236}">
                <a16:creationId xmlns:a16="http://schemas.microsoft.com/office/drawing/2014/main" id="{BFB99A92-4893-4441-8D46-617EF9C4074D}"/>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7 / 13  •  Component responsibilities">
            <a:extLst>
              <a:ext uri="{FF2B5EF4-FFF2-40B4-BE49-F238E27FC236}">
                <a16:creationId xmlns:a16="http://schemas.microsoft.com/office/drawing/2014/main" id="{BB27AF20-0F4E-4322-A5F3-E94E053735BF}"/>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07 / 13  •  Component responsibilities</a:t>
            </a:r>
          </a:p>
        </p:txBody>
      </p:sp>
      <p:sp>
        <p:nvSpPr>
          <p:cNvPr id="10" name="roundRect-010">
            <a:extLst>
              <a:ext uri="{FF2B5EF4-FFF2-40B4-BE49-F238E27FC236}">
                <a16:creationId xmlns:a16="http://schemas.microsoft.com/office/drawing/2014/main" id="{B330C2BA-969B-4D5F-AFF4-D6E53D478563}"/>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E863C0DE-6D12-49CC-BC03-3BE0C096413A}"/>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Produce a requirement-by-requirement checking table and an A">
            <a:extLst>
              <a:ext uri="{FF2B5EF4-FFF2-40B4-BE49-F238E27FC236}">
                <a16:creationId xmlns:a16="http://schemas.microsoft.com/office/drawing/2014/main" id="{40D63D31-A6B8-400B-8E5A-99407B9B559C}"/>
              </a:ext>
            </a:extLst>
          </p:cNvPr>
          <p:cNvSpPr>
            <a:spLocks noGrp="1"/>
          </p:cNvSpPr>
          <p:nvPr/>
        </p:nvSpPr>
        <p:spPr>
          <a:xfrm>
            <a:off x="1104900" y="3024546"/>
            <a:ext cx="7143750" cy="1491615"/>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Produce a requirement-by-requirement</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checking table and an ALLOW/BLOCK</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summary.</a:t>
            </a:r>
          </a:p>
        </p:txBody>
      </p:sp>
      <p:sp>
        <p:nvSpPr>
          <p:cNvPr id="13" name="text-013 INPUTS">
            <a:extLst>
              <a:ext uri="{FF2B5EF4-FFF2-40B4-BE49-F238E27FC236}">
                <a16:creationId xmlns:a16="http://schemas.microsoft.com/office/drawing/2014/main" id="{16C21894-87A4-471D-948E-7DC09BB072DB}"/>
              </a:ext>
            </a:extLst>
          </p:cNvPr>
          <p:cNvSpPr>
            <a:spLocks noGrp="1"/>
          </p:cNvSpPr>
          <p:nvPr/>
        </p:nvSpPr>
        <p:spPr>
          <a:xfrm>
            <a:off x="1104900" y="4661188"/>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06681AFD-2A33-4162-A080-4CA8CD35EB5C}"/>
              </a:ext>
            </a:extLst>
          </p:cNvPr>
          <p:cNvSpPr>
            <a:spLocks noGrp="1"/>
          </p:cNvSpPr>
          <p:nvPr/>
        </p:nvSpPr>
        <p:spPr>
          <a:xfrm>
            <a:off x="1104900" y="5179695"/>
            <a:ext cx="76200" cy="76200"/>
          </a:xfrm>
          <a:prstGeom prst="ellipse">
            <a:avLst/>
          </a:prstGeom>
          <a:solidFill>
            <a:srgbClr val="137F7B"/>
          </a:solidFill>
          <a:ln w="0">
            <a:noFill/>
          </a:ln>
        </p:spPr>
        <p:txBody>
          <a:bodyPr/>
          <a:lstStyle/>
          <a:p>
            <a:endParaRPr lang="en-US"/>
          </a:p>
        </p:txBody>
      </p:sp>
      <p:sp>
        <p:nvSpPr>
          <p:cNvPr id="15" name="text-015 An analysis contract">
            <a:extLst>
              <a:ext uri="{FF2B5EF4-FFF2-40B4-BE49-F238E27FC236}">
                <a16:creationId xmlns:a16="http://schemas.microsoft.com/office/drawing/2014/main" id="{FD89EC87-E1C6-42A7-AAE9-40121B81C1C2}"/>
              </a:ext>
            </a:extLst>
          </p:cNvPr>
          <p:cNvSpPr>
            <a:spLocks noGrp="1"/>
          </p:cNvSpPr>
          <p:nvPr/>
        </p:nvSpPr>
        <p:spPr>
          <a:xfrm>
            <a:off x="1343025" y="5036976"/>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An analysis contract</a:t>
            </a:r>
          </a:p>
        </p:txBody>
      </p:sp>
      <p:sp>
        <p:nvSpPr>
          <p:cNvPr id="16" name="ellipse-016">
            <a:extLst>
              <a:ext uri="{FF2B5EF4-FFF2-40B4-BE49-F238E27FC236}">
                <a16:creationId xmlns:a16="http://schemas.microsoft.com/office/drawing/2014/main" id="{3FDE3F76-CB88-4A28-B18E-DC7DB3AC52F6}"/>
              </a:ext>
            </a:extLst>
          </p:cNvPr>
          <p:cNvSpPr>
            <a:spLocks noGrp="1"/>
          </p:cNvSpPr>
          <p:nvPr/>
        </p:nvSpPr>
        <p:spPr>
          <a:xfrm>
            <a:off x="1104900" y="5685949"/>
            <a:ext cx="76200" cy="76200"/>
          </a:xfrm>
          <a:prstGeom prst="ellipse">
            <a:avLst/>
          </a:prstGeom>
          <a:solidFill>
            <a:srgbClr val="137F7B"/>
          </a:solidFill>
          <a:ln w="0">
            <a:noFill/>
          </a:ln>
        </p:spPr>
        <p:txBody>
          <a:bodyPr/>
          <a:lstStyle/>
          <a:p>
            <a:endParaRPr lang="en-US"/>
          </a:p>
        </p:txBody>
      </p:sp>
      <p:sp>
        <p:nvSpPr>
          <p:cNvPr id="17" name="text-017 Subject and endpoint DataFrames">
            <a:extLst>
              <a:ext uri="{FF2B5EF4-FFF2-40B4-BE49-F238E27FC236}">
                <a16:creationId xmlns:a16="http://schemas.microsoft.com/office/drawing/2014/main" id="{21D73D3F-80CB-440E-A581-4CC4F2313CBC}"/>
              </a:ext>
            </a:extLst>
          </p:cNvPr>
          <p:cNvSpPr>
            <a:spLocks noGrp="1"/>
          </p:cNvSpPr>
          <p:nvPr/>
        </p:nvSpPr>
        <p:spPr>
          <a:xfrm>
            <a:off x="1343025" y="5543230"/>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Subject and endpoint DataFrames</a:t>
            </a:r>
          </a:p>
        </p:txBody>
      </p:sp>
      <p:sp>
        <p:nvSpPr>
          <p:cNvPr id="18" name="text-018 WHAT TO BUILD">
            <a:extLst>
              <a:ext uri="{FF2B5EF4-FFF2-40B4-BE49-F238E27FC236}">
                <a16:creationId xmlns:a16="http://schemas.microsoft.com/office/drawing/2014/main" id="{5E8F174A-810E-49C0-8498-3E3405D7A59F}"/>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804449BF-AD84-405F-94DD-83BA8558E6AB}"/>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data_qc_helpers.py and run_data_checker.py">
            <a:extLst>
              <a:ext uri="{FF2B5EF4-FFF2-40B4-BE49-F238E27FC236}">
                <a16:creationId xmlns:a16="http://schemas.microsoft.com/office/drawing/2014/main" id="{3A7AC911-1DE9-4846-B3EE-092047F1682B}"/>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data_qc_helpers.py and run_data_checker.py</a:t>
            </a:r>
          </a:p>
        </p:txBody>
      </p:sp>
      <p:sp>
        <p:nvSpPr>
          <p:cNvPr id="21" name="ellipse-021">
            <a:extLst>
              <a:ext uri="{FF2B5EF4-FFF2-40B4-BE49-F238E27FC236}">
                <a16:creationId xmlns:a16="http://schemas.microsoft.com/office/drawing/2014/main" id="{AA76CE8B-159A-4CEE-8D6F-82D26106B725}"/>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data_checker_table.csv / .json">
            <a:extLst>
              <a:ext uri="{FF2B5EF4-FFF2-40B4-BE49-F238E27FC236}">
                <a16:creationId xmlns:a16="http://schemas.microsoft.com/office/drawing/2014/main" id="{CED1D613-D669-4D21-BB41-37A397E51823}"/>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data_checker_table.csv / .json</a:t>
            </a:r>
          </a:p>
        </p:txBody>
      </p:sp>
      <p:sp>
        <p:nvSpPr>
          <p:cNvPr id="23" name="ellipse-023">
            <a:extLst>
              <a:ext uri="{FF2B5EF4-FFF2-40B4-BE49-F238E27FC236}">
                <a16:creationId xmlns:a16="http://schemas.microsoft.com/office/drawing/2014/main" id="{9EDB0005-E4DB-49F9-A219-7AAA06F022D2}"/>
              </a:ext>
            </a:extLst>
          </p:cNvPr>
          <p:cNvSpPr>
            <a:spLocks noGrp="1"/>
          </p:cNvSpPr>
          <p:nvPr/>
        </p:nvSpPr>
        <p:spPr>
          <a:xfrm>
            <a:off x="9220200" y="4622483"/>
            <a:ext cx="76200" cy="76200"/>
          </a:xfrm>
          <a:prstGeom prst="ellipse">
            <a:avLst/>
          </a:prstGeom>
          <a:solidFill>
            <a:srgbClr val="137F7B"/>
          </a:solidFill>
          <a:ln w="0">
            <a:noFill/>
          </a:ln>
        </p:spPr>
        <p:txBody>
          <a:bodyPr/>
          <a:lstStyle/>
          <a:p>
            <a:endParaRPr lang="en-US"/>
          </a:p>
        </p:txBody>
      </p:sp>
      <p:sp>
        <p:nvSpPr>
          <p:cNvPr id="24" name="text-024 data_checker_summary.json">
            <a:extLst>
              <a:ext uri="{FF2B5EF4-FFF2-40B4-BE49-F238E27FC236}">
                <a16:creationId xmlns:a16="http://schemas.microsoft.com/office/drawing/2014/main" id="{D30E4B3E-4114-4FF1-A831-FFCF00AE166F}"/>
              </a:ext>
            </a:extLst>
          </p:cNvPr>
          <p:cNvSpPr>
            <a:spLocks noGrp="1"/>
          </p:cNvSpPr>
          <p:nvPr/>
        </p:nvSpPr>
        <p:spPr>
          <a:xfrm>
            <a:off x="9458325" y="4479764"/>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data_checker_summary.json</a:t>
            </a:r>
          </a:p>
        </p:txBody>
      </p:sp>
      <p:sp>
        <p:nvSpPr>
          <p:cNvPr id="25" name="text-025 FUNCTIONS / INTERFACES">
            <a:extLst>
              <a:ext uri="{FF2B5EF4-FFF2-40B4-BE49-F238E27FC236}">
                <a16:creationId xmlns:a16="http://schemas.microsoft.com/office/drawing/2014/main" id="{011BC0C6-1633-4C70-BCD5-8F70C03509DD}"/>
              </a:ext>
            </a:extLst>
          </p:cNvPr>
          <p:cNvSpPr>
            <a:spLocks noGrp="1"/>
          </p:cNvSpPr>
          <p:nvPr/>
        </p:nvSpPr>
        <p:spPr>
          <a:xfrm>
            <a:off x="9220200" y="5086480"/>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6" name="text-026 check_sap_contract_against_data make_summary _row _parse_equ">
            <a:extLst>
              <a:ext uri="{FF2B5EF4-FFF2-40B4-BE49-F238E27FC236}">
                <a16:creationId xmlns:a16="http://schemas.microsoft.com/office/drawing/2014/main" id="{7E8B9F1B-264D-4497-AAD4-FDD27760C3C7}"/>
              </a:ext>
            </a:extLst>
          </p:cNvPr>
          <p:cNvSpPr>
            <a:spLocks noGrp="1"/>
          </p:cNvSpPr>
          <p:nvPr/>
        </p:nvSpPr>
        <p:spPr>
          <a:xfrm>
            <a:off x="9220200" y="5498291"/>
            <a:ext cx="7905750" cy="125730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check_sap_contract_against_data</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make_summary</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_row</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_parse_equality_filter</a:t>
            </a:r>
          </a:p>
        </p:txBody>
      </p:sp>
    </p:spTree>
    <p:extLst>
      <p:ext uri="{BB962C8B-B14F-4D97-AF65-F5344CB8AC3E}">
        <p14:creationId xmlns:p14="http://schemas.microsoft.com/office/powerpoint/2010/main" val="20491837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96F80251-6C69-4A8D-B3CB-56217591D8E5}"/>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5809BEA9-7B52-4EAB-9FCA-7A7F93FF6995}"/>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HELPER + CLI">
            <a:extLst>
              <a:ext uri="{FF2B5EF4-FFF2-40B4-BE49-F238E27FC236}">
                <a16:creationId xmlns:a16="http://schemas.microsoft.com/office/drawing/2014/main" id="{8D666B08-DAFC-4473-BCB7-04A32AD6B970}"/>
              </a:ext>
            </a:extLst>
          </p:cNvPr>
          <p:cNvSpPr>
            <a:spLocks noGrp="1"/>
          </p:cNvSpPr>
          <p:nvPr/>
        </p:nvSpPr>
        <p:spPr>
          <a:xfrm>
            <a:off x="781050" y="1042290"/>
            <a:ext cx="1485900"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HELPER + CLI</a:t>
            </a:r>
          </a:p>
        </p:txBody>
      </p:sp>
      <p:sp>
        <p:nvSpPr>
          <p:cNvPr id="5" name="text-005 Build deterministic data QC">
            <a:extLst>
              <a:ext uri="{FF2B5EF4-FFF2-40B4-BE49-F238E27FC236}">
                <a16:creationId xmlns:a16="http://schemas.microsoft.com/office/drawing/2014/main" id="{4BCAAF5D-F660-4A4F-A201-E3A52650182C}"/>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deterministic data QC</a:t>
            </a:r>
          </a:p>
        </p:txBody>
      </p:sp>
      <p:sp>
        <p:nvSpPr>
          <p:cNvPr id="6" name="roundRect-006">
            <a:extLst>
              <a:ext uri="{FF2B5EF4-FFF2-40B4-BE49-F238E27FC236}">
                <a16:creationId xmlns:a16="http://schemas.microsoft.com/office/drawing/2014/main" id="{0DD72290-DD21-456C-9028-94FA8B3830F8}"/>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7">
            <a:extLst>
              <a:ext uri="{FF2B5EF4-FFF2-40B4-BE49-F238E27FC236}">
                <a16:creationId xmlns:a16="http://schemas.microsoft.com/office/drawing/2014/main" id="{6C9B0698-2C0E-4DB5-BA2B-EAD99D792DC7}"/>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07</a:t>
            </a:r>
          </a:p>
        </p:txBody>
      </p:sp>
      <p:sp>
        <p:nvSpPr>
          <p:cNvPr id="8" name="line-008-1">
            <a:extLst>
              <a:ext uri="{FF2B5EF4-FFF2-40B4-BE49-F238E27FC236}">
                <a16:creationId xmlns:a16="http://schemas.microsoft.com/office/drawing/2014/main" id="{84D6E075-ED8C-4FC3-88AB-282C73E7FB5A}"/>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7-qc-helper.txt">
            <a:extLst>
              <a:ext uri="{FF2B5EF4-FFF2-40B4-BE49-F238E27FC236}">
                <a16:creationId xmlns:a16="http://schemas.microsoft.com/office/drawing/2014/main" id="{EB9067DF-E240-4744-8237-09EA036260D6}"/>
              </a:ext>
            </a:extLst>
          </p:cNvPr>
          <p:cNvSpPr>
            <a:spLocks noGrp="1"/>
          </p:cNvSpPr>
          <p:nvPr/>
        </p:nvSpPr>
        <p:spPr>
          <a:xfrm>
            <a:off x="781050" y="8615317"/>
            <a:ext cx="4819352"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prompts/07-qc-helper.txt</a:t>
            </a:r>
          </a:p>
        </p:txBody>
      </p:sp>
      <p:sp>
        <p:nvSpPr>
          <p:cNvPr id="10" name="roundRect-010">
            <a:extLst>
              <a:ext uri="{FF2B5EF4-FFF2-40B4-BE49-F238E27FC236}">
                <a16:creationId xmlns:a16="http://schemas.microsoft.com/office/drawing/2014/main" id="{69873EDD-FEE9-4978-9E41-375C0DAE528F}"/>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E50D6BEF-882A-4632-9843-FFC76BA386BE}"/>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Build a deterministic data checker that compares an analysis">
            <a:extLst>
              <a:ext uri="{FF2B5EF4-FFF2-40B4-BE49-F238E27FC236}">
                <a16:creationId xmlns:a16="http://schemas.microsoft.com/office/drawing/2014/main" id="{733D2882-7E45-4B2F-B3F3-DC9DFBF001F8}"/>
              </a:ext>
            </a:extLst>
          </p:cNvPr>
          <p:cNvSpPr>
            <a:spLocks noGrp="1"/>
          </p:cNvSpPr>
          <p:nvPr/>
        </p:nvSpPr>
        <p:spPr>
          <a:xfrm>
            <a:off x="1123950" y="3390858"/>
            <a:ext cx="16097250" cy="1647635"/>
          </a:xfrm>
          <a:prstGeom prst="rect">
            <a:avLst/>
          </a:prstGeom>
          <a:noFill/>
          <a:ln w="0">
            <a:noFill/>
          </a:ln>
        </p:spPr>
        <p:txBody>
          <a:bodyPr wrap="none" lIns="0" tIns="0" rIns="0" bIns="0" anchor="t">
            <a:noAutofit/>
          </a:bodyPr>
          <a:lstStyle/>
          <a:p>
            <a:pPr algn="l">
              <a:lnSpc>
                <a:spcPct val="110000"/>
              </a:lnSpc>
              <a:buNone/>
              <a:defRPr sz="2325" b="0">
                <a:solidFill>
                  <a:srgbClr val="183047"/>
                </a:solidFill>
                <a:latin typeface="Segoe UI"/>
                <a:ea typeface="Segoe UI"/>
                <a:cs typeface="Segoe UI"/>
              </a:defRPr>
            </a:pPr>
            <a:r>
              <a:rPr sz="2325" b="0">
                <a:solidFill>
                  <a:srgbClr val="183047"/>
                </a:solidFill>
                <a:latin typeface="Segoe UI"/>
                <a:ea typeface="Segoe UI"/>
                <a:cs typeface="Segoe UI"/>
              </a:rPr>
              <a:t>Build a deterministic data checker that compares an analysis contract with subject and endpoint datasets and returns</a:t>
            </a:r>
          </a:p>
          <a:p>
            <a:pPr algn="l">
              <a:lnSpc>
                <a:spcPct val="110000"/>
              </a:lnSpc>
              <a:buNone/>
              <a:defRPr sz="2325" b="0">
                <a:solidFill>
                  <a:srgbClr val="183047"/>
                </a:solidFill>
                <a:latin typeface="Segoe UI"/>
                <a:ea typeface="Segoe UI"/>
                <a:cs typeface="Segoe UI"/>
              </a:defRPr>
            </a:pPr>
            <a:r>
              <a:rPr sz="2325" b="0">
                <a:solidFill>
                  <a:srgbClr val="183047"/>
                </a:solidFill>
                <a:latin typeface="Segoe UI"/>
                <a:ea typeface="Segoe UI"/>
                <a:cs typeface="Segoe UI"/>
              </a:rPr>
              <a:t>expected-versus-observed QC rows. Check required variables, subject identifiers, permitted treatment values, population</a:t>
            </a:r>
          </a:p>
          <a:p>
            <a:pPr algn="l">
              <a:lnSpc>
                <a:spcPct val="110000"/>
              </a:lnSpc>
              <a:buNone/>
              <a:defRPr sz="2325" b="0">
                <a:solidFill>
                  <a:srgbClr val="183047"/>
                </a:solidFill>
                <a:latin typeface="Segoe UI"/>
                <a:ea typeface="Segoe UI"/>
                <a:cs typeface="Segoe UI"/>
              </a:defRPr>
            </a:pPr>
            <a:r>
              <a:rPr sz="2325" b="0">
                <a:solidFill>
                  <a:srgbClr val="183047"/>
                </a:solidFill>
                <a:latin typeface="Segoe UI"/>
                <a:ea typeface="Segoe UI"/>
                <a:cs typeface="Segoe UI"/>
              </a:rPr>
              <a:t>selection, endpoint records, assessment timing, and coverage according to the documented rules. Summarize failed terms</a:t>
            </a:r>
          </a:p>
          <a:p>
            <a:pPr algn="l">
              <a:lnSpc>
                <a:spcPct val="110000"/>
              </a:lnSpc>
              <a:buNone/>
              <a:defRPr sz="2325" b="0">
                <a:solidFill>
                  <a:srgbClr val="183047"/>
                </a:solidFill>
                <a:latin typeface="Segoe UI"/>
                <a:ea typeface="Segoe UI"/>
                <a:cs typeface="Segoe UI"/>
              </a:defRPr>
            </a:pPr>
            <a:r>
              <a:rPr sz="2325" b="0">
                <a:solidFill>
                  <a:srgbClr val="183047"/>
                </a:solidFill>
                <a:latin typeface="Segoe UI"/>
                <a:ea typeface="Segoe UI"/>
                <a:cs typeface="Segoe UI"/>
              </a:rPr>
              <a:t>and status counts, returning BLOCK when a required check fails and ALLOW when the requirements pass.</a:t>
            </a:r>
          </a:p>
        </p:txBody>
      </p:sp>
      <p:sp>
        <p:nvSpPr>
          <p:cNvPr id="13" name="roundRect-013">
            <a:extLst>
              <a:ext uri="{FF2B5EF4-FFF2-40B4-BE49-F238E27FC236}">
                <a16:creationId xmlns:a16="http://schemas.microsoft.com/office/drawing/2014/main" id="{3EAA1116-02DC-44FE-B310-73F5B253C0EF}"/>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29A4B1B3-7C5B-4EB3-8254-7B3BE267B0EC}"/>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839F3F23-DE04-41A8-8164-F26B264686DE}"/>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38F2AEC2-5E6B-42C1-B5D8-1A3C694ED44F}"/>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Derive checks from the contract requirements">
            <a:extLst>
              <a:ext uri="{FF2B5EF4-FFF2-40B4-BE49-F238E27FC236}">
                <a16:creationId xmlns:a16="http://schemas.microsoft.com/office/drawing/2014/main" id="{2E9E22FD-1CF4-4236-8E61-4054B31AEDCC}"/>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Derive checks from the contract requirements</a:t>
            </a:r>
          </a:p>
        </p:txBody>
      </p:sp>
      <p:sp>
        <p:nvSpPr>
          <p:cNvPr id="18" name="ellipse-018">
            <a:extLst>
              <a:ext uri="{FF2B5EF4-FFF2-40B4-BE49-F238E27FC236}">
                <a16:creationId xmlns:a16="http://schemas.microsoft.com/office/drawing/2014/main" id="{7F09490C-9111-4A39-ACF0-B5EE63983B8C}"/>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Return expected and observed values per row">
            <a:extLst>
              <a:ext uri="{FF2B5EF4-FFF2-40B4-BE49-F238E27FC236}">
                <a16:creationId xmlns:a16="http://schemas.microsoft.com/office/drawing/2014/main" id="{E99CEAE6-31F0-497B-9790-057D5C6E853E}"/>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Return expected and observed values per row</a:t>
            </a:r>
          </a:p>
        </p:txBody>
      </p:sp>
      <p:sp>
        <p:nvSpPr>
          <p:cNvPr id="20" name="ellipse-020">
            <a:extLst>
              <a:ext uri="{FF2B5EF4-FFF2-40B4-BE49-F238E27FC236}">
                <a16:creationId xmlns:a16="http://schemas.microsoft.com/office/drawing/2014/main" id="{7E3D8E23-1373-42DA-A11D-C8578C2F85EF}"/>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Write the table, decision, and input paths">
            <a:extLst>
              <a:ext uri="{FF2B5EF4-FFF2-40B4-BE49-F238E27FC236}">
                <a16:creationId xmlns:a16="http://schemas.microsoft.com/office/drawing/2014/main" id="{A4F9B996-303F-410B-BF97-4C1882023D9C}"/>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Write the table, decision, and input paths</a:t>
            </a:r>
          </a:p>
        </p:txBody>
      </p:sp>
      <p:sp>
        <p:nvSpPr>
          <p:cNvPr id="22" name="text-022 INSPECT AFTER GENERATION">
            <a:extLst>
              <a:ext uri="{FF2B5EF4-FFF2-40B4-BE49-F238E27FC236}">
                <a16:creationId xmlns:a16="http://schemas.microsoft.com/office/drawing/2014/main" id="{16BF4742-ABF1-43EC-9736-A6E3239175B3}"/>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Expected values and record-selection rules come from the con">
            <a:extLst>
              <a:ext uri="{FF2B5EF4-FFF2-40B4-BE49-F238E27FC236}">
                <a16:creationId xmlns:a16="http://schemas.microsoft.com/office/drawing/2014/main" id="{A0B47C8F-AF9C-429E-9306-FD9C9CBCC30F}"/>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Expected values and record-selection rules come from</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contract; failed requirements appear in both the</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table and summary.</a:t>
            </a:r>
          </a:p>
        </p:txBody>
      </p:sp>
    </p:spTree>
    <p:extLst>
      <p:ext uri="{BB962C8B-B14F-4D97-AF65-F5344CB8AC3E}">
        <p14:creationId xmlns:p14="http://schemas.microsoft.com/office/powerpoint/2010/main" val="412736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5" name="rect-001">
            <a:extLst>
              <a:ext uri="{FF2B5EF4-FFF2-40B4-BE49-F238E27FC236}">
                <a16:creationId xmlns:a16="http://schemas.microsoft.com/office/drawing/2014/main" id="{DF1A9986-A1B1-4828-9C0C-1AEC15738F6C}"/>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F95B10C0-2554-4958-84E7-EF7146E813D3}"/>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GATE INSIDE THE ANALYSIS HELPER">
            <a:extLst>
              <a:ext uri="{FF2B5EF4-FFF2-40B4-BE49-F238E27FC236}">
                <a16:creationId xmlns:a16="http://schemas.microsoft.com/office/drawing/2014/main" id="{05B808CE-4061-4B5E-B03D-573C39EECE43}"/>
              </a:ext>
            </a:extLst>
          </p:cNvPr>
          <p:cNvSpPr>
            <a:spLocks noGrp="1"/>
          </p:cNvSpPr>
          <p:nvPr/>
        </p:nvSpPr>
        <p:spPr>
          <a:xfrm>
            <a:off x="781050" y="1042290"/>
            <a:ext cx="3828752"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GATE INSIDE THE ANALYSIS HELPER</a:t>
            </a:r>
          </a:p>
        </p:txBody>
      </p:sp>
      <p:sp>
        <p:nvSpPr>
          <p:cNvPr id="5" name="text-005 Enforce the pre-analysis gate">
            <a:extLst>
              <a:ext uri="{FF2B5EF4-FFF2-40B4-BE49-F238E27FC236}">
                <a16:creationId xmlns:a16="http://schemas.microsoft.com/office/drawing/2014/main" id="{0B4C32BD-AF9A-484B-B203-DE97EEA45A1C}"/>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Enforce the pre-analysis gate</a:t>
            </a:r>
          </a:p>
        </p:txBody>
      </p:sp>
      <p:sp>
        <p:nvSpPr>
          <p:cNvPr id="6" name="roundRect-006">
            <a:extLst>
              <a:ext uri="{FF2B5EF4-FFF2-40B4-BE49-F238E27FC236}">
                <a16:creationId xmlns:a16="http://schemas.microsoft.com/office/drawing/2014/main" id="{B94B80C5-7AD7-4F75-9F8D-EE5001E0B376}"/>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8">
            <a:extLst>
              <a:ext uri="{FF2B5EF4-FFF2-40B4-BE49-F238E27FC236}">
                <a16:creationId xmlns:a16="http://schemas.microsoft.com/office/drawing/2014/main" id="{46DF0B33-F488-4CE6-AA08-6C28D0136886}"/>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08</a:t>
            </a:r>
          </a:p>
        </p:txBody>
      </p:sp>
      <p:sp>
        <p:nvSpPr>
          <p:cNvPr id="8" name="line-008-1">
            <a:extLst>
              <a:ext uri="{FF2B5EF4-FFF2-40B4-BE49-F238E27FC236}">
                <a16:creationId xmlns:a16="http://schemas.microsoft.com/office/drawing/2014/main" id="{521E44B8-BBF3-483B-847F-34D2D0D34B6A}"/>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8 / 13  •  Component responsibilities">
            <a:extLst>
              <a:ext uri="{FF2B5EF4-FFF2-40B4-BE49-F238E27FC236}">
                <a16:creationId xmlns:a16="http://schemas.microsoft.com/office/drawing/2014/main" id="{D3402BD5-0C23-4AF0-837F-9D3D28BB88D1}"/>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08 / 13  •  Component responsibilities</a:t>
            </a:r>
          </a:p>
        </p:txBody>
      </p:sp>
      <p:sp>
        <p:nvSpPr>
          <p:cNvPr id="10" name="roundRect-010">
            <a:extLst>
              <a:ext uri="{FF2B5EF4-FFF2-40B4-BE49-F238E27FC236}">
                <a16:creationId xmlns:a16="http://schemas.microsoft.com/office/drawing/2014/main" id="{A4AD449F-4932-4A47-A4CE-32FEF6E5B8A3}"/>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7AA4C8A3-68C6-4C7A-B272-FE202EBF06F5}"/>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Stop the analysis helper before dataset construction and fit">
            <a:extLst>
              <a:ext uri="{FF2B5EF4-FFF2-40B4-BE49-F238E27FC236}">
                <a16:creationId xmlns:a16="http://schemas.microsoft.com/office/drawing/2014/main" id="{5392AC2A-E1A6-4286-908D-43AB1DC72E77}"/>
              </a:ext>
            </a:extLst>
          </p:cNvPr>
          <p:cNvSpPr>
            <a:spLocks noGrp="1"/>
          </p:cNvSpPr>
          <p:nvPr/>
        </p:nvSpPr>
        <p:spPr>
          <a:xfrm>
            <a:off x="1104900" y="3024546"/>
            <a:ext cx="7143750" cy="1491615"/>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Stop the analysis helper before dataset</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construction and fitting when the QC</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decision is not ALLOW.</a:t>
            </a:r>
          </a:p>
        </p:txBody>
      </p:sp>
      <p:sp>
        <p:nvSpPr>
          <p:cNvPr id="13" name="text-013 INPUTS">
            <a:extLst>
              <a:ext uri="{FF2B5EF4-FFF2-40B4-BE49-F238E27FC236}">
                <a16:creationId xmlns:a16="http://schemas.microsoft.com/office/drawing/2014/main" id="{C863A990-243E-4E8F-B27D-86422565B76A}"/>
              </a:ext>
            </a:extLst>
          </p:cNvPr>
          <p:cNvSpPr>
            <a:spLocks noGrp="1"/>
          </p:cNvSpPr>
          <p:nvPr/>
        </p:nvSpPr>
        <p:spPr>
          <a:xfrm>
            <a:off x="1104900" y="4661188"/>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9F8B12C0-34C0-44AB-9EB2-ED7F9BF80F19}"/>
              </a:ext>
            </a:extLst>
          </p:cNvPr>
          <p:cNvSpPr>
            <a:spLocks noGrp="1"/>
          </p:cNvSpPr>
          <p:nvPr/>
        </p:nvSpPr>
        <p:spPr>
          <a:xfrm>
            <a:off x="1104900" y="5179695"/>
            <a:ext cx="76200" cy="76200"/>
          </a:xfrm>
          <a:prstGeom prst="ellipse">
            <a:avLst/>
          </a:prstGeom>
          <a:solidFill>
            <a:srgbClr val="137F7B"/>
          </a:solidFill>
          <a:ln w="0">
            <a:noFill/>
          </a:ln>
        </p:spPr>
        <p:txBody>
          <a:bodyPr/>
          <a:lstStyle/>
          <a:p>
            <a:endParaRPr lang="en-US"/>
          </a:p>
        </p:txBody>
      </p:sp>
      <p:sp>
        <p:nvSpPr>
          <p:cNvPr id="15" name="text-015 data_checker_summary.json">
            <a:extLst>
              <a:ext uri="{FF2B5EF4-FFF2-40B4-BE49-F238E27FC236}">
                <a16:creationId xmlns:a16="http://schemas.microsoft.com/office/drawing/2014/main" id="{F2600289-2873-4AFF-8093-3C3A86DD0856}"/>
              </a:ext>
            </a:extLst>
          </p:cNvPr>
          <p:cNvSpPr>
            <a:spLocks noGrp="1"/>
          </p:cNvSpPr>
          <p:nvPr/>
        </p:nvSpPr>
        <p:spPr>
          <a:xfrm>
            <a:off x="1343025" y="5036976"/>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data_checker_summary.json</a:t>
            </a:r>
          </a:p>
        </p:txBody>
      </p:sp>
      <p:sp>
        <p:nvSpPr>
          <p:cNvPr id="16" name="ellipse-016">
            <a:extLst>
              <a:ext uri="{FF2B5EF4-FFF2-40B4-BE49-F238E27FC236}">
                <a16:creationId xmlns:a16="http://schemas.microsoft.com/office/drawing/2014/main" id="{FB999AE9-CB2D-4CF8-B894-A35F975AAED3}"/>
              </a:ext>
            </a:extLst>
          </p:cNvPr>
          <p:cNvSpPr>
            <a:spLocks noGrp="1"/>
          </p:cNvSpPr>
          <p:nvPr/>
        </p:nvSpPr>
        <p:spPr>
          <a:xfrm>
            <a:off x="1104900" y="5685949"/>
            <a:ext cx="76200" cy="76200"/>
          </a:xfrm>
          <a:prstGeom prst="ellipse">
            <a:avLst/>
          </a:prstGeom>
          <a:solidFill>
            <a:srgbClr val="137F7B"/>
          </a:solidFill>
          <a:ln w="0">
            <a:noFill/>
          </a:ln>
        </p:spPr>
        <p:txBody>
          <a:bodyPr/>
          <a:lstStyle/>
          <a:p>
            <a:endParaRPr lang="en-US"/>
          </a:p>
        </p:txBody>
      </p:sp>
      <p:sp>
        <p:nvSpPr>
          <p:cNvPr id="17" name="text-017 Contract and selected DataFrames">
            <a:extLst>
              <a:ext uri="{FF2B5EF4-FFF2-40B4-BE49-F238E27FC236}">
                <a16:creationId xmlns:a16="http://schemas.microsoft.com/office/drawing/2014/main" id="{99BD1AF7-1C47-42DF-8096-B6C0A52355E8}"/>
              </a:ext>
            </a:extLst>
          </p:cNvPr>
          <p:cNvSpPr>
            <a:spLocks noGrp="1"/>
          </p:cNvSpPr>
          <p:nvPr/>
        </p:nvSpPr>
        <p:spPr>
          <a:xfrm>
            <a:off x="1343025" y="5543230"/>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Contract and selected DataFrames</a:t>
            </a:r>
          </a:p>
        </p:txBody>
      </p:sp>
      <p:sp>
        <p:nvSpPr>
          <p:cNvPr id="18" name="text-018 WHAT TO BUILD">
            <a:extLst>
              <a:ext uri="{FF2B5EF4-FFF2-40B4-BE49-F238E27FC236}">
                <a16:creationId xmlns:a16="http://schemas.microsoft.com/office/drawing/2014/main" id="{85962D67-EA59-41C8-80C8-60484A47D04F}"/>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9B6EECEE-4423-4613-ACD3-2E3C4AE30E97}"/>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require_qc_allow()">
            <a:extLst>
              <a:ext uri="{FF2B5EF4-FFF2-40B4-BE49-F238E27FC236}">
                <a16:creationId xmlns:a16="http://schemas.microsoft.com/office/drawing/2014/main" id="{9F94C6AF-493A-4211-9337-1DB1FC5C09CE}"/>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require_qc_allow()</a:t>
            </a:r>
          </a:p>
        </p:txBody>
      </p:sp>
      <p:sp>
        <p:nvSpPr>
          <p:cNvPr id="21" name="ellipse-021">
            <a:extLst>
              <a:ext uri="{FF2B5EF4-FFF2-40B4-BE49-F238E27FC236}">
                <a16:creationId xmlns:a16="http://schemas.microsoft.com/office/drawing/2014/main" id="{07D75FC1-814F-4A45-959D-9EA85EA44FD6}"/>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A BLOCKED result or permission to continue">
            <a:extLst>
              <a:ext uri="{FF2B5EF4-FFF2-40B4-BE49-F238E27FC236}">
                <a16:creationId xmlns:a16="http://schemas.microsoft.com/office/drawing/2014/main" id="{F12754EB-EC04-45BA-B820-30BB242F4707}"/>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 BLOCKED result or permission to continue</a:t>
            </a:r>
          </a:p>
        </p:txBody>
      </p:sp>
      <p:sp>
        <p:nvSpPr>
          <p:cNvPr id="23" name="text-023 FUNCTIONS / INTERFACES">
            <a:extLst>
              <a:ext uri="{FF2B5EF4-FFF2-40B4-BE49-F238E27FC236}">
                <a16:creationId xmlns:a16="http://schemas.microsoft.com/office/drawing/2014/main" id="{AE2438F6-FA2D-4597-BD54-2FFCA344E65A}"/>
              </a:ext>
            </a:extLst>
          </p:cNvPr>
          <p:cNvSpPr>
            <a:spLocks noGrp="1"/>
          </p:cNvSpPr>
          <p:nvPr/>
        </p:nvSpPr>
        <p:spPr>
          <a:xfrm>
            <a:off x="9220200" y="4580226"/>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4" name="text-024 require_qc_allow run_ancova_if_qc_passes">
            <a:extLst>
              <a:ext uri="{FF2B5EF4-FFF2-40B4-BE49-F238E27FC236}">
                <a16:creationId xmlns:a16="http://schemas.microsoft.com/office/drawing/2014/main" id="{1100C31C-3389-4C72-AF03-C10A799DDE61}"/>
              </a:ext>
            </a:extLst>
          </p:cNvPr>
          <p:cNvSpPr>
            <a:spLocks noGrp="1"/>
          </p:cNvSpPr>
          <p:nvPr/>
        </p:nvSpPr>
        <p:spPr>
          <a:xfrm>
            <a:off x="9220200" y="4992037"/>
            <a:ext cx="7905750" cy="66294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require_qc_allow</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run_ancova_if_qc_passes</a:t>
            </a:r>
          </a:p>
        </p:txBody>
      </p:sp>
    </p:spTree>
    <p:extLst>
      <p:ext uri="{BB962C8B-B14F-4D97-AF65-F5344CB8AC3E}">
        <p14:creationId xmlns:p14="http://schemas.microsoft.com/office/powerpoint/2010/main" val="1860139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1910BCAD-59EE-4030-B810-1DF9A8ADFDC2}"/>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03538C13-FB86-426F-9DA1-01D3D0DA87FB}"/>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GATE INSIDE THE ANALYSIS HELPER">
            <a:extLst>
              <a:ext uri="{FF2B5EF4-FFF2-40B4-BE49-F238E27FC236}">
                <a16:creationId xmlns:a16="http://schemas.microsoft.com/office/drawing/2014/main" id="{FB6CB991-957D-4C08-8384-413BFCA733C8}"/>
              </a:ext>
            </a:extLst>
          </p:cNvPr>
          <p:cNvSpPr>
            <a:spLocks noGrp="1"/>
          </p:cNvSpPr>
          <p:nvPr/>
        </p:nvSpPr>
        <p:spPr>
          <a:xfrm>
            <a:off x="781050" y="1042290"/>
            <a:ext cx="3828752"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GATE INSIDE THE ANALYSIS HELPER</a:t>
            </a:r>
          </a:p>
        </p:txBody>
      </p:sp>
      <p:sp>
        <p:nvSpPr>
          <p:cNvPr id="5" name="text-005 Enforce the pre-analysis gate">
            <a:extLst>
              <a:ext uri="{FF2B5EF4-FFF2-40B4-BE49-F238E27FC236}">
                <a16:creationId xmlns:a16="http://schemas.microsoft.com/office/drawing/2014/main" id="{FC8F3312-E525-40EE-BF50-36DAAB6173FC}"/>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Enforce the pre-analysis gate</a:t>
            </a:r>
          </a:p>
        </p:txBody>
      </p:sp>
      <p:sp>
        <p:nvSpPr>
          <p:cNvPr id="6" name="roundRect-006">
            <a:extLst>
              <a:ext uri="{FF2B5EF4-FFF2-40B4-BE49-F238E27FC236}">
                <a16:creationId xmlns:a16="http://schemas.microsoft.com/office/drawing/2014/main" id="{D84F8355-3E02-4B12-A698-BFAA358CDA43}"/>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8">
            <a:extLst>
              <a:ext uri="{FF2B5EF4-FFF2-40B4-BE49-F238E27FC236}">
                <a16:creationId xmlns:a16="http://schemas.microsoft.com/office/drawing/2014/main" id="{885DB595-AADA-465F-B23B-FE1B123D8EFB}"/>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08</a:t>
            </a:r>
          </a:p>
        </p:txBody>
      </p:sp>
      <p:sp>
        <p:nvSpPr>
          <p:cNvPr id="8" name="line-008-1">
            <a:extLst>
              <a:ext uri="{FF2B5EF4-FFF2-40B4-BE49-F238E27FC236}">
                <a16:creationId xmlns:a16="http://schemas.microsoft.com/office/drawing/2014/main" id="{068FAABC-9905-4000-ABDE-3BA19D47F8B0}"/>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8-pre-analysis-gate.txt">
            <a:extLst>
              <a:ext uri="{FF2B5EF4-FFF2-40B4-BE49-F238E27FC236}">
                <a16:creationId xmlns:a16="http://schemas.microsoft.com/office/drawing/2014/main" id="{C13076DC-0E74-4373-A1DD-4FDC940862D2}"/>
              </a:ext>
            </a:extLst>
          </p:cNvPr>
          <p:cNvSpPr>
            <a:spLocks noGrp="1"/>
          </p:cNvSpPr>
          <p:nvPr/>
        </p:nvSpPr>
        <p:spPr>
          <a:xfrm>
            <a:off x="781050" y="8615317"/>
            <a:ext cx="5514975"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prompts/08-pre-analysis-gate.txt</a:t>
            </a:r>
          </a:p>
        </p:txBody>
      </p:sp>
      <p:sp>
        <p:nvSpPr>
          <p:cNvPr id="10" name="roundRect-010">
            <a:extLst>
              <a:ext uri="{FF2B5EF4-FFF2-40B4-BE49-F238E27FC236}">
                <a16:creationId xmlns:a16="http://schemas.microsoft.com/office/drawing/2014/main" id="{A8EAF561-5303-4D53-94F4-07C1DE77AB3A}"/>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9194DCEC-8950-4DCA-B07F-8E87FBDDB0AC}"/>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Build a pre-analysis gate that reads the readiness decision ">
            <a:extLst>
              <a:ext uri="{FF2B5EF4-FFF2-40B4-BE49-F238E27FC236}">
                <a16:creationId xmlns:a16="http://schemas.microsoft.com/office/drawing/2014/main" id="{08566301-90F7-4EA9-A3FA-52C667C4315E}"/>
              </a:ext>
            </a:extLst>
          </p:cNvPr>
          <p:cNvSpPr>
            <a:spLocks noGrp="1"/>
          </p:cNvSpPr>
          <p:nvPr/>
        </p:nvSpPr>
        <p:spPr>
          <a:xfrm>
            <a:off x="1123950" y="3390549"/>
            <a:ext cx="16097250" cy="1298448"/>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Build a pre-analysis gate that reads the readiness decision before an analysis tool constructs model data or fits a</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model. Continue only when the decision is ALLOW. Otherwise, return a BLOCKED result with analysis_executed set to</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false, the failed requirements, and a reason that can be reported to the user.</a:t>
            </a:r>
          </a:p>
        </p:txBody>
      </p:sp>
      <p:sp>
        <p:nvSpPr>
          <p:cNvPr id="13" name="roundRect-013">
            <a:extLst>
              <a:ext uri="{FF2B5EF4-FFF2-40B4-BE49-F238E27FC236}">
                <a16:creationId xmlns:a16="http://schemas.microsoft.com/office/drawing/2014/main" id="{392C0A2B-DABB-4F0C-BD8F-320DF691438C}"/>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0917AE80-A55A-40E5-BBD8-05D777097B2D}"/>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DFE0660B-5D44-49A9-811E-5531B832E33E}"/>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03C87081-D8FE-42EA-9096-ED337E233BE4}"/>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Read the readiness decision">
            <a:extLst>
              <a:ext uri="{FF2B5EF4-FFF2-40B4-BE49-F238E27FC236}">
                <a16:creationId xmlns:a16="http://schemas.microsoft.com/office/drawing/2014/main" id="{CC8D6675-EC05-41EC-876E-44B617F24068}"/>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Read the readiness decision</a:t>
            </a:r>
          </a:p>
        </p:txBody>
      </p:sp>
      <p:sp>
        <p:nvSpPr>
          <p:cNvPr id="18" name="ellipse-018">
            <a:extLst>
              <a:ext uri="{FF2B5EF4-FFF2-40B4-BE49-F238E27FC236}">
                <a16:creationId xmlns:a16="http://schemas.microsoft.com/office/drawing/2014/main" id="{79CF9D38-C91B-4479-B83E-FD04B6F6366A}"/>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Return failed requirements when blocked">
            <a:extLst>
              <a:ext uri="{FF2B5EF4-FFF2-40B4-BE49-F238E27FC236}">
                <a16:creationId xmlns:a16="http://schemas.microsoft.com/office/drawing/2014/main" id="{74F5E679-1790-44D9-89D0-80F7F5D266E5}"/>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Return failed requirements when blocked</a:t>
            </a:r>
          </a:p>
        </p:txBody>
      </p:sp>
      <p:sp>
        <p:nvSpPr>
          <p:cNvPr id="20" name="ellipse-020">
            <a:extLst>
              <a:ext uri="{FF2B5EF4-FFF2-40B4-BE49-F238E27FC236}">
                <a16:creationId xmlns:a16="http://schemas.microsoft.com/office/drawing/2014/main" id="{6A13BB68-C997-4389-A4CF-1BCA92B5B084}"/>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Check permission before model work begins">
            <a:extLst>
              <a:ext uri="{FF2B5EF4-FFF2-40B4-BE49-F238E27FC236}">
                <a16:creationId xmlns:a16="http://schemas.microsoft.com/office/drawing/2014/main" id="{AC4050C6-987E-4C82-826B-E7944EBA3BA6}"/>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Check permission before model work begins</a:t>
            </a:r>
          </a:p>
        </p:txBody>
      </p:sp>
      <p:sp>
        <p:nvSpPr>
          <p:cNvPr id="22" name="text-022 INSPECT AFTER GENERATION">
            <a:extLst>
              <a:ext uri="{FF2B5EF4-FFF2-40B4-BE49-F238E27FC236}">
                <a16:creationId xmlns:a16="http://schemas.microsoft.com/office/drawing/2014/main" id="{33DC5113-A0A5-40CE-868B-F9FB734A08A6}"/>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A non-ALLOW decision returns a blocked result before dataset">
            <a:extLst>
              <a:ext uri="{FF2B5EF4-FFF2-40B4-BE49-F238E27FC236}">
                <a16:creationId xmlns:a16="http://schemas.microsoft.com/office/drawing/2014/main" id="{F04B249B-486D-4B23-A00B-00EFA1FEC657}"/>
              </a:ext>
            </a:extLst>
          </p:cNvPr>
          <p:cNvSpPr>
            <a:spLocks noGrp="1"/>
          </p:cNvSpPr>
          <p:nvPr/>
        </p:nvSpPr>
        <p:spPr>
          <a:xfrm>
            <a:off x="10629900" y="6182533"/>
            <a:ext cx="6572250" cy="800100"/>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 non-ALLOW decision returns a blocked result before</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dataset construction or fitting begins.</a:t>
            </a:r>
          </a:p>
        </p:txBody>
      </p:sp>
    </p:spTree>
    <p:extLst>
      <p:ext uri="{BB962C8B-B14F-4D97-AF65-F5344CB8AC3E}">
        <p14:creationId xmlns:p14="http://schemas.microsoft.com/office/powerpoint/2010/main" val="1462077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5" name="rect-001">
            <a:extLst>
              <a:ext uri="{FF2B5EF4-FFF2-40B4-BE49-F238E27FC236}">
                <a16:creationId xmlns:a16="http://schemas.microsoft.com/office/drawing/2014/main" id="{22DD3F8D-C16B-4FFA-93BD-6F79DA55EC46}"/>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8F1C5A28-AB31-4EF0-B846-FCBE1357D1CE}"/>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NUMERICAL HELPER">
            <a:extLst>
              <a:ext uri="{FF2B5EF4-FFF2-40B4-BE49-F238E27FC236}">
                <a16:creationId xmlns:a16="http://schemas.microsoft.com/office/drawing/2014/main" id="{A38E184A-4E0B-4AC2-9C03-50B9B8F6A551}"/>
              </a:ext>
            </a:extLst>
          </p:cNvPr>
          <p:cNvSpPr>
            <a:spLocks noGrp="1"/>
          </p:cNvSpPr>
          <p:nvPr/>
        </p:nvSpPr>
        <p:spPr>
          <a:xfrm>
            <a:off x="781050" y="1042290"/>
            <a:ext cx="2228850"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NUMERICAL HELPER</a:t>
            </a:r>
          </a:p>
        </p:txBody>
      </p:sp>
      <p:sp>
        <p:nvSpPr>
          <p:cNvPr id="5" name="text-005 Build the ANCOVA helper">
            <a:extLst>
              <a:ext uri="{FF2B5EF4-FFF2-40B4-BE49-F238E27FC236}">
                <a16:creationId xmlns:a16="http://schemas.microsoft.com/office/drawing/2014/main" id="{EF450796-610A-4899-89BE-275C30745752}"/>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the ANCOVA helper</a:t>
            </a:r>
          </a:p>
        </p:txBody>
      </p:sp>
      <p:sp>
        <p:nvSpPr>
          <p:cNvPr id="6" name="roundRect-006">
            <a:extLst>
              <a:ext uri="{FF2B5EF4-FFF2-40B4-BE49-F238E27FC236}">
                <a16:creationId xmlns:a16="http://schemas.microsoft.com/office/drawing/2014/main" id="{063EDD00-B714-4EBA-8342-B4A0F4103FB8}"/>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9">
            <a:extLst>
              <a:ext uri="{FF2B5EF4-FFF2-40B4-BE49-F238E27FC236}">
                <a16:creationId xmlns:a16="http://schemas.microsoft.com/office/drawing/2014/main" id="{15DE4CD5-584F-43B7-AAD8-4823EB05E5FF}"/>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09</a:t>
            </a:r>
          </a:p>
        </p:txBody>
      </p:sp>
      <p:sp>
        <p:nvSpPr>
          <p:cNvPr id="8" name="line-008-1">
            <a:extLst>
              <a:ext uri="{FF2B5EF4-FFF2-40B4-BE49-F238E27FC236}">
                <a16:creationId xmlns:a16="http://schemas.microsoft.com/office/drawing/2014/main" id="{C134F9E6-DBFD-448B-8FB0-6A49CB67B4DA}"/>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09 / 13  •  Component responsibilities">
            <a:extLst>
              <a:ext uri="{FF2B5EF4-FFF2-40B4-BE49-F238E27FC236}">
                <a16:creationId xmlns:a16="http://schemas.microsoft.com/office/drawing/2014/main" id="{15323D82-6645-4C1F-A6F2-A50135EF357D}"/>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09 / 13  •  Component responsibilities</a:t>
            </a:r>
          </a:p>
        </p:txBody>
      </p:sp>
      <p:sp>
        <p:nvSpPr>
          <p:cNvPr id="10" name="roundRect-010">
            <a:extLst>
              <a:ext uri="{FF2B5EF4-FFF2-40B4-BE49-F238E27FC236}">
                <a16:creationId xmlns:a16="http://schemas.microsoft.com/office/drawing/2014/main" id="{A3BCAC69-DBEB-41E8-BAD1-32E6FDEA7D4A}"/>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7EF97B6F-91EA-4825-B59F-20223917A3CE}"/>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Select the analysis records and estimate the baseline-adjust">
            <a:extLst>
              <a:ext uri="{FF2B5EF4-FFF2-40B4-BE49-F238E27FC236}">
                <a16:creationId xmlns:a16="http://schemas.microsoft.com/office/drawing/2014/main" id="{80F2FBAD-DBFA-4949-8E8E-300E06F98B33}"/>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Select the analysis records and estimate the</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baseline-adjusted treatment difference.</a:t>
            </a:r>
          </a:p>
        </p:txBody>
      </p:sp>
      <p:sp>
        <p:nvSpPr>
          <p:cNvPr id="13" name="text-013 INPUTS">
            <a:extLst>
              <a:ext uri="{FF2B5EF4-FFF2-40B4-BE49-F238E27FC236}">
                <a16:creationId xmlns:a16="http://schemas.microsoft.com/office/drawing/2014/main" id="{E1611525-B4F5-4491-9974-247F8F9122A6}"/>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95E3F306-E953-4DFE-95DF-6A905B7303B2}"/>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Contract and ALLOW summary">
            <a:extLst>
              <a:ext uri="{FF2B5EF4-FFF2-40B4-BE49-F238E27FC236}">
                <a16:creationId xmlns:a16="http://schemas.microsoft.com/office/drawing/2014/main" id="{1A8714D5-D2E2-46ED-844C-8424C87AF5E8}"/>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Contract and ALLOW summary</a:t>
            </a:r>
          </a:p>
        </p:txBody>
      </p:sp>
      <p:sp>
        <p:nvSpPr>
          <p:cNvPr id="16" name="ellipse-016">
            <a:extLst>
              <a:ext uri="{FF2B5EF4-FFF2-40B4-BE49-F238E27FC236}">
                <a16:creationId xmlns:a16="http://schemas.microsoft.com/office/drawing/2014/main" id="{A47F8DA2-FE89-44F2-B280-E9807A5BF9C3}"/>
              </a:ext>
            </a:extLst>
          </p:cNvPr>
          <p:cNvSpPr>
            <a:spLocks noGrp="1"/>
          </p:cNvSpPr>
          <p:nvPr/>
        </p:nvSpPr>
        <p:spPr>
          <a:xfrm>
            <a:off x="1104900" y="5223034"/>
            <a:ext cx="76200" cy="76200"/>
          </a:xfrm>
          <a:prstGeom prst="ellipse">
            <a:avLst/>
          </a:prstGeom>
          <a:solidFill>
            <a:srgbClr val="137F7B"/>
          </a:solidFill>
          <a:ln w="0">
            <a:noFill/>
          </a:ln>
        </p:spPr>
        <p:txBody>
          <a:bodyPr/>
          <a:lstStyle/>
          <a:p>
            <a:endParaRPr lang="en-US"/>
          </a:p>
        </p:txBody>
      </p:sp>
      <p:sp>
        <p:nvSpPr>
          <p:cNvPr id="17" name="text-017 Subject and efficacy DataFrames">
            <a:extLst>
              <a:ext uri="{FF2B5EF4-FFF2-40B4-BE49-F238E27FC236}">
                <a16:creationId xmlns:a16="http://schemas.microsoft.com/office/drawing/2014/main" id="{8E584ED6-2C3B-4F3C-B0A5-C69C638F62E0}"/>
              </a:ext>
            </a:extLst>
          </p:cNvPr>
          <p:cNvSpPr>
            <a:spLocks noGrp="1"/>
          </p:cNvSpPr>
          <p:nvPr/>
        </p:nvSpPr>
        <p:spPr>
          <a:xfrm>
            <a:off x="1343025" y="5080315"/>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Subject and efficacy DataFrames</a:t>
            </a:r>
          </a:p>
        </p:txBody>
      </p:sp>
      <p:sp>
        <p:nvSpPr>
          <p:cNvPr id="18" name="text-018 WHAT TO BUILD">
            <a:extLst>
              <a:ext uri="{FF2B5EF4-FFF2-40B4-BE49-F238E27FC236}">
                <a16:creationId xmlns:a16="http://schemas.microsoft.com/office/drawing/2014/main" id="{FEDE7B8F-561A-4CE9-B779-9613152E732F}"/>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1D8CF04C-B010-4C74-A835-17579492620A}"/>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ancova_helpers.py">
            <a:extLst>
              <a:ext uri="{FF2B5EF4-FFF2-40B4-BE49-F238E27FC236}">
                <a16:creationId xmlns:a16="http://schemas.microsoft.com/office/drawing/2014/main" id="{21278130-DEA1-4AA3-87C7-933C11151939}"/>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ancova_helpers.py</a:t>
            </a:r>
          </a:p>
        </p:txBody>
      </p:sp>
      <p:sp>
        <p:nvSpPr>
          <p:cNvPr id="21" name="ellipse-021">
            <a:extLst>
              <a:ext uri="{FF2B5EF4-FFF2-40B4-BE49-F238E27FC236}">
                <a16:creationId xmlns:a16="http://schemas.microsoft.com/office/drawing/2014/main" id="{614E3F51-9AC5-4186-9006-D9D57212C910}"/>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Analysis counts, estimate, interval, and p value">
            <a:extLst>
              <a:ext uri="{FF2B5EF4-FFF2-40B4-BE49-F238E27FC236}">
                <a16:creationId xmlns:a16="http://schemas.microsoft.com/office/drawing/2014/main" id="{9F5BD780-8729-4476-B146-D1D2807A8CB6}"/>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Analysis counts, estimate, interval, and p value</a:t>
            </a:r>
          </a:p>
        </p:txBody>
      </p:sp>
      <p:sp>
        <p:nvSpPr>
          <p:cNvPr id="23" name="text-023 FUNCTIONS / INTERFACES">
            <a:extLst>
              <a:ext uri="{FF2B5EF4-FFF2-40B4-BE49-F238E27FC236}">
                <a16:creationId xmlns:a16="http://schemas.microsoft.com/office/drawing/2014/main" id="{59451BE9-71AF-4846-BE52-E4689DC0F553}"/>
              </a:ext>
            </a:extLst>
          </p:cNvPr>
          <p:cNvSpPr>
            <a:spLocks noGrp="1"/>
          </p:cNvSpPr>
          <p:nvPr/>
        </p:nvSpPr>
        <p:spPr>
          <a:xfrm>
            <a:off x="9220200" y="4580226"/>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4" name="text-024 infer_contrast_labels build_analysis_dataset fit_ancova_ols ">
            <a:extLst>
              <a:ext uri="{FF2B5EF4-FFF2-40B4-BE49-F238E27FC236}">
                <a16:creationId xmlns:a16="http://schemas.microsoft.com/office/drawing/2014/main" id="{A8D6A844-2D11-4579-939A-98BA8A9D3450}"/>
              </a:ext>
            </a:extLst>
          </p:cNvPr>
          <p:cNvSpPr>
            <a:spLocks noGrp="1"/>
          </p:cNvSpPr>
          <p:nvPr/>
        </p:nvSpPr>
        <p:spPr>
          <a:xfrm>
            <a:off x="9220200" y="4992037"/>
            <a:ext cx="7905750" cy="125730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infer_contrast_labels</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build_analysis_dataset</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fit_ancova_ols</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run_ancova_if_qc_passes</a:t>
            </a:r>
          </a:p>
        </p:txBody>
      </p:sp>
    </p:spTree>
    <p:extLst>
      <p:ext uri="{BB962C8B-B14F-4D97-AF65-F5344CB8AC3E}">
        <p14:creationId xmlns:p14="http://schemas.microsoft.com/office/powerpoint/2010/main" val="548373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9AC0C172-DC89-4E53-A247-326C8069BE9F}"/>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3436FF84-5F43-4E0C-8322-FAD0602EDD95}"/>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NUMERICAL HELPER">
            <a:extLst>
              <a:ext uri="{FF2B5EF4-FFF2-40B4-BE49-F238E27FC236}">
                <a16:creationId xmlns:a16="http://schemas.microsoft.com/office/drawing/2014/main" id="{97BA8C9A-7CD0-44D4-862F-78ABFF8A9969}"/>
              </a:ext>
            </a:extLst>
          </p:cNvPr>
          <p:cNvSpPr>
            <a:spLocks noGrp="1"/>
          </p:cNvSpPr>
          <p:nvPr/>
        </p:nvSpPr>
        <p:spPr>
          <a:xfrm>
            <a:off x="781050" y="1042290"/>
            <a:ext cx="2228850"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NUMERICAL HELPER</a:t>
            </a:r>
          </a:p>
        </p:txBody>
      </p:sp>
      <p:sp>
        <p:nvSpPr>
          <p:cNvPr id="5" name="text-005 Build the ANCOVA helper">
            <a:extLst>
              <a:ext uri="{FF2B5EF4-FFF2-40B4-BE49-F238E27FC236}">
                <a16:creationId xmlns:a16="http://schemas.microsoft.com/office/drawing/2014/main" id="{A92D8EA4-B5EB-48C2-8C4B-98B1727B41FC}"/>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the ANCOVA helper</a:t>
            </a:r>
          </a:p>
        </p:txBody>
      </p:sp>
      <p:sp>
        <p:nvSpPr>
          <p:cNvPr id="6" name="roundRect-006">
            <a:extLst>
              <a:ext uri="{FF2B5EF4-FFF2-40B4-BE49-F238E27FC236}">
                <a16:creationId xmlns:a16="http://schemas.microsoft.com/office/drawing/2014/main" id="{4C4744E6-64BF-4005-909D-BA4CC25EC337}"/>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09">
            <a:extLst>
              <a:ext uri="{FF2B5EF4-FFF2-40B4-BE49-F238E27FC236}">
                <a16:creationId xmlns:a16="http://schemas.microsoft.com/office/drawing/2014/main" id="{0AF6BDB5-32A8-4055-9F74-5C1DBCAD572D}"/>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09</a:t>
            </a:r>
          </a:p>
        </p:txBody>
      </p:sp>
      <p:sp>
        <p:nvSpPr>
          <p:cNvPr id="8" name="line-008-1">
            <a:extLst>
              <a:ext uri="{FF2B5EF4-FFF2-40B4-BE49-F238E27FC236}">
                <a16:creationId xmlns:a16="http://schemas.microsoft.com/office/drawing/2014/main" id="{5CE86EAE-309E-4639-AAFD-7F8746A2B1A1}"/>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09-ancova-helper.txt">
            <a:extLst>
              <a:ext uri="{FF2B5EF4-FFF2-40B4-BE49-F238E27FC236}">
                <a16:creationId xmlns:a16="http://schemas.microsoft.com/office/drawing/2014/main" id="{349E4B1B-BC73-4ECE-BAD9-6873BBA88757}"/>
              </a:ext>
            </a:extLst>
          </p:cNvPr>
          <p:cNvSpPr>
            <a:spLocks noGrp="1"/>
          </p:cNvSpPr>
          <p:nvPr/>
        </p:nvSpPr>
        <p:spPr>
          <a:xfrm>
            <a:off x="781050" y="8615317"/>
            <a:ext cx="5247977"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prompts/09-ancova-helper.txt</a:t>
            </a:r>
          </a:p>
        </p:txBody>
      </p:sp>
      <p:sp>
        <p:nvSpPr>
          <p:cNvPr id="10" name="roundRect-010">
            <a:extLst>
              <a:ext uri="{FF2B5EF4-FFF2-40B4-BE49-F238E27FC236}">
                <a16:creationId xmlns:a16="http://schemas.microsoft.com/office/drawing/2014/main" id="{F0D044FD-C2D0-4362-B269-C70E272BE297}"/>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9EDE4139-301E-4656-9206-EDBC92582ED2}"/>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Build an ANCOVA helper for a continuous endpoint that runs o">
            <a:extLst>
              <a:ext uri="{FF2B5EF4-FFF2-40B4-BE49-F238E27FC236}">
                <a16:creationId xmlns:a16="http://schemas.microsoft.com/office/drawing/2014/main" id="{8A9CA85F-90B8-4384-BC95-9C2E781995DC}"/>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Build an ANCOVA helper for a continuous endpoint that runs only after the readiness gate allows analysis. Use an</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analysis contract to select the population and endpoint records, identify the outcome, treatment groups, and baseline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covariate, and define the treatment contrast. Return the adjusted contrast estimate, standard error, confidence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interval, p value, sample size, and group counts.</a:t>
            </a:r>
          </a:p>
        </p:txBody>
      </p:sp>
      <p:sp>
        <p:nvSpPr>
          <p:cNvPr id="13" name="roundRect-013">
            <a:extLst>
              <a:ext uri="{FF2B5EF4-FFF2-40B4-BE49-F238E27FC236}">
                <a16:creationId xmlns:a16="http://schemas.microsoft.com/office/drawing/2014/main" id="{BA8E70E7-2DF9-43AE-BB53-A6C84E5B0482}"/>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95ADB308-F251-44F2-943B-37F60815AB9E}"/>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694B954F-180E-43AC-9D11-C9B2C62C6232}"/>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59AB6E3C-C9BB-4EFA-814C-A15832ED18C1}"/>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Select records using the analysis contract">
            <a:extLst>
              <a:ext uri="{FF2B5EF4-FFF2-40B4-BE49-F238E27FC236}">
                <a16:creationId xmlns:a16="http://schemas.microsoft.com/office/drawing/2014/main" id="{D72D2A58-B125-4AC6-857C-D27D075B6A47}"/>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Select records using the analysis contract</a:t>
            </a:r>
          </a:p>
        </p:txBody>
      </p:sp>
      <p:sp>
        <p:nvSpPr>
          <p:cNvPr id="18" name="ellipse-018">
            <a:extLst>
              <a:ext uri="{FF2B5EF4-FFF2-40B4-BE49-F238E27FC236}">
                <a16:creationId xmlns:a16="http://schemas.microsoft.com/office/drawing/2014/main" id="{91F89FB1-8373-4562-94B6-3B7CA20AB573}"/>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Fit the continuous-endpoint ANCOVA">
            <a:extLst>
              <a:ext uri="{FF2B5EF4-FFF2-40B4-BE49-F238E27FC236}">
                <a16:creationId xmlns:a16="http://schemas.microsoft.com/office/drawing/2014/main" id="{2E3FD366-9839-41CC-8582-4B2002ECEBD8}"/>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Fit the continuous-endpoint ANCOVA</a:t>
            </a:r>
          </a:p>
        </p:txBody>
      </p:sp>
      <p:sp>
        <p:nvSpPr>
          <p:cNvPr id="20" name="ellipse-020">
            <a:extLst>
              <a:ext uri="{FF2B5EF4-FFF2-40B4-BE49-F238E27FC236}">
                <a16:creationId xmlns:a16="http://schemas.microsoft.com/office/drawing/2014/main" id="{DEBB2655-5FFE-4B3F-9566-860AE4C333C6}"/>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Report the contrast, uncertainty, and counts">
            <a:extLst>
              <a:ext uri="{FF2B5EF4-FFF2-40B4-BE49-F238E27FC236}">
                <a16:creationId xmlns:a16="http://schemas.microsoft.com/office/drawing/2014/main" id="{124A4F27-BD05-4800-90F1-5633BA229F74}"/>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Report the contrast, uncertainty, and counts</a:t>
            </a:r>
          </a:p>
        </p:txBody>
      </p:sp>
      <p:sp>
        <p:nvSpPr>
          <p:cNvPr id="22" name="text-022 INSPECT AFTER GENERATION">
            <a:extLst>
              <a:ext uri="{FF2B5EF4-FFF2-40B4-BE49-F238E27FC236}">
                <a16:creationId xmlns:a16="http://schemas.microsoft.com/office/drawing/2014/main" id="{8F19341F-A6EF-4548-B690-CEF95F166D57}"/>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selected population, endpoint variables, contrast direct">
            <a:extLst>
              <a:ext uri="{FF2B5EF4-FFF2-40B4-BE49-F238E27FC236}">
                <a16:creationId xmlns:a16="http://schemas.microsoft.com/office/drawing/2014/main" id="{1D878024-A3A5-4294-A4D8-CAA6C6285E4C}"/>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selected population, endpoint variables, contrast</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direction, counts, and model settings agree with the</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supplied contract.</a:t>
            </a:r>
          </a:p>
        </p:txBody>
      </p:sp>
    </p:spTree>
    <p:extLst>
      <p:ext uri="{BB962C8B-B14F-4D97-AF65-F5344CB8AC3E}">
        <p14:creationId xmlns:p14="http://schemas.microsoft.com/office/powerpoint/2010/main" val="21251566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7" name="rect-001">
            <a:extLst>
              <a:ext uri="{FF2B5EF4-FFF2-40B4-BE49-F238E27FC236}">
                <a16:creationId xmlns:a16="http://schemas.microsoft.com/office/drawing/2014/main" id="{D9A346E3-03F6-46B2-B2F6-7DD7C765B6ED}"/>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98635F50-5316-48E9-8D16-B86B75D95987}"/>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SKILL + TOOL WRAPPER">
            <a:extLst>
              <a:ext uri="{FF2B5EF4-FFF2-40B4-BE49-F238E27FC236}">
                <a16:creationId xmlns:a16="http://schemas.microsoft.com/office/drawing/2014/main" id="{13D8FC31-210A-4C0B-BA61-8FD7B483E84B}"/>
              </a:ext>
            </a:extLst>
          </p:cNvPr>
          <p:cNvSpPr>
            <a:spLocks noGrp="1"/>
          </p:cNvSpPr>
          <p:nvPr/>
        </p:nvSpPr>
        <p:spPr>
          <a:xfrm>
            <a:off x="781050" y="1042290"/>
            <a:ext cx="2600176"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SKILL + TOOL WRAPPER</a:t>
            </a:r>
          </a:p>
        </p:txBody>
      </p:sp>
      <p:sp>
        <p:nvSpPr>
          <p:cNvPr id="5" name="text-005 Create the ANCOVA skill and CLI">
            <a:extLst>
              <a:ext uri="{FF2B5EF4-FFF2-40B4-BE49-F238E27FC236}">
                <a16:creationId xmlns:a16="http://schemas.microsoft.com/office/drawing/2014/main" id="{043E3F5B-9AAB-4149-9573-C9E7175EF814}"/>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ANCOVA skill and CLI</a:t>
            </a:r>
          </a:p>
        </p:txBody>
      </p:sp>
      <p:sp>
        <p:nvSpPr>
          <p:cNvPr id="6" name="roundRect-006">
            <a:extLst>
              <a:ext uri="{FF2B5EF4-FFF2-40B4-BE49-F238E27FC236}">
                <a16:creationId xmlns:a16="http://schemas.microsoft.com/office/drawing/2014/main" id="{71A3854C-A15F-469C-A4FC-7871BF8DC8A9}"/>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0">
            <a:extLst>
              <a:ext uri="{FF2B5EF4-FFF2-40B4-BE49-F238E27FC236}">
                <a16:creationId xmlns:a16="http://schemas.microsoft.com/office/drawing/2014/main" id="{7D70CEED-F786-4F9C-9853-7E05F9872938}"/>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10</a:t>
            </a:r>
          </a:p>
        </p:txBody>
      </p:sp>
      <p:sp>
        <p:nvSpPr>
          <p:cNvPr id="8" name="line-008-1">
            <a:extLst>
              <a:ext uri="{FF2B5EF4-FFF2-40B4-BE49-F238E27FC236}">
                <a16:creationId xmlns:a16="http://schemas.microsoft.com/office/drawing/2014/main" id="{1749A816-55F0-4E1D-B348-DB913AA2E671}"/>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10 / 13  •  Component responsibilities">
            <a:extLst>
              <a:ext uri="{FF2B5EF4-FFF2-40B4-BE49-F238E27FC236}">
                <a16:creationId xmlns:a16="http://schemas.microsoft.com/office/drawing/2014/main" id="{7EB287B2-03CE-469F-817E-9E8B1205EA27}"/>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10 / 13  •  Component responsibilities</a:t>
            </a:r>
          </a:p>
        </p:txBody>
      </p:sp>
      <p:sp>
        <p:nvSpPr>
          <p:cNvPr id="10" name="roundRect-010">
            <a:extLst>
              <a:ext uri="{FF2B5EF4-FFF2-40B4-BE49-F238E27FC236}">
                <a16:creationId xmlns:a16="http://schemas.microsoft.com/office/drawing/2014/main" id="{6F902BF2-6D2A-4795-8670-62272E8E64CA}"/>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D5808FDA-1684-436F-AA2D-91CEC72970A8}"/>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Give the agent a procedure and command for invoking the gate">
            <a:extLst>
              <a:ext uri="{FF2B5EF4-FFF2-40B4-BE49-F238E27FC236}">
                <a16:creationId xmlns:a16="http://schemas.microsoft.com/office/drawing/2014/main" id="{7DDF4CF3-7EEE-424D-87A1-1F6784A740A6}"/>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Give the agent a procedure and command</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for invoking the gated analysis helper.</a:t>
            </a:r>
          </a:p>
        </p:txBody>
      </p:sp>
      <p:sp>
        <p:nvSpPr>
          <p:cNvPr id="13" name="text-013 INPUTS">
            <a:extLst>
              <a:ext uri="{FF2B5EF4-FFF2-40B4-BE49-F238E27FC236}">
                <a16:creationId xmlns:a16="http://schemas.microsoft.com/office/drawing/2014/main" id="{200A1E3F-2651-4507-AABC-4F3220706E1A}"/>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038A9D9A-130E-463F-9807-14AC5F7EEADD}"/>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Contract and QC-summary paths">
            <a:extLst>
              <a:ext uri="{FF2B5EF4-FFF2-40B4-BE49-F238E27FC236}">
                <a16:creationId xmlns:a16="http://schemas.microsoft.com/office/drawing/2014/main" id="{9808307B-4A17-46FB-8188-181FD2CC853C}"/>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Contract and QC-summary paths</a:t>
            </a:r>
          </a:p>
        </p:txBody>
      </p:sp>
      <p:sp>
        <p:nvSpPr>
          <p:cNvPr id="16" name="ellipse-016">
            <a:extLst>
              <a:ext uri="{FF2B5EF4-FFF2-40B4-BE49-F238E27FC236}">
                <a16:creationId xmlns:a16="http://schemas.microsoft.com/office/drawing/2014/main" id="{53FBECED-2B7F-4413-8DFD-2E1B6A63D250}"/>
              </a:ext>
            </a:extLst>
          </p:cNvPr>
          <p:cNvSpPr>
            <a:spLocks noGrp="1"/>
          </p:cNvSpPr>
          <p:nvPr/>
        </p:nvSpPr>
        <p:spPr>
          <a:xfrm>
            <a:off x="1104900" y="5223034"/>
            <a:ext cx="76200" cy="76200"/>
          </a:xfrm>
          <a:prstGeom prst="ellipse">
            <a:avLst/>
          </a:prstGeom>
          <a:solidFill>
            <a:srgbClr val="137F7B"/>
          </a:solidFill>
          <a:ln w="0">
            <a:noFill/>
          </a:ln>
        </p:spPr>
        <p:txBody>
          <a:bodyPr/>
          <a:lstStyle/>
          <a:p>
            <a:endParaRPr lang="en-US"/>
          </a:p>
        </p:txBody>
      </p:sp>
      <p:sp>
        <p:nvSpPr>
          <p:cNvPr id="17" name="text-017 Subject and efficacy CSV paths">
            <a:extLst>
              <a:ext uri="{FF2B5EF4-FFF2-40B4-BE49-F238E27FC236}">
                <a16:creationId xmlns:a16="http://schemas.microsoft.com/office/drawing/2014/main" id="{6F5EFA6E-7E25-4D6A-B397-A2E5779AD818}"/>
              </a:ext>
            </a:extLst>
          </p:cNvPr>
          <p:cNvSpPr>
            <a:spLocks noGrp="1"/>
          </p:cNvSpPr>
          <p:nvPr/>
        </p:nvSpPr>
        <p:spPr>
          <a:xfrm>
            <a:off x="1343025" y="5080315"/>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Subject and efficacy CSV paths</a:t>
            </a:r>
          </a:p>
        </p:txBody>
      </p:sp>
      <p:sp>
        <p:nvSpPr>
          <p:cNvPr id="18" name="text-018 WHAT TO BUILD">
            <a:extLst>
              <a:ext uri="{FF2B5EF4-FFF2-40B4-BE49-F238E27FC236}">
                <a16:creationId xmlns:a16="http://schemas.microsoft.com/office/drawing/2014/main" id="{F7709CDF-66CE-461C-A553-06FF59FD70E4}"/>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9" name="ellipse-019">
            <a:extLst>
              <a:ext uri="{FF2B5EF4-FFF2-40B4-BE49-F238E27FC236}">
                <a16:creationId xmlns:a16="http://schemas.microsoft.com/office/drawing/2014/main" id="{C9F82E33-E756-4BEB-908A-EACFBD015055}"/>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0" name="text-020 skills/ancova-test/SKILL.md">
            <a:extLst>
              <a:ext uri="{FF2B5EF4-FFF2-40B4-BE49-F238E27FC236}">
                <a16:creationId xmlns:a16="http://schemas.microsoft.com/office/drawing/2014/main" id="{0A261E54-F205-423F-A850-3EEE18777638}"/>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skills/ancova-test/SKILL.md</a:t>
            </a:r>
          </a:p>
        </p:txBody>
      </p:sp>
      <p:sp>
        <p:nvSpPr>
          <p:cNvPr id="21" name="ellipse-021">
            <a:extLst>
              <a:ext uri="{FF2B5EF4-FFF2-40B4-BE49-F238E27FC236}">
                <a16:creationId xmlns:a16="http://schemas.microsoft.com/office/drawing/2014/main" id="{A98FE1FC-7B79-4DA4-A9B1-4E9F76AB6F24}"/>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2" name="text-022 run_ancova_test.py">
            <a:extLst>
              <a:ext uri="{FF2B5EF4-FFF2-40B4-BE49-F238E27FC236}">
                <a16:creationId xmlns:a16="http://schemas.microsoft.com/office/drawing/2014/main" id="{09925960-5D44-46CD-B94D-B1BDD06E966A}"/>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run_ancova_test.py</a:t>
            </a:r>
          </a:p>
        </p:txBody>
      </p:sp>
      <p:sp>
        <p:nvSpPr>
          <p:cNvPr id="23" name="ellipse-023">
            <a:extLst>
              <a:ext uri="{FF2B5EF4-FFF2-40B4-BE49-F238E27FC236}">
                <a16:creationId xmlns:a16="http://schemas.microsoft.com/office/drawing/2014/main" id="{B1D7F3FE-C290-4214-A1BF-A17C80CF5AD4}"/>
              </a:ext>
            </a:extLst>
          </p:cNvPr>
          <p:cNvSpPr>
            <a:spLocks noGrp="1"/>
          </p:cNvSpPr>
          <p:nvPr/>
        </p:nvSpPr>
        <p:spPr>
          <a:xfrm>
            <a:off x="9220200" y="4622483"/>
            <a:ext cx="76200" cy="76200"/>
          </a:xfrm>
          <a:prstGeom prst="ellipse">
            <a:avLst/>
          </a:prstGeom>
          <a:solidFill>
            <a:srgbClr val="137F7B"/>
          </a:solidFill>
          <a:ln w="0">
            <a:noFill/>
          </a:ln>
        </p:spPr>
        <p:txBody>
          <a:bodyPr/>
          <a:lstStyle/>
          <a:p>
            <a:endParaRPr lang="en-US"/>
          </a:p>
        </p:txBody>
      </p:sp>
      <p:sp>
        <p:nvSpPr>
          <p:cNvPr id="24" name="text-024 ancova_result.json with selected input paths">
            <a:extLst>
              <a:ext uri="{FF2B5EF4-FFF2-40B4-BE49-F238E27FC236}">
                <a16:creationId xmlns:a16="http://schemas.microsoft.com/office/drawing/2014/main" id="{09157ED5-8829-4B8F-A420-6EC264D3D881}"/>
              </a:ext>
            </a:extLst>
          </p:cNvPr>
          <p:cNvSpPr>
            <a:spLocks noGrp="1"/>
          </p:cNvSpPr>
          <p:nvPr/>
        </p:nvSpPr>
        <p:spPr>
          <a:xfrm>
            <a:off x="9458325" y="4479764"/>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ancova_result.json with selected input paths</a:t>
            </a:r>
          </a:p>
        </p:txBody>
      </p:sp>
      <p:sp>
        <p:nvSpPr>
          <p:cNvPr id="25" name="text-025 FUNCTIONS / INTERFACES">
            <a:extLst>
              <a:ext uri="{FF2B5EF4-FFF2-40B4-BE49-F238E27FC236}">
                <a16:creationId xmlns:a16="http://schemas.microsoft.com/office/drawing/2014/main" id="{ECE2B82E-0B45-4FB2-82E1-AB5402EA52B7}"/>
              </a:ext>
            </a:extLst>
          </p:cNvPr>
          <p:cNvSpPr>
            <a:spLocks noGrp="1"/>
          </p:cNvSpPr>
          <p:nvPr/>
        </p:nvSpPr>
        <p:spPr>
          <a:xfrm>
            <a:off x="9220200" y="5086480"/>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6" name="text-026 find_demo_root main">
            <a:extLst>
              <a:ext uri="{FF2B5EF4-FFF2-40B4-BE49-F238E27FC236}">
                <a16:creationId xmlns:a16="http://schemas.microsoft.com/office/drawing/2014/main" id="{E1DBD049-5A9E-40D9-8B1F-E8A085B07790}"/>
              </a:ext>
            </a:extLst>
          </p:cNvPr>
          <p:cNvSpPr>
            <a:spLocks noGrp="1"/>
          </p:cNvSpPr>
          <p:nvPr/>
        </p:nvSpPr>
        <p:spPr>
          <a:xfrm>
            <a:off x="9220200" y="5498291"/>
            <a:ext cx="7905750" cy="66294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find_demo_root</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main</a:t>
            </a:r>
          </a:p>
        </p:txBody>
      </p:sp>
    </p:spTree>
    <p:extLst>
      <p:ext uri="{BB962C8B-B14F-4D97-AF65-F5344CB8AC3E}">
        <p14:creationId xmlns:p14="http://schemas.microsoft.com/office/powerpoint/2010/main" val="1639028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F3C954C6-18AF-4B10-AF72-9171C006EE38}"/>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54058852-E03F-468B-AF23-669254EC7E86}"/>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SKILL + TOOL WRAPPER">
            <a:extLst>
              <a:ext uri="{FF2B5EF4-FFF2-40B4-BE49-F238E27FC236}">
                <a16:creationId xmlns:a16="http://schemas.microsoft.com/office/drawing/2014/main" id="{F3CDA64A-07E3-4CA3-B3FD-2804D735444A}"/>
              </a:ext>
            </a:extLst>
          </p:cNvPr>
          <p:cNvSpPr>
            <a:spLocks noGrp="1"/>
          </p:cNvSpPr>
          <p:nvPr/>
        </p:nvSpPr>
        <p:spPr>
          <a:xfrm>
            <a:off x="781050" y="1042290"/>
            <a:ext cx="2600176"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SKILL + TOOL WRAPPER</a:t>
            </a:r>
          </a:p>
        </p:txBody>
      </p:sp>
      <p:sp>
        <p:nvSpPr>
          <p:cNvPr id="5" name="text-005 Create the ANCOVA skill and CLI">
            <a:extLst>
              <a:ext uri="{FF2B5EF4-FFF2-40B4-BE49-F238E27FC236}">
                <a16:creationId xmlns:a16="http://schemas.microsoft.com/office/drawing/2014/main" id="{0B9ADC45-AC72-4B00-9B9D-F70BDC7D326F}"/>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ANCOVA skill and CLI</a:t>
            </a:r>
          </a:p>
        </p:txBody>
      </p:sp>
      <p:sp>
        <p:nvSpPr>
          <p:cNvPr id="6" name="roundRect-006">
            <a:extLst>
              <a:ext uri="{FF2B5EF4-FFF2-40B4-BE49-F238E27FC236}">
                <a16:creationId xmlns:a16="http://schemas.microsoft.com/office/drawing/2014/main" id="{F4A3DA19-9FF6-46B6-B629-D84B56EA3916}"/>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0">
            <a:extLst>
              <a:ext uri="{FF2B5EF4-FFF2-40B4-BE49-F238E27FC236}">
                <a16:creationId xmlns:a16="http://schemas.microsoft.com/office/drawing/2014/main" id="{F6578B48-A33E-4EC0-A683-7F5601F3B175}"/>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10</a:t>
            </a:r>
          </a:p>
        </p:txBody>
      </p:sp>
      <p:sp>
        <p:nvSpPr>
          <p:cNvPr id="8" name="line-008-1">
            <a:extLst>
              <a:ext uri="{FF2B5EF4-FFF2-40B4-BE49-F238E27FC236}">
                <a16:creationId xmlns:a16="http://schemas.microsoft.com/office/drawing/2014/main" id="{AA231B2D-0960-4B0F-B6C2-0E6EE986707F}"/>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10-ancova-skill.txt">
            <a:extLst>
              <a:ext uri="{FF2B5EF4-FFF2-40B4-BE49-F238E27FC236}">
                <a16:creationId xmlns:a16="http://schemas.microsoft.com/office/drawing/2014/main" id="{19786A23-1C11-4A10-9503-684F93D2E3A3}"/>
              </a:ext>
            </a:extLst>
          </p:cNvPr>
          <p:cNvSpPr>
            <a:spLocks noGrp="1"/>
          </p:cNvSpPr>
          <p:nvPr/>
        </p:nvSpPr>
        <p:spPr>
          <a:xfrm>
            <a:off x="781050" y="8615317"/>
            <a:ext cx="49911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prompts/10-ancova-skill.txt</a:t>
            </a:r>
          </a:p>
        </p:txBody>
      </p:sp>
      <p:sp>
        <p:nvSpPr>
          <p:cNvPr id="10" name="roundRect-010">
            <a:extLst>
              <a:ext uri="{FF2B5EF4-FFF2-40B4-BE49-F238E27FC236}">
                <a16:creationId xmlns:a16="http://schemas.microsoft.com/office/drawing/2014/main" id="{BFA6AB36-9E52-4B37-8756-271A8A6DDBD3}"/>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5CC4E4D1-635E-4D30-84A2-97101F8F875C}"/>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Create an ANCOVA skill and command-line wrapper that use an ">
            <a:extLst>
              <a:ext uri="{FF2B5EF4-FFF2-40B4-BE49-F238E27FC236}">
                <a16:creationId xmlns:a16="http://schemas.microsoft.com/office/drawing/2014/main" id="{B258FAA3-6FD1-4FB5-B3FD-F635B3FBB0C8}"/>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Create an ANCOVA skill and command-line wrapper that use an analysis contract, readiness summary, and selected</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datasets to call a gated analysis helper. The skill should explain the supported endpoint and model, required inputs,</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and interpretation of completed or blocked results. The wrapper should write structured results and record the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selected input paths.</a:t>
            </a:r>
          </a:p>
        </p:txBody>
      </p:sp>
      <p:sp>
        <p:nvSpPr>
          <p:cNvPr id="13" name="roundRect-013">
            <a:extLst>
              <a:ext uri="{FF2B5EF4-FFF2-40B4-BE49-F238E27FC236}">
                <a16:creationId xmlns:a16="http://schemas.microsoft.com/office/drawing/2014/main" id="{3EE9BB6C-2CE9-4172-B309-093FCFE5CA4C}"/>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227D4A38-8A17-4064-BE6D-5551B0941470}"/>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886005CD-5393-4C28-82E3-AA95CC774AA2}"/>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C1B43BBC-8850-4292-A351-FB9CCD3EB4B3}"/>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Define the skill’s supported analysis and inputs">
            <a:extLst>
              <a:ext uri="{FF2B5EF4-FFF2-40B4-BE49-F238E27FC236}">
                <a16:creationId xmlns:a16="http://schemas.microsoft.com/office/drawing/2014/main" id="{61D43C06-B653-4B03-B570-5717E5F8861A}"/>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Define the skill’s supported analysis and inputs</a:t>
            </a:r>
          </a:p>
        </p:txBody>
      </p:sp>
      <p:sp>
        <p:nvSpPr>
          <p:cNvPr id="18" name="ellipse-018">
            <a:extLst>
              <a:ext uri="{FF2B5EF4-FFF2-40B4-BE49-F238E27FC236}">
                <a16:creationId xmlns:a16="http://schemas.microsoft.com/office/drawing/2014/main" id="{86CC074B-F558-4217-A6A5-0A797C88437F}"/>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Pass contract settings to the gated helper">
            <a:extLst>
              <a:ext uri="{FF2B5EF4-FFF2-40B4-BE49-F238E27FC236}">
                <a16:creationId xmlns:a16="http://schemas.microsoft.com/office/drawing/2014/main" id="{91CB5B7F-CD27-4CAF-89EE-378B56A26A8F}"/>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Pass contract settings to the gated helper</a:t>
            </a:r>
          </a:p>
        </p:txBody>
      </p:sp>
      <p:sp>
        <p:nvSpPr>
          <p:cNvPr id="20" name="ellipse-020">
            <a:extLst>
              <a:ext uri="{FF2B5EF4-FFF2-40B4-BE49-F238E27FC236}">
                <a16:creationId xmlns:a16="http://schemas.microsoft.com/office/drawing/2014/main" id="{67DB7467-C939-4BD7-A981-15025447D31A}"/>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Write results and the selected input paths">
            <a:extLst>
              <a:ext uri="{FF2B5EF4-FFF2-40B4-BE49-F238E27FC236}">
                <a16:creationId xmlns:a16="http://schemas.microsoft.com/office/drawing/2014/main" id="{E3049C3C-0009-4EB2-8AB2-BBC7418E1A81}"/>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Write results and the selected input paths</a:t>
            </a:r>
          </a:p>
        </p:txBody>
      </p:sp>
      <p:sp>
        <p:nvSpPr>
          <p:cNvPr id="22" name="text-022 INSPECT AFTER GENERATION">
            <a:extLst>
              <a:ext uri="{FF2B5EF4-FFF2-40B4-BE49-F238E27FC236}">
                <a16:creationId xmlns:a16="http://schemas.microsoft.com/office/drawing/2014/main" id="{75307559-5707-430B-81F6-0FC5161C51DC}"/>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wrapper passes selected inputs to the gated helper; the ">
            <a:extLst>
              <a:ext uri="{FF2B5EF4-FFF2-40B4-BE49-F238E27FC236}">
                <a16:creationId xmlns:a16="http://schemas.microsoft.com/office/drawing/2014/main" id="{951C6E52-D2A6-4266-BD22-499293EE607D}"/>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wrapper passes selected inputs to the gated</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helper; the skill explains its supported analysis and</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returned status.</a:t>
            </a:r>
          </a:p>
        </p:txBody>
      </p:sp>
    </p:spTree>
    <p:extLst>
      <p:ext uri="{BB962C8B-B14F-4D97-AF65-F5344CB8AC3E}">
        <p14:creationId xmlns:p14="http://schemas.microsoft.com/office/powerpoint/2010/main" val="1985507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7" name="rect-001">
            <a:extLst>
              <a:ext uri="{FF2B5EF4-FFF2-40B4-BE49-F238E27FC236}">
                <a16:creationId xmlns:a16="http://schemas.microsoft.com/office/drawing/2014/main" id="{1D9AABFE-CF72-4815-A162-F037D733BEF3}"/>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26555EBB-0676-41AB-8E71-2EC8E60AD9E8}"/>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FINAL-RESULT HOOK">
            <a:extLst>
              <a:ext uri="{FF2B5EF4-FFF2-40B4-BE49-F238E27FC236}">
                <a16:creationId xmlns:a16="http://schemas.microsoft.com/office/drawing/2014/main" id="{9F5AE8B3-71A3-465E-9226-A7109F62D47B}"/>
              </a:ext>
            </a:extLst>
          </p:cNvPr>
          <p:cNvSpPr>
            <a:spLocks noGrp="1"/>
          </p:cNvSpPr>
          <p:nvPr/>
        </p:nvSpPr>
        <p:spPr>
          <a:xfrm>
            <a:off x="781050" y="1042290"/>
            <a:ext cx="2295376"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FINAL-RESULT HOOK</a:t>
            </a:r>
          </a:p>
        </p:txBody>
      </p:sp>
      <p:sp>
        <p:nvSpPr>
          <p:cNvPr id="5" name="text-005 Create the post-analysis review hook">
            <a:extLst>
              <a:ext uri="{FF2B5EF4-FFF2-40B4-BE49-F238E27FC236}">
                <a16:creationId xmlns:a16="http://schemas.microsoft.com/office/drawing/2014/main" id="{15E84EBB-0302-41C5-97FB-74558A1F76F2}"/>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post-analysis review hook</a:t>
            </a:r>
          </a:p>
        </p:txBody>
      </p:sp>
      <p:sp>
        <p:nvSpPr>
          <p:cNvPr id="6" name="roundRect-006">
            <a:extLst>
              <a:ext uri="{FF2B5EF4-FFF2-40B4-BE49-F238E27FC236}">
                <a16:creationId xmlns:a16="http://schemas.microsoft.com/office/drawing/2014/main" id="{5F1A1674-9616-402E-B8B8-E26D79452D4A}"/>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1">
            <a:extLst>
              <a:ext uri="{FF2B5EF4-FFF2-40B4-BE49-F238E27FC236}">
                <a16:creationId xmlns:a16="http://schemas.microsoft.com/office/drawing/2014/main" id="{07104737-B966-426E-9FFF-89775317CB01}"/>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11</a:t>
            </a:r>
          </a:p>
        </p:txBody>
      </p:sp>
      <p:sp>
        <p:nvSpPr>
          <p:cNvPr id="8" name="line-008-1">
            <a:extLst>
              <a:ext uri="{FF2B5EF4-FFF2-40B4-BE49-F238E27FC236}">
                <a16:creationId xmlns:a16="http://schemas.microsoft.com/office/drawing/2014/main" id="{95CC60C1-54ED-4485-87D5-5CE1F0C919F0}"/>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11 / 13  •  Component responsibilities">
            <a:extLst>
              <a:ext uri="{FF2B5EF4-FFF2-40B4-BE49-F238E27FC236}">
                <a16:creationId xmlns:a16="http://schemas.microsoft.com/office/drawing/2014/main" id="{4A448A01-EC33-4A61-925C-AFE93B4FB67B}"/>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11 / 13  •  Component responsibilities</a:t>
            </a:r>
          </a:p>
        </p:txBody>
      </p:sp>
      <p:sp>
        <p:nvSpPr>
          <p:cNvPr id="10" name="roundRect-010">
            <a:extLst>
              <a:ext uri="{FF2B5EF4-FFF2-40B4-BE49-F238E27FC236}">
                <a16:creationId xmlns:a16="http://schemas.microsoft.com/office/drawing/2014/main" id="{94DABE6E-7EDE-417C-B879-B77BFFC571A3}"/>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95B846CE-12C2-472E-A165-4A3B4894991E}"/>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Check result consistency, contract alignment, and the option">
            <a:extLst>
              <a:ext uri="{FF2B5EF4-FFF2-40B4-BE49-F238E27FC236}">
                <a16:creationId xmlns:a16="http://schemas.microsoft.com/office/drawing/2014/main" id="{40323F19-F5CB-4C99-AF30-90BC87B6521D}"/>
              </a:ext>
            </a:extLst>
          </p:cNvPr>
          <p:cNvSpPr>
            <a:spLocks noGrp="1"/>
          </p:cNvSpPr>
          <p:nvPr/>
        </p:nvSpPr>
        <p:spPr>
          <a:xfrm>
            <a:off x="1104900" y="3024546"/>
            <a:ext cx="7143750" cy="1491615"/>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Check result consistency, contract</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alignment, and the optional report text</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before reporting.</a:t>
            </a:r>
          </a:p>
        </p:txBody>
      </p:sp>
      <p:sp>
        <p:nvSpPr>
          <p:cNvPr id="13" name="text-013 INPUTS">
            <a:extLst>
              <a:ext uri="{FF2B5EF4-FFF2-40B4-BE49-F238E27FC236}">
                <a16:creationId xmlns:a16="http://schemas.microsoft.com/office/drawing/2014/main" id="{B67C67CF-9DB0-41B4-8132-59DBF3F12BD2}"/>
              </a:ext>
            </a:extLst>
          </p:cNvPr>
          <p:cNvSpPr>
            <a:spLocks noGrp="1"/>
          </p:cNvSpPr>
          <p:nvPr/>
        </p:nvSpPr>
        <p:spPr>
          <a:xfrm>
            <a:off x="1104900" y="4661188"/>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11FBADB9-D6B4-4222-B239-447AD5AB69F7}"/>
              </a:ext>
            </a:extLst>
          </p:cNvPr>
          <p:cNvSpPr>
            <a:spLocks noGrp="1"/>
          </p:cNvSpPr>
          <p:nvPr/>
        </p:nvSpPr>
        <p:spPr>
          <a:xfrm>
            <a:off x="1104900" y="5179695"/>
            <a:ext cx="76200" cy="76200"/>
          </a:xfrm>
          <a:prstGeom prst="ellipse">
            <a:avLst/>
          </a:prstGeom>
          <a:solidFill>
            <a:srgbClr val="137F7B"/>
          </a:solidFill>
          <a:ln w="0">
            <a:noFill/>
          </a:ln>
        </p:spPr>
        <p:txBody>
          <a:bodyPr/>
          <a:lstStyle/>
          <a:p>
            <a:endParaRPr lang="en-US"/>
          </a:p>
        </p:txBody>
      </p:sp>
      <p:sp>
        <p:nvSpPr>
          <p:cNvPr id="15" name="text-015 Analysis result JSON">
            <a:extLst>
              <a:ext uri="{FF2B5EF4-FFF2-40B4-BE49-F238E27FC236}">
                <a16:creationId xmlns:a16="http://schemas.microsoft.com/office/drawing/2014/main" id="{C191AFC8-1F59-49A4-84EA-F32240EB785F}"/>
              </a:ext>
            </a:extLst>
          </p:cNvPr>
          <p:cNvSpPr>
            <a:spLocks noGrp="1"/>
          </p:cNvSpPr>
          <p:nvPr/>
        </p:nvSpPr>
        <p:spPr>
          <a:xfrm>
            <a:off x="1343025" y="5036976"/>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Analysis result JSON</a:t>
            </a:r>
          </a:p>
        </p:txBody>
      </p:sp>
      <p:sp>
        <p:nvSpPr>
          <p:cNvPr id="16" name="ellipse-016">
            <a:extLst>
              <a:ext uri="{FF2B5EF4-FFF2-40B4-BE49-F238E27FC236}">
                <a16:creationId xmlns:a16="http://schemas.microsoft.com/office/drawing/2014/main" id="{211AE894-2F27-423B-A813-B0F53A7E4679}"/>
              </a:ext>
            </a:extLst>
          </p:cNvPr>
          <p:cNvSpPr>
            <a:spLocks noGrp="1"/>
          </p:cNvSpPr>
          <p:nvPr/>
        </p:nvSpPr>
        <p:spPr>
          <a:xfrm>
            <a:off x="1104900" y="5685949"/>
            <a:ext cx="76200" cy="76200"/>
          </a:xfrm>
          <a:prstGeom prst="ellipse">
            <a:avLst/>
          </a:prstGeom>
          <a:solidFill>
            <a:srgbClr val="137F7B"/>
          </a:solidFill>
          <a:ln w="0">
            <a:noFill/>
          </a:ln>
        </p:spPr>
        <p:txBody>
          <a:bodyPr/>
          <a:lstStyle/>
          <a:p>
            <a:endParaRPr lang="en-US"/>
          </a:p>
        </p:txBody>
      </p:sp>
      <p:sp>
        <p:nvSpPr>
          <p:cNvPr id="17" name="text-017 Explicit or recorded contract path">
            <a:extLst>
              <a:ext uri="{FF2B5EF4-FFF2-40B4-BE49-F238E27FC236}">
                <a16:creationId xmlns:a16="http://schemas.microsoft.com/office/drawing/2014/main" id="{9C735063-2F73-4D0E-89DF-6799CEC87584}"/>
              </a:ext>
            </a:extLst>
          </p:cNvPr>
          <p:cNvSpPr>
            <a:spLocks noGrp="1"/>
          </p:cNvSpPr>
          <p:nvPr/>
        </p:nvSpPr>
        <p:spPr>
          <a:xfrm>
            <a:off x="1343025" y="5543230"/>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Explicit or recorded contract path</a:t>
            </a:r>
          </a:p>
        </p:txBody>
      </p:sp>
      <p:sp>
        <p:nvSpPr>
          <p:cNvPr id="18" name="ellipse-018">
            <a:extLst>
              <a:ext uri="{FF2B5EF4-FFF2-40B4-BE49-F238E27FC236}">
                <a16:creationId xmlns:a16="http://schemas.microsoft.com/office/drawing/2014/main" id="{43C7F297-DC43-4A58-9D4A-94A2116B2DA4}"/>
              </a:ext>
            </a:extLst>
          </p:cNvPr>
          <p:cNvSpPr>
            <a:spLocks noGrp="1"/>
          </p:cNvSpPr>
          <p:nvPr/>
        </p:nvSpPr>
        <p:spPr>
          <a:xfrm>
            <a:off x="1104900" y="6192202"/>
            <a:ext cx="76200" cy="76200"/>
          </a:xfrm>
          <a:prstGeom prst="ellipse">
            <a:avLst/>
          </a:prstGeom>
          <a:solidFill>
            <a:srgbClr val="137F7B"/>
          </a:solidFill>
          <a:ln w="0">
            <a:noFill/>
          </a:ln>
        </p:spPr>
        <p:txBody>
          <a:bodyPr/>
          <a:lstStyle/>
          <a:p>
            <a:endParaRPr lang="en-US"/>
          </a:p>
        </p:txBody>
      </p:sp>
      <p:sp>
        <p:nvSpPr>
          <p:cNvPr id="19" name="text-019 Optional report text">
            <a:extLst>
              <a:ext uri="{FF2B5EF4-FFF2-40B4-BE49-F238E27FC236}">
                <a16:creationId xmlns:a16="http://schemas.microsoft.com/office/drawing/2014/main" id="{CD690009-08F7-4439-BB70-C14AE7CB597A}"/>
              </a:ext>
            </a:extLst>
          </p:cNvPr>
          <p:cNvSpPr>
            <a:spLocks noGrp="1"/>
          </p:cNvSpPr>
          <p:nvPr/>
        </p:nvSpPr>
        <p:spPr>
          <a:xfrm>
            <a:off x="1343025" y="6049484"/>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Optional report text</a:t>
            </a:r>
          </a:p>
        </p:txBody>
      </p:sp>
      <p:sp>
        <p:nvSpPr>
          <p:cNvPr id="20" name="text-020 WHAT TO BUILD">
            <a:extLst>
              <a:ext uri="{FF2B5EF4-FFF2-40B4-BE49-F238E27FC236}">
                <a16:creationId xmlns:a16="http://schemas.microsoft.com/office/drawing/2014/main" id="{6F2EB08B-D183-4416-BE97-83046D2809CB}"/>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21" name="ellipse-021">
            <a:extLst>
              <a:ext uri="{FF2B5EF4-FFF2-40B4-BE49-F238E27FC236}">
                <a16:creationId xmlns:a16="http://schemas.microsoft.com/office/drawing/2014/main" id="{2CA4EC9F-B06E-4DEB-8228-351B43C79C50}"/>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2" name="text-022 final_result_review_hook.py">
            <a:extLst>
              <a:ext uri="{FF2B5EF4-FFF2-40B4-BE49-F238E27FC236}">
                <a16:creationId xmlns:a16="http://schemas.microsoft.com/office/drawing/2014/main" id="{168B9AE3-349B-4FCE-B021-0FBDCF2BF445}"/>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final_result_review_hook.py</a:t>
            </a:r>
          </a:p>
        </p:txBody>
      </p:sp>
      <p:sp>
        <p:nvSpPr>
          <p:cNvPr id="23" name="ellipse-023">
            <a:extLst>
              <a:ext uri="{FF2B5EF4-FFF2-40B4-BE49-F238E27FC236}">
                <a16:creationId xmlns:a16="http://schemas.microsoft.com/office/drawing/2014/main" id="{73608D72-3AC3-4668-B608-8F19BC611BED}"/>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4" name="text-024 final_result_review.json">
            <a:extLst>
              <a:ext uri="{FF2B5EF4-FFF2-40B4-BE49-F238E27FC236}">
                <a16:creationId xmlns:a16="http://schemas.microsoft.com/office/drawing/2014/main" id="{56C206FD-36B4-440F-9C21-25C046E7B412}"/>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final_result_review.json</a:t>
            </a:r>
          </a:p>
        </p:txBody>
      </p:sp>
      <p:sp>
        <p:nvSpPr>
          <p:cNvPr id="25" name="text-025 FUNCTIONS / INTERFACES">
            <a:extLst>
              <a:ext uri="{FF2B5EF4-FFF2-40B4-BE49-F238E27FC236}">
                <a16:creationId xmlns:a16="http://schemas.microsoft.com/office/drawing/2014/main" id="{439F0626-89B1-4D8A-B699-2CE18ADA3F95}"/>
              </a:ext>
            </a:extLst>
          </p:cNvPr>
          <p:cNvSpPr>
            <a:spLocks noGrp="1"/>
          </p:cNvSpPr>
          <p:nvPr/>
        </p:nvSpPr>
        <p:spPr>
          <a:xfrm>
            <a:off x="9220200" y="4580226"/>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6" name="text-026 run_final_result_review_hook check_qc_gate_consistency check">
            <a:extLst>
              <a:ext uri="{FF2B5EF4-FFF2-40B4-BE49-F238E27FC236}">
                <a16:creationId xmlns:a16="http://schemas.microsoft.com/office/drawing/2014/main" id="{8F14CB72-8976-4655-A34A-05524538CD74}"/>
              </a:ext>
            </a:extLst>
          </p:cNvPr>
          <p:cNvSpPr>
            <a:spLocks noGrp="1"/>
          </p:cNvSpPr>
          <p:nvPr/>
        </p:nvSpPr>
        <p:spPr>
          <a:xfrm>
            <a:off x="9220200" y="4992037"/>
            <a:ext cx="7905750" cy="155448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run_final_result_review_hook</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check_qc_gate_consistency</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check_contract_alignment</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check_source_data_handling</a:t>
            </a:r>
          </a:p>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check_statistical_result</a:t>
            </a:r>
          </a:p>
        </p:txBody>
      </p:sp>
    </p:spTree>
    <p:extLst>
      <p:ext uri="{BB962C8B-B14F-4D97-AF65-F5344CB8AC3E}">
        <p14:creationId xmlns:p14="http://schemas.microsoft.com/office/powerpoint/2010/main" val="1827414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6A3228E3-F757-4444-975A-7D7D61BDBBB2}"/>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ADE44D59-06E0-48D5-85DF-D53657EF6BBA}"/>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FINAL-RESULT HOOK">
            <a:extLst>
              <a:ext uri="{FF2B5EF4-FFF2-40B4-BE49-F238E27FC236}">
                <a16:creationId xmlns:a16="http://schemas.microsoft.com/office/drawing/2014/main" id="{31C545AA-912E-46BE-850C-40FF36EEB00A}"/>
              </a:ext>
            </a:extLst>
          </p:cNvPr>
          <p:cNvSpPr>
            <a:spLocks noGrp="1"/>
          </p:cNvSpPr>
          <p:nvPr/>
        </p:nvSpPr>
        <p:spPr>
          <a:xfrm>
            <a:off x="781050" y="1042290"/>
            <a:ext cx="2295376"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FINAL-RESULT HOOK</a:t>
            </a:r>
          </a:p>
        </p:txBody>
      </p:sp>
      <p:sp>
        <p:nvSpPr>
          <p:cNvPr id="5" name="text-005 Create the post-analysis review hook">
            <a:extLst>
              <a:ext uri="{FF2B5EF4-FFF2-40B4-BE49-F238E27FC236}">
                <a16:creationId xmlns:a16="http://schemas.microsoft.com/office/drawing/2014/main" id="{01292D34-26E4-40AB-BCCE-502E97BD0702}"/>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Create the post-analysis review hook</a:t>
            </a:r>
          </a:p>
        </p:txBody>
      </p:sp>
      <p:sp>
        <p:nvSpPr>
          <p:cNvPr id="6" name="roundRect-006">
            <a:extLst>
              <a:ext uri="{FF2B5EF4-FFF2-40B4-BE49-F238E27FC236}">
                <a16:creationId xmlns:a16="http://schemas.microsoft.com/office/drawing/2014/main" id="{B537C74F-8636-420A-9B68-02D363B3F61A}"/>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1">
            <a:extLst>
              <a:ext uri="{FF2B5EF4-FFF2-40B4-BE49-F238E27FC236}">
                <a16:creationId xmlns:a16="http://schemas.microsoft.com/office/drawing/2014/main" id="{96A82866-D4CC-43BE-B32A-3D0290C8BABB}"/>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11</a:t>
            </a:r>
          </a:p>
        </p:txBody>
      </p:sp>
      <p:sp>
        <p:nvSpPr>
          <p:cNvPr id="8" name="line-008-1">
            <a:extLst>
              <a:ext uri="{FF2B5EF4-FFF2-40B4-BE49-F238E27FC236}">
                <a16:creationId xmlns:a16="http://schemas.microsoft.com/office/drawing/2014/main" id="{37E71F9B-EB97-4D35-B06C-408F7120B3BB}"/>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11-final-review-hook.txt">
            <a:extLst>
              <a:ext uri="{FF2B5EF4-FFF2-40B4-BE49-F238E27FC236}">
                <a16:creationId xmlns:a16="http://schemas.microsoft.com/office/drawing/2014/main" id="{697CB14E-258C-4ABA-96FD-EDAB4901102C}"/>
              </a:ext>
            </a:extLst>
          </p:cNvPr>
          <p:cNvSpPr>
            <a:spLocks noGrp="1"/>
          </p:cNvSpPr>
          <p:nvPr/>
        </p:nvSpPr>
        <p:spPr>
          <a:xfrm>
            <a:off x="781050" y="8615317"/>
            <a:ext cx="5553224"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prompts/11-final-review-hook.txt</a:t>
            </a:r>
          </a:p>
        </p:txBody>
      </p:sp>
      <p:sp>
        <p:nvSpPr>
          <p:cNvPr id="10" name="roundRect-010">
            <a:extLst>
              <a:ext uri="{FF2B5EF4-FFF2-40B4-BE49-F238E27FC236}">
                <a16:creationId xmlns:a16="http://schemas.microsoft.com/office/drawing/2014/main" id="{E1470994-B562-413E-9F0D-B878F02924AF}"/>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DBA6DE81-793C-48D3-AFFE-D96ED713A5F1}"/>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Build a final-result review hook that checks whether an anal">
            <a:extLst>
              <a:ext uri="{FF2B5EF4-FFF2-40B4-BE49-F238E27FC236}">
                <a16:creationId xmlns:a16="http://schemas.microsoft.com/office/drawing/2014/main" id="{6019F93B-BBCC-41F2-9E03-861905971740}"/>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Build a final-result review hook that checks whether an analysis outcome is consistent with its readiness decision and</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analysis contract. Compare the recorded model, variables, and contrast with the intended analysis; inspect execution</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status, data-handling declarations, result fields, uncertainty measures, and sample counts. Return individual findings</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and PASS, BLOCK, or FAIL for reporting.</a:t>
            </a:r>
          </a:p>
        </p:txBody>
      </p:sp>
      <p:sp>
        <p:nvSpPr>
          <p:cNvPr id="13" name="roundRect-013">
            <a:extLst>
              <a:ext uri="{FF2B5EF4-FFF2-40B4-BE49-F238E27FC236}">
                <a16:creationId xmlns:a16="http://schemas.microsoft.com/office/drawing/2014/main" id="{88A5B26B-B9E2-4FBA-9211-B4B4872CAFAB}"/>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D49F28E9-EF18-4368-B3DA-4C00054F70A6}"/>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FE8FF341-987D-401D-89A8-7D24A6F6145A}"/>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4C88BA57-FF7D-4E37-8BD5-58E2113AF8D9}"/>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Compare execution with readiness and the contract">
            <a:extLst>
              <a:ext uri="{FF2B5EF4-FFF2-40B4-BE49-F238E27FC236}">
                <a16:creationId xmlns:a16="http://schemas.microsoft.com/office/drawing/2014/main" id="{DED6B7AD-4CA0-4720-B154-86250422564D}"/>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Compare execution with readiness and the contract</a:t>
            </a:r>
          </a:p>
        </p:txBody>
      </p:sp>
      <p:sp>
        <p:nvSpPr>
          <p:cNvPr id="18" name="ellipse-018">
            <a:extLst>
              <a:ext uri="{FF2B5EF4-FFF2-40B4-BE49-F238E27FC236}">
                <a16:creationId xmlns:a16="http://schemas.microsoft.com/office/drawing/2014/main" id="{9CB1F2D6-AAF7-47B5-A7C9-EFF98C86583A}"/>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Inspect method-specific results and counts">
            <a:extLst>
              <a:ext uri="{FF2B5EF4-FFF2-40B4-BE49-F238E27FC236}">
                <a16:creationId xmlns:a16="http://schemas.microsoft.com/office/drawing/2014/main" id="{381FA6C3-B0D8-4141-9FD0-EE900A2CA026}"/>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Inspect method-specific results and counts</a:t>
            </a:r>
          </a:p>
        </p:txBody>
      </p:sp>
      <p:sp>
        <p:nvSpPr>
          <p:cNvPr id="20" name="ellipse-020">
            <a:extLst>
              <a:ext uri="{FF2B5EF4-FFF2-40B4-BE49-F238E27FC236}">
                <a16:creationId xmlns:a16="http://schemas.microsoft.com/office/drawing/2014/main" id="{D35AB702-8848-464F-9E1B-57D107656AC4}"/>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Return review findings and a release decision">
            <a:extLst>
              <a:ext uri="{FF2B5EF4-FFF2-40B4-BE49-F238E27FC236}">
                <a16:creationId xmlns:a16="http://schemas.microsoft.com/office/drawing/2014/main" id="{1FA0681E-9FEB-4DA8-AC06-92E8B8708A2B}"/>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Return review findings and a release decision</a:t>
            </a:r>
          </a:p>
        </p:txBody>
      </p:sp>
      <p:sp>
        <p:nvSpPr>
          <p:cNvPr id="22" name="text-022 INSPECT AFTER GENERATION">
            <a:extLst>
              <a:ext uri="{FF2B5EF4-FFF2-40B4-BE49-F238E27FC236}">
                <a16:creationId xmlns:a16="http://schemas.microsoft.com/office/drawing/2014/main" id="{3CB73F75-B0FB-4A4B-A783-2F69DD38A6E4}"/>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review checks the outcome against the supplied contract ">
            <a:extLst>
              <a:ext uri="{FF2B5EF4-FFF2-40B4-BE49-F238E27FC236}">
                <a16:creationId xmlns:a16="http://schemas.microsoft.com/office/drawing/2014/main" id="{BEE71050-D297-47E4-9E45-DF3F6584FC6E}"/>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review checks the outcome against the supplied</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contract and readiness decision, with a reason for each</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finding.</a:t>
            </a:r>
          </a:p>
        </p:txBody>
      </p:sp>
    </p:spTree>
    <p:extLst>
      <p:ext uri="{BB962C8B-B14F-4D97-AF65-F5344CB8AC3E}">
        <p14:creationId xmlns:p14="http://schemas.microsoft.com/office/powerpoint/2010/main" val="2041809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1" name="rect-001">
            <a:extLst>
              <a:ext uri="{FF2B5EF4-FFF2-40B4-BE49-F238E27FC236}">
                <a16:creationId xmlns:a16="http://schemas.microsoft.com/office/drawing/2014/main" id="{1838FACF-E053-49EC-A288-856F221C4C0F}"/>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15F461CD-7021-4FD3-988C-FF6680347FDE}"/>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REPORT-TEXT CHECK WITHIN THE REVIEW HOOK">
            <a:extLst>
              <a:ext uri="{FF2B5EF4-FFF2-40B4-BE49-F238E27FC236}">
                <a16:creationId xmlns:a16="http://schemas.microsoft.com/office/drawing/2014/main" id="{6BC55441-35B1-454D-A3DF-AF83903C343B}"/>
              </a:ext>
            </a:extLst>
          </p:cNvPr>
          <p:cNvSpPr>
            <a:spLocks noGrp="1"/>
          </p:cNvSpPr>
          <p:nvPr/>
        </p:nvSpPr>
        <p:spPr>
          <a:xfrm>
            <a:off x="781050" y="1042290"/>
            <a:ext cx="5172075"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REPORT-TEXT CHECK WITHIN THE REVIEW HOOK</a:t>
            </a:r>
          </a:p>
        </p:txBody>
      </p:sp>
      <p:sp>
        <p:nvSpPr>
          <p:cNvPr id="5" name="text-005 Check an optional final report">
            <a:extLst>
              <a:ext uri="{FF2B5EF4-FFF2-40B4-BE49-F238E27FC236}">
                <a16:creationId xmlns:a16="http://schemas.microsoft.com/office/drawing/2014/main" id="{31304BB6-637E-48AD-8E59-322F9E211B07}"/>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Check an optional final report</a:t>
            </a:r>
          </a:p>
        </p:txBody>
      </p:sp>
      <p:sp>
        <p:nvSpPr>
          <p:cNvPr id="6" name="roundRect-006">
            <a:extLst>
              <a:ext uri="{FF2B5EF4-FFF2-40B4-BE49-F238E27FC236}">
                <a16:creationId xmlns:a16="http://schemas.microsoft.com/office/drawing/2014/main" id="{E5B5B5D8-3074-4BAF-BAB1-40E701E2D89B}"/>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2">
            <a:extLst>
              <a:ext uri="{FF2B5EF4-FFF2-40B4-BE49-F238E27FC236}">
                <a16:creationId xmlns:a16="http://schemas.microsoft.com/office/drawing/2014/main" id="{738C797A-BF84-45B5-B926-2D24A6F23800}"/>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12</a:t>
            </a:r>
          </a:p>
        </p:txBody>
      </p:sp>
      <p:sp>
        <p:nvSpPr>
          <p:cNvPr id="8" name="line-008-1">
            <a:extLst>
              <a:ext uri="{FF2B5EF4-FFF2-40B4-BE49-F238E27FC236}">
                <a16:creationId xmlns:a16="http://schemas.microsoft.com/office/drawing/2014/main" id="{C5385411-6926-43D5-9259-E541078D70AE}"/>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12 / 13  •  Component responsibilities">
            <a:extLst>
              <a:ext uri="{FF2B5EF4-FFF2-40B4-BE49-F238E27FC236}">
                <a16:creationId xmlns:a16="http://schemas.microsoft.com/office/drawing/2014/main" id="{73D247B7-0860-4A38-A991-2286FA76B794}"/>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12 / 13  •  Component responsibilities</a:t>
            </a:r>
          </a:p>
        </p:txBody>
      </p:sp>
      <p:sp>
        <p:nvSpPr>
          <p:cNvPr id="10" name="roundRect-010">
            <a:extLst>
              <a:ext uri="{FF2B5EF4-FFF2-40B4-BE49-F238E27FC236}">
                <a16:creationId xmlns:a16="http://schemas.microsoft.com/office/drawing/2014/main" id="{3F1BEA9E-4AA0-48F9-90D7-B64F85E2E8EA}"/>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236B4F97-864C-4DC7-A358-1357B885E40B}"/>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Check supplied analysis text against a documented reporting ">
            <a:extLst>
              <a:ext uri="{FF2B5EF4-FFF2-40B4-BE49-F238E27FC236}">
                <a16:creationId xmlns:a16="http://schemas.microsoft.com/office/drawing/2014/main" id="{74952A81-8363-41CC-965B-D2B7EBE4CCD6}"/>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Check supplied analysis text against a</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documented reporting policy.</a:t>
            </a:r>
          </a:p>
        </p:txBody>
      </p:sp>
      <p:sp>
        <p:nvSpPr>
          <p:cNvPr id="13" name="text-013 INPUTS">
            <a:extLst>
              <a:ext uri="{FF2B5EF4-FFF2-40B4-BE49-F238E27FC236}">
                <a16:creationId xmlns:a16="http://schemas.microsoft.com/office/drawing/2014/main" id="{C9EF9B8E-08DA-4910-90FE-ED90BAC6070E}"/>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065A20E9-4E63-4F04-BB77-88DB93F5223D}"/>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Optional supplied report text">
            <a:extLst>
              <a:ext uri="{FF2B5EF4-FFF2-40B4-BE49-F238E27FC236}">
                <a16:creationId xmlns:a16="http://schemas.microsoft.com/office/drawing/2014/main" id="{8DC4AC61-063A-4FBF-9452-5CA2D4D24BEB}"/>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Optional supplied report text</a:t>
            </a:r>
          </a:p>
        </p:txBody>
      </p:sp>
      <p:sp>
        <p:nvSpPr>
          <p:cNvPr id="16" name="text-016 WHAT TO BUILD">
            <a:extLst>
              <a:ext uri="{FF2B5EF4-FFF2-40B4-BE49-F238E27FC236}">
                <a16:creationId xmlns:a16="http://schemas.microsoft.com/office/drawing/2014/main" id="{3D4F927D-0091-4EAE-BE52-D04ED4DD2FDA}"/>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17" name="ellipse-017">
            <a:extLst>
              <a:ext uri="{FF2B5EF4-FFF2-40B4-BE49-F238E27FC236}">
                <a16:creationId xmlns:a16="http://schemas.microsoft.com/office/drawing/2014/main" id="{4C0B9286-3095-4BB6-B652-E00C8FAE8EB9}"/>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18" name="text-018 Report-text finding in final_result_review.json">
            <a:extLst>
              <a:ext uri="{FF2B5EF4-FFF2-40B4-BE49-F238E27FC236}">
                <a16:creationId xmlns:a16="http://schemas.microsoft.com/office/drawing/2014/main" id="{796601D6-65A9-4814-B95D-1AC33B8854A3}"/>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Report-text finding in final_result_review.json</a:t>
            </a:r>
          </a:p>
        </p:txBody>
      </p:sp>
      <p:sp>
        <p:nvSpPr>
          <p:cNvPr id="19" name="text-019 FUNCTIONS / INTERFACES">
            <a:extLst>
              <a:ext uri="{FF2B5EF4-FFF2-40B4-BE49-F238E27FC236}">
                <a16:creationId xmlns:a16="http://schemas.microsoft.com/office/drawing/2014/main" id="{6F65C330-1085-485D-9C35-F846F4EE2D3B}"/>
              </a:ext>
            </a:extLst>
          </p:cNvPr>
          <p:cNvSpPr>
            <a:spLocks noGrp="1"/>
          </p:cNvSpPr>
          <p:nvPr/>
        </p:nvSpPr>
        <p:spPr>
          <a:xfrm>
            <a:off x="9220200" y="4073972"/>
            <a:ext cx="26287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FUNCTIONS / INTERFACES</a:t>
            </a:r>
          </a:p>
        </p:txBody>
      </p:sp>
      <p:sp>
        <p:nvSpPr>
          <p:cNvPr id="20" name="text-020 check_final_report_text">
            <a:extLst>
              <a:ext uri="{FF2B5EF4-FFF2-40B4-BE49-F238E27FC236}">
                <a16:creationId xmlns:a16="http://schemas.microsoft.com/office/drawing/2014/main" id="{258DF6CA-0659-4B09-93FD-1F0619B6E6FD}"/>
              </a:ext>
            </a:extLst>
          </p:cNvPr>
          <p:cNvSpPr>
            <a:spLocks noGrp="1"/>
          </p:cNvSpPr>
          <p:nvPr/>
        </p:nvSpPr>
        <p:spPr>
          <a:xfrm>
            <a:off x="9220200" y="4485784"/>
            <a:ext cx="7905750" cy="365760"/>
          </a:xfrm>
          <a:prstGeom prst="rect">
            <a:avLst/>
          </a:prstGeom>
          <a:noFill/>
          <a:ln w="0">
            <a:noFill/>
          </a:ln>
        </p:spPr>
        <p:txBody>
          <a:bodyPr wrap="none" lIns="0" tIns="0" rIns="0" bIns="0" anchor="t">
            <a:noAutofit/>
          </a:bodyPr>
          <a:lstStyle/>
          <a:p>
            <a:pPr algn="l">
              <a:lnSpc>
                <a:spcPct val="108333"/>
              </a:lnSpc>
              <a:buNone/>
              <a:defRPr sz="1800" b="0">
                <a:solidFill>
                  <a:srgbClr val="183047"/>
                </a:solidFill>
                <a:latin typeface="Consolas"/>
                <a:ea typeface="Consolas"/>
                <a:cs typeface="Consolas"/>
              </a:defRPr>
            </a:pPr>
            <a:r>
              <a:rPr sz="1800" b="0">
                <a:solidFill>
                  <a:srgbClr val="183047"/>
                </a:solidFill>
                <a:latin typeface="Consolas"/>
                <a:ea typeface="Consolas"/>
                <a:cs typeface="Consolas"/>
              </a:rPr>
              <a:t>check_final_report_text</a:t>
            </a:r>
          </a:p>
        </p:txBody>
      </p:sp>
    </p:spTree>
    <p:extLst>
      <p:ext uri="{BB962C8B-B14F-4D97-AF65-F5344CB8AC3E}">
        <p14:creationId xmlns:p14="http://schemas.microsoft.com/office/powerpoint/2010/main" val="1180297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CD207488-C36F-4177-8F93-EEE1822EFF3F}"/>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A44FF60E-E7F3-4849-B4C6-C88AE1FF7364}"/>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REPORT-TEXT CHECK WITHIN THE REVIEW HOOK">
            <a:extLst>
              <a:ext uri="{FF2B5EF4-FFF2-40B4-BE49-F238E27FC236}">
                <a16:creationId xmlns:a16="http://schemas.microsoft.com/office/drawing/2014/main" id="{2912DF9C-2325-4304-8638-9DE043A38117}"/>
              </a:ext>
            </a:extLst>
          </p:cNvPr>
          <p:cNvSpPr>
            <a:spLocks noGrp="1"/>
          </p:cNvSpPr>
          <p:nvPr/>
        </p:nvSpPr>
        <p:spPr>
          <a:xfrm>
            <a:off x="781050" y="1042290"/>
            <a:ext cx="5172075"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REPORT-TEXT CHECK WITHIN THE REVIEW HOOK</a:t>
            </a:r>
          </a:p>
        </p:txBody>
      </p:sp>
      <p:sp>
        <p:nvSpPr>
          <p:cNvPr id="5" name="text-005 Check an optional final report">
            <a:extLst>
              <a:ext uri="{FF2B5EF4-FFF2-40B4-BE49-F238E27FC236}">
                <a16:creationId xmlns:a16="http://schemas.microsoft.com/office/drawing/2014/main" id="{F9E6FF64-CADB-41CA-BCC0-1737129755B5}"/>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Check an optional final report</a:t>
            </a:r>
          </a:p>
        </p:txBody>
      </p:sp>
      <p:sp>
        <p:nvSpPr>
          <p:cNvPr id="6" name="roundRect-006">
            <a:extLst>
              <a:ext uri="{FF2B5EF4-FFF2-40B4-BE49-F238E27FC236}">
                <a16:creationId xmlns:a16="http://schemas.microsoft.com/office/drawing/2014/main" id="{7EC64F2A-35A3-4420-900E-1134CF72EA80}"/>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2">
            <a:extLst>
              <a:ext uri="{FF2B5EF4-FFF2-40B4-BE49-F238E27FC236}">
                <a16:creationId xmlns:a16="http://schemas.microsoft.com/office/drawing/2014/main" id="{B259DEED-5C19-4A6B-B6A2-294E31FFF284}"/>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12</a:t>
            </a:r>
          </a:p>
        </p:txBody>
      </p:sp>
      <p:sp>
        <p:nvSpPr>
          <p:cNvPr id="8" name="line-008-1">
            <a:extLst>
              <a:ext uri="{FF2B5EF4-FFF2-40B4-BE49-F238E27FC236}">
                <a16:creationId xmlns:a16="http://schemas.microsoft.com/office/drawing/2014/main" id="{FCB400B1-C454-4F25-92EE-3B22D047E17F}"/>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12-report-helper.txt">
            <a:extLst>
              <a:ext uri="{FF2B5EF4-FFF2-40B4-BE49-F238E27FC236}">
                <a16:creationId xmlns:a16="http://schemas.microsoft.com/office/drawing/2014/main" id="{42EDF14A-C613-49AB-9A24-7C27540B6548}"/>
              </a:ext>
            </a:extLst>
          </p:cNvPr>
          <p:cNvSpPr>
            <a:spLocks noGrp="1"/>
          </p:cNvSpPr>
          <p:nvPr/>
        </p:nvSpPr>
        <p:spPr>
          <a:xfrm>
            <a:off x="781050" y="8615317"/>
            <a:ext cx="5181302"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prompts/12-report-helper.txt</a:t>
            </a:r>
          </a:p>
        </p:txBody>
      </p:sp>
      <p:sp>
        <p:nvSpPr>
          <p:cNvPr id="10" name="roundRect-010">
            <a:extLst>
              <a:ext uri="{FF2B5EF4-FFF2-40B4-BE49-F238E27FC236}">
                <a16:creationId xmlns:a16="http://schemas.microsoft.com/office/drawing/2014/main" id="{ABDCF10F-8A7A-49BB-9793-586E8240CF52}"/>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DCF001BF-0B2D-4FF3-B8FA-FD73E88EBED2}"/>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Add an optional report-text check that scans supplied analys">
            <a:extLst>
              <a:ext uri="{FF2B5EF4-FFF2-40B4-BE49-F238E27FC236}">
                <a16:creationId xmlns:a16="http://schemas.microsoft.com/office/drawing/2014/main" id="{7D25F13D-432D-419A-A31A-37D08D38F903}"/>
              </a:ext>
            </a:extLst>
          </p:cNvPr>
          <p:cNvSpPr>
            <a:spLocks noGrp="1"/>
          </p:cNvSpPr>
          <p:nvPr/>
        </p:nvSpPr>
        <p:spPr>
          <a:xfrm>
            <a:off x="1123950" y="3390549"/>
            <a:ext cx="16097250" cy="1298448"/>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Add an optional report-text check that scans supplied analysis text for phrases restricted by a documented reporting</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policy. Use case-insensitive matching, record any matching patterns, and add a failed finding when a restricted phrase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appears. Add a passing finding when no phrase matches, or an explicit note when no report text was supplied.</a:t>
            </a:r>
          </a:p>
        </p:txBody>
      </p:sp>
      <p:sp>
        <p:nvSpPr>
          <p:cNvPr id="13" name="roundRect-013">
            <a:extLst>
              <a:ext uri="{FF2B5EF4-FFF2-40B4-BE49-F238E27FC236}">
                <a16:creationId xmlns:a16="http://schemas.microsoft.com/office/drawing/2014/main" id="{7B05B55D-5ACC-432E-8197-A143F0D2E368}"/>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E41625D3-9385-4448-89AA-25E00B9CE3E6}"/>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827544C1-1DC7-480A-AC0D-3B71C170BF37}"/>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CAEBCD82-9E4E-411F-9C1A-62200DA2C156}"/>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Accept report text and the reporting policy">
            <a:extLst>
              <a:ext uri="{FF2B5EF4-FFF2-40B4-BE49-F238E27FC236}">
                <a16:creationId xmlns:a16="http://schemas.microsoft.com/office/drawing/2014/main" id="{7F3A8679-519A-4B15-B9A5-6A1CB641AA28}"/>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Accept report text and the reporting policy</a:t>
            </a:r>
          </a:p>
        </p:txBody>
      </p:sp>
      <p:sp>
        <p:nvSpPr>
          <p:cNvPr id="18" name="ellipse-018">
            <a:extLst>
              <a:ext uri="{FF2B5EF4-FFF2-40B4-BE49-F238E27FC236}">
                <a16:creationId xmlns:a16="http://schemas.microsoft.com/office/drawing/2014/main" id="{B8FBE1E0-5E55-456C-A3D3-2BBDE3AAD840}"/>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Scan the configured phrases">
            <a:extLst>
              <a:ext uri="{FF2B5EF4-FFF2-40B4-BE49-F238E27FC236}">
                <a16:creationId xmlns:a16="http://schemas.microsoft.com/office/drawing/2014/main" id="{CE0691CE-ABAD-469E-A131-ADAF22CBE24C}"/>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Scan the configured phrases</a:t>
            </a:r>
          </a:p>
        </p:txBody>
      </p:sp>
      <p:sp>
        <p:nvSpPr>
          <p:cNvPr id="20" name="ellipse-020">
            <a:extLst>
              <a:ext uri="{FF2B5EF4-FFF2-40B4-BE49-F238E27FC236}">
                <a16:creationId xmlns:a16="http://schemas.microsoft.com/office/drawing/2014/main" id="{CB92D526-15A8-4DD1-BF71-98EDE549D36B}"/>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Return matches or the no-report note">
            <a:extLst>
              <a:ext uri="{FF2B5EF4-FFF2-40B4-BE49-F238E27FC236}">
                <a16:creationId xmlns:a16="http://schemas.microsoft.com/office/drawing/2014/main" id="{6063AEDC-4E7D-4191-9980-14240920D8F8}"/>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Return matches or the no-report note</a:t>
            </a:r>
          </a:p>
        </p:txBody>
      </p:sp>
      <p:sp>
        <p:nvSpPr>
          <p:cNvPr id="22" name="text-022 INSPECT AFTER GENERATION">
            <a:extLst>
              <a:ext uri="{FF2B5EF4-FFF2-40B4-BE49-F238E27FC236}">
                <a16:creationId xmlns:a16="http://schemas.microsoft.com/office/drawing/2014/main" id="{E4C573F9-AC09-42CF-8431-736786C4D335}"/>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he finding identifies policy matches or records that no rep">
            <a:extLst>
              <a:ext uri="{FF2B5EF4-FFF2-40B4-BE49-F238E27FC236}">
                <a16:creationId xmlns:a16="http://schemas.microsoft.com/office/drawing/2014/main" id="{CFD01487-5CE9-4F32-8DE0-8C10858F54B7}"/>
              </a:ext>
            </a:extLst>
          </p:cNvPr>
          <p:cNvSpPr>
            <a:spLocks noGrp="1"/>
          </p:cNvSpPr>
          <p:nvPr/>
        </p:nvSpPr>
        <p:spPr>
          <a:xfrm>
            <a:off x="10629900" y="6182533"/>
            <a:ext cx="6572250" cy="116014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The finding identifies policy matches or records that</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no report was supplied, and contributes to the final</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review decision.</a:t>
            </a:r>
          </a:p>
        </p:txBody>
      </p:sp>
    </p:spTree>
    <p:extLst>
      <p:ext uri="{BB962C8B-B14F-4D97-AF65-F5344CB8AC3E}">
        <p14:creationId xmlns:p14="http://schemas.microsoft.com/office/powerpoint/2010/main" val="8168327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31" name="rect-001">
            <a:extLst>
              <a:ext uri="{FF2B5EF4-FFF2-40B4-BE49-F238E27FC236}">
                <a16:creationId xmlns:a16="http://schemas.microsoft.com/office/drawing/2014/main" id="{BD2071FE-77B1-4818-A824-BD125584FBF7}"/>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D6F57164-926F-4B28-B4AD-747CD5727F46}"/>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WORKFLOW SKILL + AGENT HARNESS">
            <a:extLst>
              <a:ext uri="{FF2B5EF4-FFF2-40B4-BE49-F238E27FC236}">
                <a16:creationId xmlns:a16="http://schemas.microsoft.com/office/drawing/2014/main" id="{61601C54-4CD2-44A4-AEC5-BFC0335414F6}"/>
              </a:ext>
            </a:extLst>
          </p:cNvPr>
          <p:cNvSpPr>
            <a:spLocks noGrp="1"/>
          </p:cNvSpPr>
          <p:nvPr/>
        </p:nvSpPr>
        <p:spPr>
          <a:xfrm>
            <a:off x="781050" y="1042290"/>
            <a:ext cx="4047976"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WORKFLOW SKILL + AGENT HARNESS</a:t>
            </a:r>
          </a:p>
        </p:txBody>
      </p:sp>
      <p:sp>
        <p:nvSpPr>
          <p:cNvPr id="5" name="text-005 Make the workflow usable through conversation">
            <a:extLst>
              <a:ext uri="{FF2B5EF4-FFF2-40B4-BE49-F238E27FC236}">
                <a16:creationId xmlns:a16="http://schemas.microsoft.com/office/drawing/2014/main" id="{085606C3-E49A-4855-96C0-EE44B98EE4A2}"/>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Make the workflow usable through conversation</a:t>
            </a:r>
          </a:p>
        </p:txBody>
      </p:sp>
      <p:sp>
        <p:nvSpPr>
          <p:cNvPr id="6" name="roundRect-006">
            <a:extLst>
              <a:ext uri="{FF2B5EF4-FFF2-40B4-BE49-F238E27FC236}">
                <a16:creationId xmlns:a16="http://schemas.microsoft.com/office/drawing/2014/main" id="{2F378FD5-1E34-43A8-96FD-EB86405B4C6C}"/>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3">
            <a:extLst>
              <a:ext uri="{FF2B5EF4-FFF2-40B4-BE49-F238E27FC236}">
                <a16:creationId xmlns:a16="http://schemas.microsoft.com/office/drawing/2014/main" id="{0407AC31-6204-4B71-93D9-41ED10262807}"/>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13</a:t>
            </a:r>
          </a:p>
        </p:txBody>
      </p:sp>
      <p:sp>
        <p:nvSpPr>
          <p:cNvPr id="8" name="line-008-1">
            <a:extLst>
              <a:ext uri="{FF2B5EF4-FFF2-40B4-BE49-F238E27FC236}">
                <a16:creationId xmlns:a16="http://schemas.microsoft.com/office/drawing/2014/main" id="{A53DDDE5-8B39-48BC-BC29-7F58C0022004}"/>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Chapter 13 / 13  •  Component responsibilities">
            <a:extLst>
              <a:ext uri="{FF2B5EF4-FFF2-40B4-BE49-F238E27FC236}">
                <a16:creationId xmlns:a16="http://schemas.microsoft.com/office/drawing/2014/main" id="{AB7FCB49-0724-4A4B-A8DF-8D7265A6E551}"/>
              </a:ext>
            </a:extLst>
          </p:cNvPr>
          <p:cNvSpPr>
            <a:spLocks noGrp="1"/>
          </p:cNvSpPr>
          <p:nvPr/>
        </p:nvSpPr>
        <p:spPr>
          <a:xfrm>
            <a:off x="781050" y="8615317"/>
            <a:ext cx="4381500"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Chapter 13 / 13  •  Component responsibilities</a:t>
            </a:r>
          </a:p>
        </p:txBody>
      </p:sp>
      <p:sp>
        <p:nvSpPr>
          <p:cNvPr id="10" name="roundRect-010">
            <a:extLst>
              <a:ext uri="{FF2B5EF4-FFF2-40B4-BE49-F238E27FC236}">
                <a16:creationId xmlns:a16="http://schemas.microsoft.com/office/drawing/2014/main" id="{A9C211D3-00B6-449D-A0DB-E51EB8BB3E0D}"/>
              </a:ext>
            </a:extLst>
          </p:cNvPr>
          <p:cNvSpPr>
            <a:spLocks noGrp="1"/>
          </p:cNvSpPr>
          <p:nvPr/>
        </p:nvSpPr>
        <p:spPr>
          <a:xfrm>
            <a:off x="762000" y="2733675"/>
            <a:ext cx="781050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1" name="roundRect-011">
            <a:extLst>
              <a:ext uri="{FF2B5EF4-FFF2-40B4-BE49-F238E27FC236}">
                <a16:creationId xmlns:a16="http://schemas.microsoft.com/office/drawing/2014/main" id="{B37EE304-9D07-4DC9-9FC6-AE1EA284A35E}"/>
              </a:ext>
            </a:extLst>
          </p:cNvPr>
          <p:cNvSpPr>
            <a:spLocks noGrp="1"/>
          </p:cNvSpPr>
          <p:nvPr/>
        </p:nvSpPr>
        <p:spPr>
          <a:xfrm>
            <a:off x="8858250" y="2733675"/>
            <a:ext cx="8667750" cy="5372100"/>
          </a:xfrm>
          <a:prstGeom prst="roundRect">
            <a:avLst>
              <a:gd name="adj" fmla="val 3901"/>
            </a:avLst>
          </a:prstGeom>
          <a:solidFill>
            <a:srgbClr val="FFFFFF"/>
          </a:solidFill>
          <a:ln w="19050">
            <a:solidFill>
              <a:srgbClr val="D9E4EB"/>
            </a:solidFill>
          </a:ln>
        </p:spPr>
        <p:txBody>
          <a:bodyPr/>
          <a:lstStyle/>
          <a:p>
            <a:endParaRPr lang="en-US"/>
          </a:p>
        </p:txBody>
      </p:sp>
      <p:sp>
        <p:nvSpPr>
          <p:cNvPr id="12" name="text-012 Teach the agent how to handle an analysis task using the wor">
            <a:extLst>
              <a:ext uri="{FF2B5EF4-FFF2-40B4-BE49-F238E27FC236}">
                <a16:creationId xmlns:a16="http://schemas.microsoft.com/office/drawing/2014/main" id="{ABB06CF0-4D00-452C-A407-9D54FD6D1FCD}"/>
              </a:ext>
            </a:extLst>
          </p:cNvPr>
          <p:cNvSpPr>
            <a:spLocks noGrp="1"/>
          </p:cNvSpPr>
          <p:nvPr/>
        </p:nvSpPr>
        <p:spPr>
          <a:xfrm>
            <a:off x="1104900" y="3024546"/>
            <a:ext cx="7143750" cy="1028700"/>
          </a:xfrm>
          <a:prstGeom prst="rect">
            <a:avLst/>
          </a:prstGeom>
          <a:noFill/>
          <a:ln w="0">
            <a:noFill/>
          </a:ln>
        </p:spPr>
        <p:txBody>
          <a:bodyPr wrap="none" lIns="0" tIns="0" rIns="0" bIns="0" anchor="t">
            <a:noAutofit/>
          </a:bodyPr>
          <a:lstStyle/>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Teach the agent how to handle an analysis</a:t>
            </a:r>
          </a:p>
          <a:p>
            <a:pPr algn="l">
              <a:lnSpc>
                <a:spcPct val="112500"/>
              </a:lnSpc>
              <a:buNone/>
              <a:defRPr sz="2700" b="1">
                <a:solidFill>
                  <a:srgbClr val="183047"/>
                </a:solidFill>
                <a:latin typeface="Segoe UI"/>
                <a:ea typeface="Segoe UI"/>
                <a:cs typeface="Segoe UI"/>
              </a:defRPr>
            </a:pPr>
            <a:r>
              <a:rPr sz="2700" b="1">
                <a:solidFill>
                  <a:srgbClr val="183047"/>
                </a:solidFill>
                <a:latin typeface="Segoe UI"/>
                <a:ea typeface="Segoe UI"/>
                <a:cs typeface="Segoe UI"/>
              </a:rPr>
              <a:t>task using the workflow.</a:t>
            </a:r>
          </a:p>
        </p:txBody>
      </p:sp>
      <p:sp>
        <p:nvSpPr>
          <p:cNvPr id="13" name="text-013 INPUTS">
            <a:extLst>
              <a:ext uri="{FF2B5EF4-FFF2-40B4-BE49-F238E27FC236}">
                <a16:creationId xmlns:a16="http://schemas.microsoft.com/office/drawing/2014/main" id="{844D924A-9860-455E-A5C7-D59E8C17E080}"/>
              </a:ext>
            </a:extLst>
          </p:cNvPr>
          <p:cNvSpPr>
            <a:spLocks noGrp="1"/>
          </p:cNvSpPr>
          <p:nvPr/>
        </p:nvSpPr>
        <p:spPr>
          <a:xfrm>
            <a:off x="1104900" y="4198273"/>
            <a:ext cx="8382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INPUTS</a:t>
            </a:r>
          </a:p>
        </p:txBody>
      </p:sp>
      <p:sp>
        <p:nvSpPr>
          <p:cNvPr id="14" name="ellipse-014">
            <a:extLst>
              <a:ext uri="{FF2B5EF4-FFF2-40B4-BE49-F238E27FC236}">
                <a16:creationId xmlns:a16="http://schemas.microsoft.com/office/drawing/2014/main" id="{67082CFF-9030-4082-9EE7-199C7E183CA4}"/>
              </a:ext>
            </a:extLst>
          </p:cNvPr>
          <p:cNvSpPr>
            <a:spLocks noGrp="1"/>
          </p:cNvSpPr>
          <p:nvPr/>
        </p:nvSpPr>
        <p:spPr>
          <a:xfrm>
            <a:off x="1104900" y="4716780"/>
            <a:ext cx="76200" cy="76200"/>
          </a:xfrm>
          <a:prstGeom prst="ellipse">
            <a:avLst/>
          </a:prstGeom>
          <a:solidFill>
            <a:srgbClr val="137F7B"/>
          </a:solidFill>
          <a:ln w="0">
            <a:noFill/>
          </a:ln>
        </p:spPr>
        <p:txBody>
          <a:bodyPr/>
          <a:lstStyle/>
          <a:p>
            <a:endParaRPr lang="en-US"/>
          </a:p>
        </p:txBody>
      </p:sp>
      <p:sp>
        <p:nvSpPr>
          <p:cNvPr id="15" name="text-015 User question, estimand, and endpoint">
            <a:extLst>
              <a:ext uri="{FF2B5EF4-FFF2-40B4-BE49-F238E27FC236}">
                <a16:creationId xmlns:a16="http://schemas.microsoft.com/office/drawing/2014/main" id="{56F539EF-E392-42F6-B6E2-0389D00ECD5B}"/>
              </a:ext>
            </a:extLst>
          </p:cNvPr>
          <p:cNvSpPr>
            <a:spLocks noGrp="1"/>
          </p:cNvSpPr>
          <p:nvPr/>
        </p:nvSpPr>
        <p:spPr>
          <a:xfrm>
            <a:off x="1343025" y="4574061"/>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User question, estimand, and endpoint</a:t>
            </a:r>
          </a:p>
        </p:txBody>
      </p:sp>
      <p:sp>
        <p:nvSpPr>
          <p:cNvPr id="16" name="ellipse-016">
            <a:extLst>
              <a:ext uri="{FF2B5EF4-FFF2-40B4-BE49-F238E27FC236}">
                <a16:creationId xmlns:a16="http://schemas.microsoft.com/office/drawing/2014/main" id="{3FF146C6-4C69-474C-B551-7772F13A306E}"/>
              </a:ext>
            </a:extLst>
          </p:cNvPr>
          <p:cNvSpPr>
            <a:spLocks noGrp="1"/>
          </p:cNvSpPr>
          <p:nvPr/>
        </p:nvSpPr>
        <p:spPr>
          <a:xfrm>
            <a:off x="1104900" y="5223034"/>
            <a:ext cx="76200" cy="76200"/>
          </a:xfrm>
          <a:prstGeom prst="ellipse">
            <a:avLst/>
          </a:prstGeom>
          <a:solidFill>
            <a:srgbClr val="137F7B"/>
          </a:solidFill>
          <a:ln w="0">
            <a:noFill/>
          </a:ln>
        </p:spPr>
        <p:txBody>
          <a:bodyPr/>
          <a:lstStyle/>
          <a:p>
            <a:endParaRPr lang="en-US"/>
          </a:p>
        </p:txBody>
      </p:sp>
      <p:sp>
        <p:nvSpPr>
          <p:cNvPr id="17" name="text-017 SAP, selected datasets, and output location">
            <a:extLst>
              <a:ext uri="{FF2B5EF4-FFF2-40B4-BE49-F238E27FC236}">
                <a16:creationId xmlns:a16="http://schemas.microsoft.com/office/drawing/2014/main" id="{43C46498-15EB-4083-890C-6B994080C96A}"/>
              </a:ext>
            </a:extLst>
          </p:cNvPr>
          <p:cNvSpPr>
            <a:spLocks noGrp="1"/>
          </p:cNvSpPr>
          <p:nvPr/>
        </p:nvSpPr>
        <p:spPr>
          <a:xfrm>
            <a:off x="1343025" y="5080315"/>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SAP, selected datasets, and output location</a:t>
            </a:r>
          </a:p>
        </p:txBody>
      </p:sp>
      <p:sp>
        <p:nvSpPr>
          <p:cNvPr id="18" name="ellipse-018">
            <a:extLst>
              <a:ext uri="{FF2B5EF4-FFF2-40B4-BE49-F238E27FC236}">
                <a16:creationId xmlns:a16="http://schemas.microsoft.com/office/drawing/2014/main" id="{5D761B26-FB9F-4132-A0A0-459FAC918DC4}"/>
              </a:ext>
            </a:extLst>
          </p:cNvPr>
          <p:cNvSpPr>
            <a:spLocks noGrp="1"/>
          </p:cNvSpPr>
          <p:nvPr/>
        </p:nvSpPr>
        <p:spPr>
          <a:xfrm>
            <a:off x="1104900" y="5729288"/>
            <a:ext cx="76200" cy="76200"/>
          </a:xfrm>
          <a:prstGeom prst="ellipse">
            <a:avLst/>
          </a:prstGeom>
          <a:solidFill>
            <a:srgbClr val="137F7B"/>
          </a:solidFill>
          <a:ln w="0">
            <a:noFill/>
          </a:ln>
        </p:spPr>
        <p:txBody>
          <a:bodyPr/>
          <a:lstStyle/>
          <a:p>
            <a:endParaRPr lang="en-US"/>
          </a:p>
        </p:txBody>
      </p:sp>
      <p:sp>
        <p:nvSpPr>
          <p:cNvPr id="19" name="text-019 Prior artifacts for follow-up questions">
            <a:extLst>
              <a:ext uri="{FF2B5EF4-FFF2-40B4-BE49-F238E27FC236}">
                <a16:creationId xmlns:a16="http://schemas.microsoft.com/office/drawing/2014/main" id="{FCE32AA6-C720-4D02-9860-96B5E6B4B328}"/>
              </a:ext>
            </a:extLst>
          </p:cNvPr>
          <p:cNvSpPr>
            <a:spLocks noGrp="1"/>
          </p:cNvSpPr>
          <p:nvPr/>
        </p:nvSpPr>
        <p:spPr>
          <a:xfrm>
            <a:off x="1343025" y="5586569"/>
            <a:ext cx="68580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Prior artifacts for follow-up questions</a:t>
            </a:r>
          </a:p>
        </p:txBody>
      </p:sp>
      <p:sp>
        <p:nvSpPr>
          <p:cNvPr id="20" name="text-020 WHAT TO BUILD">
            <a:extLst>
              <a:ext uri="{FF2B5EF4-FFF2-40B4-BE49-F238E27FC236}">
                <a16:creationId xmlns:a16="http://schemas.microsoft.com/office/drawing/2014/main" id="{74C1E1DE-F2D3-4BB1-8939-4E045B6F4D59}"/>
              </a:ext>
            </a:extLst>
          </p:cNvPr>
          <p:cNvSpPr>
            <a:spLocks noGrp="1"/>
          </p:cNvSpPr>
          <p:nvPr/>
        </p:nvSpPr>
        <p:spPr>
          <a:xfrm>
            <a:off x="9220200" y="3034318"/>
            <a:ext cx="1685627"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WHAT TO BUILD</a:t>
            </a:r>
          </a:p>
        </p:txBody>
      </p:sp>
      <p:sp>
        <p:nvSpPr>
          <p:cNvPr id="21" name="ellipse-021">
            <a:extLst>
              <a:ext uri="{FF2B5EF4-FFF2-40B4-BE49-F238E27FC236}">
                <a16:creationId xmlns:a16="http://schemas.microsoft.com/office/drawing/2014/main" id="{4C429EE1-7DFF-4945-8D24-DD59A32ECDBE}"/>
              </a:ext>
            </a:extLst>
          </p:cNvPr>
          <p:cNvSpPr>
            <a:spLocks noGrp="1"/>
          </p:cNvSpPr>
          <p:nvPr/>
        </p:nvSpPr>
        <p:spPr>
          <a:xfrm>
            <a:off x="9220200" y="3609975"/>
            <a:ext cx="76200" cy="76200"/>
          </a:xfrm>
          <a:prstGeom prst="ellipse">
            <a:avLst/>
          </a:prstGeom>
          <a:solidFill>
            <a:srgbClr val="137F7B"/>
          </a:solidFill>
          <a:ln w="0">
            <a:noFill/>
          </a:ln>
        </p:spPr>
        <p:txBody>
          <a:bodyPr/>
          <a:lstStyle/>
          <a:p>
            <a:endParaRPr lang="en-US"/>
          </a:p>
        </p:txBody>
      </p:sp>
      <p:sp>
        <p:nvSpPr>
          <p:cNvPr id="22" name="text-022 Workflow SKILL.md with task instructions">
            <a:extLst>
              <a:ext uri="{FF2B5EF4-FFF2-40B4-BE49-F238E27FC236}">
                <a16:creationId xmlns:a16="http://schemas.microsoft.com/office/drawing/2014/main" id="{C2F5763E-1ACD-4950-AAEB-E78B475B946A}"/>
              </a:ext>
            </a:extLst>
          </p:cNvPr>
          <p:cNvSpPr>
            <a:spLocks noGrp="1"/>
          </p:cNvSpPr>
          <p:nvPr/>
        </p:nvSpPr>
        <p:spPr>
          <a:xfrm>
            <a:off x="9458325" y="3467256"/>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Workflow SKILL.md with task instructions</a:t>
            </a:r>
          </a:p>
        </p:txBody>
      </p:sp>
      <p:sp>
        <p:nvSpPr>
          <p:cNvPr id="23" name="ellipse-023">
            <a:extLst>
              <a:ext uri="{FF2B5EF4-FFF2-40B4-BE49-F238E27FC236}">
                <a16:creationId xmlns:a16="http://schemas.microsoft.com/office/drawing/2014/main" id="{485EFE56-6B35-4508-B7F7-DDC65A11CF45}"/>
              </a:ext>
            </a:extLst>
          </p:cNvPr>
          <p:cNvSpPr>
            <a:spLocks noGrp="1"/>
          </p:cNvSpPr>
          <p:nvPr/>
        </p:nvSpPr>
        <p:spPr>
          <a:xfrm>
            <a:off x="9220200" y="4116229"/>
            <a:ext cx="76200" cy="76200"/>
          </a:xfrm>
          <a:prstGeom prst="ellipse">
            <a:avLst/>
          </a:prstGeom>
          <a:solidFill>
            <a:srgbClr val="137F7B"/>
          </a:solidFill>
          <a:ln w="0">
            <a:noFill/>
          </a:ln>
        </p:spPr>
        <p:txBody>
          <a:bodyPr/>
          <a:lstStyle/>
          <a:p>
            <a:endParaRPr lang="en-US"/>
          </a:p>
        </p:txBody>
      </p:sp>
      <p:sp>
        <p:nvSpPr>
          <p:cNvPr id="24" name="text-024 Tool selection, gate, and response rules">
            <a:extLst>
              <a:ext uri="{FF2B5EF4-FFF2-40B4-BE49-F238E27FC236}">
                <a16:creationId xmlns:a16="http://schemas.microsoft.com/office/drawing/2014/main" id="{E1B65E75-10B9-4C32-B3F1-CB95F4CA9861}"/>
              </a:ext>
            </a:extLst>
          </p:cNvPr>
          <p:cNvSpPr>
            <a:spLocks noGrp="1"/>
          </p:cNvSpPr>
          <p:nvPr/>
        </p:nvSpPr>
        <p:spPr>
          <a:xfrm>
            <a:off x="9458325" y="3973510"/>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Tool selection, gate, and response rules</a:t>
            </a:r>
          </a:p>
        </p:txBody>
      </p:sp>
      <p:sp>
        <p:nvSpPr>
          <p:cNvPr id="25" name="ellipse-025">
            <a:extLst>
              <a:ext uri="{FF2B5EF4-FFF2-40B4-BE49-F238E27FC236}">
                <a16:creationId xmlns:a16="http://schemas.microsoft.com/office/drawing/2014/main" id="{536368CA-A69B-4F48-B690-54C343B9EB40}"/>
              </a:ext>
            </a:extLst>
          </p:cNvPr>
          <p:cNvSpPr>
            <a:spLocks noGrp="1"/>
          </p:cNvSpPr>
          <p:nvPr/>
        </p:nvSpPr>
        <p:spPr>
          <a:xfrm>
            <a:off x="9220200" y="4622483"/>
            <a:ext cx="76200" cy="76200"/>
          </a:xfrm>
          <a:prstGeom prst="ellipse">
            <a:avLst/>
          </a:prstGeom>
          <a:solidFill>
            <a:srgbClr val="137F7B"/>
          </a:solidFill>
          <a:ln w="0">
            <a:noFill/>
          </a:ln>
        </p:spPr>
        <p:txBody>
          <a:bodyPr/>
          <a:lstStyle/>
          <a:p>
            <a:endParaRPr lang="en-US"/>
          </a:p>
        </p:txBody>
      </p:sp>
      <p:sp>
        <p:nvSpPr>
          <p:cNvPr id="26" name="text-026 Decisions and artifact paths in state">
            <a:extLst>
              <a:ext uri="{FF2B5EF4-FFF2-40B4-BE49-F238E27FC236}">
                <a16:creationId xmlns:a16="http://schemas.microsoft.com/office/drawing/2014/main" id="{0E1DFD96-9E94-429E-8059-26937016E244}"/>
              </a:ext>
            </a:extLst>
          </p:cNvPr>
          <p:cNvSpPr>
            <a:spLocks noGrp="1"/>
          </p:cNvSpPr>
          <p:nvPr/>
        </p:nvSpPr>
        <p:spPr>
          <a:xfrm>
            <a:off x="9458325" y="4479764"/>
            <a:ext cx="7734300" cy="455771"/>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Decisions and artifact paths in state</a:t>
            </a:r>
          </a:p>
        </p:txBody>
      </p:sp>
      <p:sp>
        <p:nvSpPr>
          <p:cNvPr id="27" name="roundRect-027">
            <a:extLst>
              <a:ext uri="{FF2B5EF4-FFF2-40B4-BE49-F238E27FC236}">
                <a16:creationId xmlns:a16="http://schemas.microsoft.com/office/drawing/2014/main" id="{45AADEC3-EA62-428F-8462-A28606EC15B1}"/>
              </a:ext>
            </a:extLst>
          </p:cNvPr>
          <p:cNvSpPr>
            <a:spLocks noGrp="1"/>
          </p:cNvSpPr>
          <p:nvPr/>
        </p:nvSpPr>
        <p:spPr>
          <a:xfrm>
            <a:off x="9220200" y="5476875"/>
            <a:ext cx="7943850" cy="2266950"/>
          </a:xfrm>
          <a:prstGeom prst="roundRect">
            <a:avLst>
              <a:gd name="adj" fmla="val 9244"/>
            </a:avLst>
          </a:prstGeom>
          <a:solidFill>
            <a:srgbClr val="E6F3F1"/>
          </a:solidFill>
          <a:ln w="19050">
            <a:solidFill>
              <a:srgbClr val="D9E4EB"/>
            </a:solidFill>
          </a:ln>
        </p:spPr>
        <p:txBody>
          <a:bodyPr/>
          <a:lstStyle/>
          <a:p>
            <a:endParaRPr lang="en-US"/>
          </a:p>
        </p:txBody>
      </p:sp>
      <p:sp>
        <p:nvSpPr>
          <p:cNvPr id="28" name="text-028 EXAMPLE USER TASK">
            <a:extLst>
              <a:ext uri="{FF2B5EF4-FFF2-40B4-BE49-F238E27FC236}">
                <a16:creationId xmlns:a16="http://schemas.microsoft.com/office/drawing/2014/main" id="{F2D80DA6-16AF-49C9-8DC6-9B480153AD8B}"/>
              </a:ext>
            </a:extLst>
          </p:cNvPr>
          <p:cNvSpPr>
            <a:spLocks noGrp="1"/>
          </p:cNvSpPr>
          <p:nvPr/>
        </p:nvSpPr>
        <p:spPr>
          <a:xfrm>
            <a:off x="9486900" y="5682268"/>
            <a:ext cx="2133451"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EXAMPLE USER TASK</a:t>
            </a:r>
          </a:p>
        </p:txBody>
      </p:sp>
      <p:sp>
        <p:nvSpPr>
          <p:cNvPr id="29" name="text-029 Check readiness for this endpoint, then explain any blocking">
            <a:extLst>
              <a:ext uri="{FF2B5EF4-FFF2-40B4-BE49-F238E27FC236}">
                <a16:creationId xmlns:a16="http://schemas.microsoft.com/office/drawing/2014/main" id="{9DE346D3-7BD5-4D46-A6C6-54BC8CB12A9E}"/>
              </a:ext>
            </a:extLst>
          </p:cNvPr>
          <p:cNvSpPr>
            <a:spLocks noGrp="1"/>
          </p:cNvSpPr>
          <p:nvPr/>
        </p:nvSpPr>
        <p:spPr>
          <a:xfrm>
            <a:off x="9486900" y="6096156"/>
            <a:ext cx="7334250" cy="828675"/>
          </a:xfrm>
          <a:prstGeom prst="rect">
            <a:avLst/>
          </a:prstGeom>
          <a:noFill/>
          <a:ln w="0">
            <a:noFill/>
          </a:ln>
        </p:spPr>
        <p:txBody>
          <a:bodyPr wrap="none" lIns="0" tIns="0" rIns="0" bIns="0" anchor="t">
            <a:noAutofit/>
          </a:bodyPr>
          <a:lstStyle/>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Check readiness for this endpoint, then explain any</a:t>
            </a:r>
          </a:p>
          <a:p>
            <a:pPr algn="l">
              <a:lnSpc>
                <a:spcPct val="112500"/>
              </a:lnSpc>
              <a:buNone/>
              <a:defRPr sz="2175" b="0">
                <a:solidFill>
                  <a:srgbClr val="183047"/>
                </a:solidFill>
                <a:latin typeface="Segoe UI"/>
                <a:ea typeface="Segoe UI"/>
                <a:cs typeface="Segoe UI"/>
              </a:defRPr>
            </a:pPr>
            <a:r>
              <a:rPr sz="2175" b="0">
                <a:solidFill>
                  <a:srgbClr val="183047"/>
                </a:solidFill>
                <a:latin typeface="Segoe UI"/>
                <a:ea typeface="Segoe UI"/>
                <a:cs typeface="Segoe UI"/>
              </a:rPr>
              <a:t>blocking issues.</a:t>
            </a:r>
          </a:p>
        </p:txBody>
      </p:sp>
      <p:sp>
        <p:nvSpPr>
          <p:cNvPr id="30" name="text-030 Agent applies the skill → checks → explains">
            <a:extLst>
              <a:ext uri="{FF2B5EF4-FFF2-40B4-BE49-F238E27FC236}">
                <a16:creationId xmlns:a16="http://schemas.microsoft.com/office/drawing/2014/main" id="{EBAECD9B-9486-47EA-B9B1-54F9434C6CBC}"/>
              </a:ext>
            </a:extLst>
          </p:cNvPr>
          <p:cNvSpPr>
            <a:spLocks noGrp="1"/>
          </p:cNvSpPr>
          <p:nvPr/>
        </p:nvSpPr>
        <p:spPr>
          <a:xfrm>
            <a:off x="9486900" y="7156689"/>
            <a:ext cx="7334250" cy="377190"/>
          </a:xfrm>
          <a:prstGeom prst="rect">
            <a:avLst/>
          </a:prstGeom>
          <a:noFill/>
          <a:ln w="0">
            <a:noFill/>
          </a:ln>
        </p:spPr>
        <p:txBody>
          <a:bodyPr wrap="none" lIns="0" tIns="0" rIns="0" bIns="0" anchor="t">
            <a:noAutofit/>
          </a:bodyPr>
          <a:lstStyle/>
          <a:p>
            <a:pPr algn="l">
              <a:lnSpc>
                <a:spcPct val="112500"/>
              </a:lnSpc>
              <a:buNone/>
              <a:defRPr sz="1800" b="0">
                <a:solidFill>
                  <a:srgbClr val="183047"/>
                </a:solidFill>
                <a:latin typeface="Segoe UI"/>
                <a:ea typeface="Segoe UI"/>
                <a:cs typeface="Segoe UI"/>
              </a:defRPr>
            </a:pPr>
            <a:r>
              <a:rPr sz="1800" b="0">
                <a:solidFill>
                  <a:srgbClr val="183047"/>
                </a:solidFill>
                <a:latin typeface="Segoe UI"/>
                <a:ea typeface="Segoe UI"/>
                <a:cs typeface="Segoe UI"/>
              </a:rPr>
              <a:t>Agent applies the skill → checks → explains</a:t>
            </a:r>
          </a:p>
        </p:txBody>
      </p:sp>
    </p:spTree>
    <p:extLst>
      <p:ext uri="{BB962C8B-B14F-4D97-AF65-F5344CB8AC3E}">
        <p14:creationId xmlns:p14="http://schemas.microsoft.com/office/powerpoint/2010/main" val="683182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24" name="rect-001">
            <a:extLst>
              <a:ext uri="{FF2B5EF4-FFF2-40B4-BE49-F238E27FC236}">
                <a16:creationId xmlns:a16="http://schemas.microsoft.com/office/drawing/2014/main" id="{BB1FF51E-E8B3-4334-8A41-2FCFE45B6E6D}"/>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6E4186E6-60A4-4A36-8CF2-AEC0EAFA3287}"/>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WORKFLOW SKILL + AGENT HARNESS">
            <a:extLst>
              <a:ext uri="{FF2B5EF4-FFF2-40B4-BE49-F238E27FC236}">
                <a16:creationId xmlns:a16="http://schemas.microsoft.com/office/drawing/2014/main" id="{6F1D1B42-209D-4CD8-9E1E-C657FBF29422}"/>
              </a:ext>
            </a:extLst>
          </p:cNvPr>
          <p:cNvSpPr>
            <a:spLocks noGrp="1"/>
          </p:cNvSpPr>
          <p:nvPr/>
        </p:nvSpPr>
        <p:spPr>
          <a:xfrm>
            <a:off x="781050" y="1042290"/>
            <a:ext cx="4047976"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WORKFLOW SKILL + AGENT HARNESS</a:t>
            </a:r>
          </a:p>
        </p:txBody>
      </p:sp>
      <p:sp>
        <p:nvSpPr>
          <p:cNvPr id="5" name="text-005 Make the workflow usable through conversation">
            <a:extLst>
              <a:ext uri="{FF2B5EF4-FFF2-40B4-BE49-F238E27FC236}">
                <a16:creationId xmlns:a16="http://schemas.microsoft.com/office/drawing/2014/main" id="{746CEE6D-9C9E-4826-8C8C-272EA2436B3A}"/>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Make the workflow usable through conversation</a:t>
            </a:r>
          </a:p>
        </p:txBody>
      </p:sp>
      <p:sp>
        <p:nvSpPr>
          <p:cNvPr id="6" name="roundRect-006">
            <a:extLst>
              <a:ext uri="{FF2B5EF4-FFF2-40B4-BE49-F238E27FC236}">
                <a16:creationId xmlns:a16="http://schemas.microsoft.com/office/drawing/2014/main" id="{9AA5B745-27AE-42C1-98E3-395A24E9B3B3}"/>
              </a:ext>
            </a:extLst>
          </p:cNvPr>
          <p:cNvSpPr>
            <a:spLocks noGrp="1"/>
          </p:cNvSpPr>
          <p:nvPr/>
        </p:nvSpPr>
        <p:spPr>
          <a:xfrm>
            <a:off x="16764000" y="1181100"/>
            <a:ext cx="762000" cy="704850"/>
          </a:xfrm>
          <a:prstGeom prst="roundRect">
            <a:avLst>
              <a:gd name="adj" fmla="val 18919"/>
            </a:avLst>
          </a:prstGeom>
          <a:solidFill>
            <a:srgbClr val="165E89"/>
          </a:solidFill>
          <a:ln w="0">
            <a:noFill/>
          </a:ln>
        </p:spPr>
        <p:txBody>
          <a:bodyPr/>
          <a:lstStyle/>
          <a:p>
            <a:endParaRPr lang="en-US"/>
          </a:p>
        </p:txBody>
      </p:sp>
      <p:sp>
        <p:nvSpPr>
          <p:cNvPr id="7" name="text-007 13">
            <a:extLst>
              <a:ext uri="{FF2B5EF4-FFF2-40B4-BE49-F238E27FC236}">
                <a16:creationId xmlns:a16="http://schemas.microsoft.com/office/drawing/2014/main" id="{E3C3EBB4-B1E6-4B2B-8F46-479AB64E6FF3}"/>
              </a:ext>
            </a:extLst>
          </p:cNvPr>
          <p:cNvSpPr>
            <a:spLocks noGrp="1"/>
          </p:cNvSpPr>
          <p:nvPr/>
        </p:nvSpPr>
        <p:spPr>
          <a:xfrm>
            <a:off x="16944975" y="1291647"/>
            <a:ext cx="495300" cy="500063"/>
          </a:xfrm>
          <a:prstGeom prst="rect">
            <a:avLst/>
          </a:prstGeom>
          <a:noFill/>
          <a:ln w="0">
            <a:noFill/>
          </a:ln>
        </p:spPr>
        <p:txBody>
          <a:bodyPr wrap="none" lIns="0" tIns="0" rIns="0" bIns="0" anchor="t">
            <a:noAutofit/>
          </a:bodyPr>
          <a:lstStyle/>
          <a:p>
            <a:pPr algn="l">
              <a:lnSpc>
                <a:spcPct val="112500"/>
              </a:lnSpc>
              <a:buNone/>
              <a:defRPr sz="2625" b="1">
                <a:solidFill>
                  <a:srgbClr val="FFFFFF"/>
                </a:solidFill>
                <a:latin typeface="Segoe UI"/>
                <a:ea typeface="Segoe UI"/>
                <a:cs typeface="Segoe UI"/>
              </a:defRPr>
            </a:pPr>
            <a:r>
              <a:rPr sz="2625" b="1">
                <a:solidFill>
                  <a:srgbClr val="FFFFFF"/>
                </a:solidFill>
                <a:latin typeface="Segoe UI"/>
                <a:ea typeface="Segoe UI"/>
                <a:cs typeface="Segoe UI"/>
              </a:rPr>
              <a:t>13</a:t>
            </a:r>
          </a:p>
        </p:txBody>
      </p:sp>
      <p:sp>
        <p:nvSpPr>
          <p:cNvPr id="8" name="line-008-1">
            <a:extLst>
              <a:ext uri="{FF2B5EF4-FFF2-40B4-BE49-F238E27FC236}">
                <a16:creationId xmlns:a16="http://schemas.microsoft.com/office/drawing/2014/main" id="{36C9F099-0FBC-4133-9292-E43D84609E88}"/>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9" name="text-009 Full construction prompt: prompts/13-harness.txt">
            <a:extLst>
              <a:ext uri="{FF2B5EF4-FFF2-40B4-BE49-F238E27FC236}">
                <a16:creationId xmlns:a16="http://schemas.microsoft.com/office/drawing/2014/main" id="{0A5BA5A9-BC68-4BDF-8B30-C9C778640FB8}"/>
              </a:ext>
            </a:extLst>
          </p:cNvPr>
          <p:cNvSpPr>
            <a:spLocks noGrp="1"/>
          </p:cNvSpPr>
          <p:nvPr/>
        </p:nvSpPr>
        <p:spPr>
          <a:xfrm>
            <a:off x="781050" y="8615317"/>
            <a:ext cx="4619625" cy="314325"/>
          </a:xfrm>
          <a:prstGeom prst="rect">
            <a:avLst/>
          </a:prstGeom>
          <a:noFill/>
          <a:ln w="0">
            <a:noFill/>
          </a:ln>
        </p:spPr>
        <p:txBody>
          <a:bodyPr wrap="none" lIns="0" tIns="0" rIns="0" bIns="0" anchor="t">
            <a:noAutofit/>
          </a:bodyPr>
          <a:lstStyle/>
          <a:p>
            <a:pPr algn="l">
              <a:lnSpc>
                <a:spcPct val="112500"/>
              </a:lnSpc>
              <a:buNone/>
              <a:defRPr sz="1650" b="0">
                <a:solidFill>
                  <a:srgbClr val="536F80"/>
                </a:solidFill>
                <a:latin typeface="Segoe UI"/>
                <a:ea typeface="Segoe UI"/>
                <a:cs typeface="Segoe UI"/>
              </a:defRPr>
            </a:pPr>
            <a:r>
              <a:rPr sz="1650" b="0">
                <a:solidFill>
                  <a:srgbClr val="536F80"/>
                </a:solidFill>
                <a:latin typeface="Segoe UI"/>
                <a:ea typeface="Segoe UI"/>
                <a:cs typeface="Segoe UI"/>
              </a:rPr>
              <a:t>Full construction prompt: prompts/13-harness.txt</a:t>
            </a:r>
          </a:p>
        </p:txBody>
      </p:sp>
      <p:sp>
        <p:nvSpPr>
          <p:cNvPr id="10" name="roundRect-010">
            <a:extLst>
              <a:ext uri="{FF2B5EF4-FFF2-40B4-BE49-F238E27FC236}">
                <a16:creationId xmlns:a16="http://schemas.microsoft.com/office/drawing/2014/main" id="{57BDEF98-D042-44FF-9ECB-E9F2043879A6}"/>
              </a:ext>
            </a:extLst>
          </p:cNvPr>
          <p:cNvSpPr>
            <a:spLocks noGrp="1"/>
          </p:cNvSpPr>
          <p:nvPr/>
        </p:nvSpPr>
        <p:spPr>
          <a:xfrm>
            <a:off x="762000" y="2686050"/>
            <a:ext cx="1676400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1" name="text-011 SEND THIS TO YOUR CODING AGENT  ·  VERBATIM EXCERPT">
            <a:extLst>
              <a:ext uri="{FF2B5EF4-FFF2-40B4-BE49-F238E27FC236}">
                <a16:creationId xmlns:a16="http://schemas.microsoft.com/office/drawing/2014/main" id="{7D2AA9AD-5705-4558-9A87-AD600EFC035F}"/>
              </a:ext>
            </a:extLst>
          </p:cNvPr>
          <p:cNvSpPr>
            <a:spLocks noGrp="1"/>
          </p:cNvSpPr>
          <p:nvPr/>
        </p:nvSpPr>
        <p:spPr>
          <a:xfrm>
            <a:off x="1123950" y="2910493"/>
            <a:ext cx="5838527" cy="300038"/>
          </a:xfrm>
          <a:prstGeom prst="rect">
            <a:avLst/>
          </a:prstGeom>
          <a:noFill/>
          <a:ln w="0">
            <a:noFill/>
          </a:ln>
        </p:spPr>
        <p:txBody>
          <a:bodyPr wrap="none" lIns="0" tIns="0" rIns="0" bIns="0" anchor="t">
            <a:noAutofit/>
          </a:bodyPr>
          <a:lstStyle/>
          <a:p>
            <a:pPr algn="l">
              <a:lnSpc>
                <a:spcPct val="112500"/>
              </a:lnSpc>
              <a:buNone/>
              <a:defRPr sz="1575" b="1">
                <a:solidFill>
                  <a:srgbClr val="165E89"/>
                </a:solidFill>
                <a:latin typeface="Segoe UI"/>
                <a:ea typeface="Segoe UI"/>
                <a:cs typeface="Segoe UI"/>
              </a:defRPr>
            </a:pPr>
            <a:r>
              <a:rPr sz="1575" b="1">
                <a:solidFill>
                  <a:srgbClr val="165E89"/>
                </a:solidFill>
                <a:latin typeface="Segoe UI"/>
                <a:ea typeface="Segoe UI"/>
                <a:cs typeface="Segoe UI"/>
              </a:rPr>
              <a:t>SEND THIS TO YOUR CODING AGENT  ·  VERBATIM EXCERPT</a:t>
            </a:r>
          </a:p>
        </p:txBody>
      </p:sp>
      <p:sp>
        <p:nvSpPr>
          <p:cNvPr id="12" name="text-012 Create a workflow skill that lets an agent handle biomedical">
            <a:extLst>
              <a:ext uri="{FF2B5EF4-FFF2-40B4-BE49-F238E27FC236}">
                <a16:creationId xmlns:a16="http://schemas.microsoft.com/office/drawing/2014/main" id="{E5001B1A-C25F-455E-86E4-898C29B8B96F}"/>
              </a:ext>
            </a:extLst>
          </p:cNvPr>
          <p:cNvSpPr>
            <a:spLocks noGrp="1"/>
          </p:cNvSpPr>
          <p:nvPr/>
        </p:nvSpPr>
        <p:spPr>
          <a:xfrm>
            <a:off x="1123950" y="3390549"/>
            <a:ext cx="16097250" cy="1700784"/>
          </a:xfrm>
          <a:prstGeom prst="rect">
            <a:avLst/>
          </a:prstGeom>
          <a:noFill/>
          <a:ln w="0">
            <a:noFill/>
          </a:ln>
        </p:spPr>
        <p:txBody>
          <a:bodyPr wrap="none" lIns="0" tIns="0" rIns="0" bIns="0" anchor="t">
            <a:noAutofit/>
          </a:bodyPr>
          <a:lstStyle/>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Create a workflow skill that lets an agent handle biomedical analysis requests through conversation. Teach it to</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identify the user's estimand, endpoint, population, and selected inputs; use the SAP extraction, readiness, analysis, and</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review tools; follow their gate decisions; and explain the outcome with supporting artifacts. The skill should guide the</a:t>
            </a:r>
          </a:p>
          <a:p>
            <a:pPr algn="l">
              <a:lnSpc>
                <a:spcPct val="110000"/>
              </a:lnSpc>
              <a:buNone/>
              <a:defRPr sz="2400" b="0">
                <a:solidFill>
                  <a:srgbClr val="183047"/>
                </a:solidFill>
                <a:latin typeface="Segoe UI"/>
                <a:ea typeface="Segoe UI"/>
                <a:cs typeface="Segoe UI"/>
              </a:defRPr>
            </a:pPr>
            <a:r>
              <a:rPr sz="2400" b="0">
                <a:solidFill>
                  <a:srgbClr val="183047"/>
                </a:solidFill>
                <a:latin typeface="Segoe UI"/>
                <a:ea typeface="Segoe UI"/>
                <a:cs typeface="Segoe UI"/>
              </a:rPr>
              <a:t>agent's next action for the task and current evidence.</a:t>
            </a:r>
          </a:p>
        </p:txBody>
      </p:sp>
      <p:sp>
        <p:nvSpPr>
          <p:cNvPr id="13" name="roundRect-013">
            <a:extLst>
              <a:ext uri="{FF2B5EF4-FFF2-40B4-BE49-F238E27FC236}">
                <a16:creationId xmlns:a16="http://schemas.microsoft.com/office/drawing/2014/main" id="{593CA75B-394D-4095-9B8B-556274FABE8B}"/>
              </a:ext>
            </a:extLst>
          </p:cNvPr>
          <p:cNvSpPr>
            <a:spLocks noGrp="1"/>
          </p:cNvSpPr>
          <p:nvPr/>
        </p:nvSpPr>
        <p:spPr>
          <a:xfrm>
            <a:off x="762000" y="5514975"/>
            <a:ext cx="9239250" cy="2590800"/>
          </a:xfrm>
          <a:prstGeom prst="roundRect">
            <a:avLst>
              <a:gd name="adj" fmla="val 8088"/>
            </a:avLst>
          </a:prstGeom>
          <a:solidFill>
            <a:srgbClr val="FFFFFF"/>
          </a:solidFill>
          <a:ln w="19050">
            <a:solidFill>
              <a:srgbClr val="D9E4EB"/>
            </a:solidFill>
          </a:ln>
        </p:spPr>
        <p:txBody>
          <a:bodyPr/>
          <a:lstStyle/>
          <a:p>
            <a:endParaRPr lang="en-US"/>
          </a:p>
        </p:txBody>
      </p:sp>
      <p:sp>
        <p:nvSpPr>
          <p:cNvPr id="14" name="roundRect-014">
            <a:extLst>
              <a:ext uri="{FF2B5EF4-FFF2-40B4-BE49-F238E27FC236}">
                <a16:creationId xmlns:a16="http://schemas.microsoft.com/office/drawing/2014/main" id="{8226D3AA-22E3-428D-AFD0-286A20303578}"/>
              </a:ext>
            </a:extLst>
          </p:cNvPr>
          <p:cNvSpPr>
            <a:spLocks noGrp="1"/>
          </p:cNvSpPr>
          <p:nvPr/>
        </p:nvSpPr>
        <p:spPr>
          <a:xfrm>
            <a:off x="10287000" y="5514975"/>
            <a:ext cx="7239000" cy="2590800"/>
          </a:xfrm>
          <a:prstGeom prst="roundRect">
            <a:avLst>
              <a:gd name="adj" fmla="val 8088"/>
            </a:avLst>
          </a:prstGeom>
          <a:solidFill>
            <a:srgbClr val="E6F3F1"/>
          </a:solidFill>
          <a:ln w="19050">
            <a:solidFill>
              <a:srgbClr val="D9E4EB"/>
            </a:solidFill>
          </a:ln>
        </p:spPr>
        <p:txBody>
          <a:bodyPr/>
          <a:lstStyle/>
          <a:p>
            <a:endParaRPr lang="en-US"/>
          </a:p>
        </p:txBody>
      </p:sp>
      <p:sp>
        <p:nvSpPr>
          <p:cNvPr id="15" name="text-015 ALSO REQUIRE">
            <a:extLst>
              <a:ext uri="{FF2B5EF4-FFF2-40B4-BE49-F238E27FC236}">
                <a16:creationId xmlns:a16="http://schemas.microsoft.com/office/drawing/2014/main" id="{0F2A4CEF-E06C-4740-8FDE-9E3B4F654549}"/>
              </a:ext>
            </a:extLst>
          </p:cNvPr>
          <p:cNvSpPr>
            <a:spLocks noGrp="1"/>
          </p:cNvSpPr>
          <p:nvPr/>
        </p:nvSpPr>
        <p:spPr>
          <a:xfrm>
            <a:off x="1104900" y="5758468"/>
            <a:ext cx="1524000"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ALSO REQUIRE</a:t>
            </a:r>
          </a:p>
        </p:txBody>
      </p:sp>
      <p:sp>
        <p:nvSpPr>
          <p:cNvPr id="16" name="ellipse-016">
            <a:extLst>
              <a:ext uri="{FF2B5EF4-FFF2-40B4-BE49-F238E27FC236}">
                <a16:creationId xmlns:a16="http://schemas.microsoft.com/office/drawing/2014/main" id="{A465A914-935B-4799-B775-D141D20E709C}"/>
              </a:ext>
            </a:extLst>
          </p:cNvPr>
          <p:cNvSpPr>
            <a:spLocks noGrp="1"/>
          </p:cNvSpPr>
          <p:nvPr/>
        </p:nvSpPr>
        <p:spPr>
          <a:xfrm>
            <a:off x="1104900" y="6296025"/>
            <a:ext cx="76200" cy="76200"/>
          </a:xfrm>
          <a:prstGeom prst="ellipse">
            <a:avLst/>
          </a:prstGeom>
          <a:solidFill>
            <a:srgbClr val="137F7B"/>
          </a:solidFill>
          <a:ln w="0">
            <a:noFill/>
          </a:ln>
        </p:spPr>
        <p:txBody>
          <a:bodyPr/>
          <a:lstStyle/>
          <a:p>
            <a:endParaRPr lang="en-US"/>
          </a:p>
        </p:txBody>
      </p:sp>
      <p:sp>
        <p:nvSpPr>
          <p:cNvPr id="17" name="text-017 Match actions to the user’s task and context">
            <a:extLst>
              <a:ext uri="{FF2B5EF4-FFF2-40B4-BE49-F238E27FC236}">
                <a16:creationId xmlns:a16="http://schemas.microsoft.com/office/drawing/2014/main" id="{30B6531A-F094-4097-86EB-7694D4F7BF21}"/>
              </a:ext>
            </a:extLst>
          </p:cNvPr>
          <p:cNvSpPr>
            <a:spLocks noGrp="1"/>
          </p:cNvSpPr>
          <p:nvPr/>
        </p:nvSpPr>
        <p:spPr>
          <a:xfrm>
            <a:off x="1343025" y="615395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Match actions to the user’s task and context</a:t>
            </a:r>
          </a:p>
        </p:txBody>
      </p:sp>
      <p:sp>
        <p:nvSpPr>
          <p:cNvPr id="18" name="ellipse-018">
            <a:extLst>
              <a:ext uri="{FF2B5EF4-FFF2-40B4-BE49-F238E27FC236}">
                <a16:creationId xmlns:a16="http://schemas.microsoft.com/office/drawing/2014/main" id="{536F7DCA-23D2-45CD-895A-0E38F6C8592C}"/>
              </a:ext>
            </a:extLst>
          </p:cNvPr>
          <p:cNvSpPr>
            <a:spLocks noGrp="1"/>
          </p:cNvSpPr>
          <p:nvPr/>
        </p:nvSpPr>
        <p:spPr>
          <a:xfrm>
            <a:off x="1104900" y="6789420"/>
            <a:ext cx="76200" cy="76200"/>
          </a:xfrm>
          <a:prstGeom prst="ellipse">
            <a:avLst/>
          </a:prstGeom>
          <a:solidFill>
            <a:srgbClr val="137F7B"/>
          </a:solidFill>
          <a:ln w="0">
            <a:noFill/>
          </a:ln>
        </p:spPr>
        <p:txBody>
          <a:bodyPr/>
          <a:lstStyle/>
          <a:p>
            <a:endParaRPr lang="en-US"/>
          </a:p>
        </p:txBody>
      </p:sp>
      <p:sp>
        <p:nvSpPr>
          <p:cNvPr id="19" name="text-019 Use tool decisions and preserve gate enforcement">
            <a:extLst>
              <a:ext uri="{FF2B5EF4-FFF2-40B4-BE49-F238E27FC236}">
                <a16:creationId xmlns:a16="http://schemas.microsoft.com/office/drawing/2014/main" id="{3E3E766E-64DF-4C66-82AB-436341AF8AB2}"/>
              </a:ext>
            </a:extLst>
          </p:cNvPr>
          <p:cNvSpPr>
            <a:spLocks noGrp="1"/>
          </p:cNvSpPr>
          <p:nvPr/>
        </p:nvSpPr>
        <p:spPr>
          <a:xfrm>
            <a:off x="1343025" y="6647353"/>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Use tool decisions and preserve gate enforcement</a:t>
            </a:r>
          </a:p>
        </p:txBody>
      </p:sp>
      <p:sp>
        <p:nvSpPr>
          <p:cNvPr id="20" name="ellipse-020">
            <a:extLst>
              <a:ext uri="{FF2B5EF4-FFF2-40B4-BE49-F238E27FC236}">
                <a16:creationId xmlns:a16="http://schemas.microsoft.com/office/drawing/2014/main" id="{91FD50D0-9FB8-4645-B764-9C51FDD015B0}"/>
              </a:ext>
            </a:extLst>
          </p:cNvPr>
          <p:cNvSpPr>
            <a:spLocks noGrp="1"/>
          </p:cNvSpPr>
          <p:nvPr/>
        </p:nvSpPr>
        <p:spPr>
          <a:xfrm>
            <a:off x="1104900" y="7282815"/>
            <a:ext cx="76200" cy="76200"/>
          </a:xfrm>
          <a:prstGeom prst="ellipse">
            <a:avLst/>
          </a:prstGeom>
          <a:solidFill>
            <a:srgbClr val="137F7B"/>
          </a:solidFill>
          <a:ln w="0">
            <a:noFill/>
          </a:ln>
        </p:spPr>
        <p:txBody>
          <a:bodyPr/>
          <a:lstStyle/>
          <a:p>
            <a:endParaRPr lang="en-US"/>
          </a:p>
        </p:txBody>
      </p:sp>
      <p:sp>
        <p:nvSpPr>
          <p:cNvPr id="21" name="text-021 Answer with the recorded results and artifacts">
            <a:extLst>
              <a:ext uri="{FF2B5EF4-FFF2-40B4-BE49-F238E27FC236}">
                <a16:creationId xmlns:a16="http://schemas.microsoft.com/office/drawing/2014/main" id="{FA3D1D93-405D-4C5C-B2B3-98D3B40DD149}"/>
              </a:ext>
            </a:extLst>
          </p:cNvPr>
          <p:cNvSpPr>
            <a:spLocks noGrp="1"/>
          </p:cNvSpPr>
          <p:nvPr/>
        </p:nvSpPr>
        <p:spPr>
          <a:xfrm>
            <a:off x="1343025" y="7140748"/>
            <a:ext cx="8239125" cy="440055"/>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Answer with the recorded results and artifacts</a:t>
            </a:r>
          </a:p>
        </p:txBody>
      </p:sp>
      <p:sp>
        <p:nvSpPr>
          <p:cNvPr id="22" name="text-022 INSPECT AFTER GENERATION">
            <a:extLst>
              <a:ext uri="{FF2B5EF4-FFF2-40B4-BE49-F238E27FC236}">
                <a16:creationId xmlns:a16="http://schemas.microsoft.com/office/drawing/2014/main" id="{BFA94DAD-1B00-469F-BB65-5AC9E90C071A}"/>
              </a:ext>
            </a:extLst>
          </p:cNvPr>
          <p:cNvSpPr>
            <a:spLocks noGrp="1"/>
          </p:cNvSpPr>
          <p:nvPr/>
        </p:nvSpPr>
        <p:spPr>
          <a:xfrm>
            <a:off x="10629900" y="5758468"/>
            <a:ext cx="2924026" cy="300038"/>
          </a:xfrm>
          <a:prstGeom prst="rect">
            <a:avLst/>
          </a:prstGeom>
          <a:noFill/>
          <a:ln w="0">
            <a:noFill/>
          </a:ln>
        </p:spPr>
        <p:txBody>
          <a:bodyPr wrap="none" lIns="0" tIns="0" rIns="0" bIns="0" anchor="t">
            <a:noAutofit/>
          </a:bodyPr>
          <a:lstStyle/>
          <a:p>
            <a:pPr algn="l">
              <a:lnSpc>
                <a:spcPct val="112500"/>
              </a:lnSpc>
              <a:buNone/>
              <a:defRPr sz="1575" b="1">
                <a:solidFill>
                  <a:srgbClr val="137F7B"/>
                </a:solidFill>
                <a:latin typeface="Segoe UI"/>
                <a:ea typeface="Segoe UI"/>
                <a:cs typeface="Segoe UI"/>
              </a:defRPr>
            </a:pPr>
            <a:r>
              <a:rPr sz="1575" b="1">
                <a:solidFill>
                  <a:srgbClr val="137F7B"/>
                </a:solidFill>
                <a:latin typeface="Segoe UI"/>
                <a:ea typeface="Segoe UI"/>
                <a:cs typeface="Segoe UI"/>
              </a:rPr>
              <a:t>INSPECT AFTER GENERATION</a:t>
            </a:r>
          </a:p>
        </p:txBody>
      </p:sp>
      <p:sp>
        <p:nvSpPr>
          <p:cNvPr id="23" name="text-023 Try readiness-only, analysis-if-ready, and follow-up request">
            <a:extLst>
              <a:ext uri="{FF2B5EF4-FFF2-40B4-BE49-F238E27FC236}">
                <a16:creationId xmlns:a16="http://schemas.microsoft.com/office/drawing/2014/main" id="{47288B00-6BC5-4E3A-9B8C-B11D32287C12}"/>
              </a:ext>
            </a:extLst>
          </p:cNvPr>
          <p:cNvSpPr>
            <a:spLocks noGrp="1"/>
          </p:cNvSpPr>
          <p:nvPr/>
        </p:nvSpPr>
        <p:spPr>
          <a:xfrm>
            <a:off x="10629900" y="6182533"/>
            <a:ext cx="6572250" cy="1520190"/>
          </a:xfrm>
          <a:prstGeom prst="rect">
            <a:avLst/>
          </a:prstGeom>
          <a:noFill/>
          <a:ln w="0">
            <a:noFill/>
          </a:ln>
        </p:spPr>
        <p:txBody>
          <a:bodyPr wrap="none" lIns="0" tIns="0" rIns="0" bIns="0" anchor="t">
            <a:noAutofit/>
          </a:bodyPr>
          <a:lstStyle/>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Try readiness-only, analysis-if-ready, and follow-up</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requests. Check that the agent follows the requested</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scope, respects gates, and supports its answer with</a:t>
            </a:r>
          </a:p>
          <a:p>
            <a:pPr algn="l">
              <a:lnSpc>
                <a:spcPct val="112500"/>
              </a:lnSpc>
              <a:buNone/>
              <a:defRPr sz="2100" b="0">
                <a:solidFill>
                  <a:srgbClr val="183047"/>
                </a:solidFill>
                <a:latin typeface="Segoe UI"/>
                <a:ea typeface="Segoe UI"/>
                <a:cs typeface="Segoe UI"/>
              </a:defRPr>
            </a:pPr>
            <a:r>
              <a:rPr sz="2100" b="0">
                <a:solidFill>
                  <a:srgbClr val="183047"/>
                </a:solidFill>
                <a:latin typeface="Segoe UI"/>
                <a:ea typeface="Segoe UI"/>
                <a:cs typeface="Segoe UI"/>
              </a:rPr>
              <a:t>artifacts.</a:t>
            </a:r>
          </a:p>
        </p:txBody>
      </p:sp>
    </p:spTree>
    <p:extLst>
      <p:ext uri="{BB962C8B-B14F-4D97-AF65-F5344CB8AC3E}">
        <p14:creationId xmlns:p14="http://schemas.microsoft.com/office/powerpoint/2010/main" val="17432808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0F5F7"/>
        </a:solidFill>
        <a:effectLst/>
      </p:bgPr>
    </p:bg>
    <p:spTree>
      <p:nvGrpSpPr>
        <p:cNvPr id="1" name=""/>
        <p:cNvGrpSpPr/>
        <p:nvPr/>
      </p:nvGrpSpPr>
      <p:grpSpPr>
        <a:xfrm>
          <a:off x="0" y="0"/>
          <a:ext cx="0" cy="0"/>
          <a:chOff x="0" y="0"/>
          <a:chExt cx="0" cy="0"/>
        </a:xfrm>
      </p:grpSpPr>
      <p:sp>
        <p:nvSpPr>
          <p:cNvPr id="37" name="rect-001">
            <a:extLst>
              <a:ext uri="{FF2B5EF4-FFF2-40B4-BE49-F238E27FC236}">
                <a16:creationId xmlns:a16="http://schemas.microsoft.com/office/drawing/2014/main" id="{36AA0D4A-08A4-4E7C-B6F6-B4B8405B6096}"/>
              </a:ext>
            </a:extLst>
          </p:cNvPr>
          <p:cNvSpPr>
            <a:spLocks noGrp="1"/>
          </p:cNvSpPr>
          <p:nvPr/>
        </p:nvSpPr>
        <p:spPr>
          <a:xfrm>
            <a:off x="0" y="0"/>
            <a:ext cx="18288000" cy="828675"/>
          </a:xfrm>
          <a:prstGeom prst="rect">
            <a:avLst/>
          </a:prstGeom>
          <a:solidFill>
            <a:srgbClr val="FFFFFF"/>
          </a:solidFill>
          <a:ln w="0">
            <a:noFill/>
          </a:ln>
        </p:spPr>
        <p:txBody>
          <a:bodyPr/>
          <a:lstStyle/>
          <a:p>
            <a:endParaRPr lang="en-US"/>
          </a:p>
        </p:txBody>
      </p:sp>
      <p:sp>
        <p:nvSpPr>
          <p:cNvPr id="2" name="text-002 RISW  /  BIOMEDICAL AGENTIC PIPELINE">
            <a:extLst>
              <a:ext uri="{FF2B5EF4-FFF2-40B4-BE49-F238E27FC236}">
                <a16:creationId xmlns:a16="http://schemas.microsoft.com/office/drawing/2014/main" id="{A88893C5-94CB-4422-B927-557956F71091}"/>
              </a:ext>
            </a:extLst>
          </p:cNvPr>
          <p:cNvSpPr>
            <a:spLocks noGrp="1"/>
          </p:cNvSpPr>
          <p:nvPr/>
        </p:nvSpPr>
        <p:spPr>
          <a:xfrm>
            <a:off x="762000" y="241539"/>
            <a:ext cx="4562475" cy="342900"/>
          </a:xfrm>
          <a:prstGeom prst="rect">
            <a:avLst/>
          </a:prstGeom>
          <a:noFill/>
          <a:ln w="0">
            <a:noFill/>
          </a:ln>
        </p:spPr>
        <p:txBody>
          <a:bodyPr wrap="none" lIns="0" tIns="0" rIns="0" bIns="0" anchor="t">
            <a:noAutofit/>
          </a:bodyPr>
          <a:lstStyle/>
          <a:p>
            <a:pPr algn="l">
              <a:lnSpc>
                <a:spcPct val="112500"/>
              </a:lnSpc>
              <a:buNone/>
              <a:defRPr sz="1800" b="1">
                <a:solidFill>
                  <a:srgbClr val="165E89"/>
                </a:solidFill>
                <a:latin typeface="Segoe UI"/>
                <a:ea typeface="Segoe UI"/>
                <a:cs typeface="Segoe UI"/>
              </a:defRPr>
            </a:pPr>
            <a:r>
              <a:rPr sz="1800" b="1">
                <a:solidFill>
                  <a:srgbClr val="165E89"/>
                </a:solidFill>
                <a:latin typeface="Segoe UI"/>
                <a:ea typeface="Segoe UI"/>
                <a:cs typeface="Segoe UI"/>
              </a:rPr>
              <a:t>RISW  /  BIOMEDICAL AGENTIC PIPELINE</a:t>
            </a:r>
          </a:p>
        </p:txBody>
      </p:sp>
      <p:sp>
        <p:nvSpPr>
          <p:cNvPr id="4" name="text-004 BUILD RECAP">
            <a:extLst>
              <a:ext uri="{FF2B5EF4-FFF2-40B4-BE49-F238E27FC236}">
                <a16:creationId xmlns:a16="http://schemas.microsoft.com/office/drawing/2014/main" id="{165271A2-F6E4-4968-96A5-A52A00C734C2}"/>
              </a:ext>
            </a:extLst>
          </p:cNvPr>
          <p:cNvSpPr>
            <a:spLocks noGrp="1"/>
          </p:cNvSpPr>
          <p:nvPr/>
        </p:nvSpPr>
        <p:spPr>
          <a:xfrm>
            <a:off x="781050" y="1042290"/>
            <a:ext cx="1495425" cy="328613"/>
          </a:xfrm>
          <a:prstGeom prst="rect">
            <a:avLst/>
          </a:prstGeom>
          <a:noFill/>
          <a:ln w="0">
            <a:noFill/>
          </a:ln>
        </p:spPr>
        <p:txBody>
          <a:bodyPr wrap="none" lIns="0" tIns="0" rIns="0" bIns="0" anchor="t">
            <a:noAutofit/>
          </a:bodyPr>
          <a:lstStyle/>
          <a:p>
            <a:pPr algn="l">
              <a:lnSpc>
                <a:spcPct val="112500"/>
              </a:lnSpc>
              <a:buNone/>
              <a:defRPr sz="1725" b="1">
                <a:solidFill>
                  <a:srgbClr val="137F7B"/>
                </a:solidFill>
                <a:latin typeface="Segoe UI"/>
                <a:ea typeface="Segoe UI"/>
                <a:cs typeface="Segoe UI"/>
              </a:defRPr>
            </a:pPr>
            <a:r>
              <a:rPr sz="1725" b="1">
                <a:solidFill>
                  <a:srgbClr val="137F7B"/>
                </a:solidFill>
                <a:latin typeface="Segoe UI"/>
                <a:ea typeface="Segoe UI"/>
                <a:cs typeface="Segoe UI"/>
              </a:rPr>
              <a:t>BUILD RECAP</a:t>
            </a:r>
          </a:p>
        </p:txBody>
      </p:sp>
      <p:sp>
        <p:nvSpPr>
          <p:cNvPr id="5" name="text-005 Build the workflow, step by step">
            <a:extLst>
              <a:ext uri="{FF2B5EF4-FFF2-40B4-BE49-F238E27FC236}">
                <a16:creationId xmlns:a16="http://schemas.microsoft.com/office/drawing/2014/main" id="{493FED9F-6B2F-48EF-8AC8-582FFC63A8B7}"/>
              </a:ext>
            </a:extLst>
          </p:cNvPr>
          <p:cNvSpPr>
            <a:spLocks noGrp="1"/>
          </p:cNvSpPr>
          <p:nvPr/>
        </p:nvSpPr>
        <p:spPr>
          <a:xfrm>
            <a:off x="762000" y="1521634"/>
            <a:ext cx="15811500" cy="728663"/>
          </a:xfrm>
          <a:prstGeom prst="rect">
            <a:avLst/>
          </a:prstGeom>
          <a:noFill/>
          <a:ln w="0">
            <a:noFill/>
          </a:ln>
        </p:spPr>
        <p:txBody>
          <a:bodyPr wrap="none" lIns="0" tIns="0" rIns="0" bIns="0" anchor="t">
            <a:noAutofit/>
          </a:bodyPr>
          <a:lstStyle/>
          <a:p>
            <a:pPr algn="l">
              <a:lnSpc>
                <a:spcPct val="95833"/>
              </a:lnSpc>
              <a:buNone/>
              <a:defRPr sz="3825" b="1">
                <a:solidFill>
                  <a:srgbClr val="183047"/>
                </a:solidFill>
                <a:latin typeface="Segoe UI"/>
                <a:ea typeface="Segoe UI"/>
                <a:cs typeface="Segoe UI"/>
              </a:defRPr>
            </a:pPr>
            <a:r>
              <a:rPr sz="3825" b="1">
                <a:solidFill>
                  <a:srgbClr val="183047"/>
                </a:solidFill>
                <a:latin typeface="Segoe UI"/>
                <a:ea typeface="Segoe UI"/>
                <a:cs typeface="Segoe UI"/>
              </a:rPr>
              <a:t>Build the workflow, step by step</a:t>
            </a:r>
          </a:p>
        </p:txBody>
      </p:sp>
      <p:sp>
        <p:nvSpPr>
          <p:cNvPr id="6" name="line-006-1">
            <a:extLst>
              <a:ext uri="{FF2B5EF4-FFF2-40B4-BE49-F238E27FC236}">
                <a16:creationId xmlns:a16="http://schemas.microsoft.com/office/drawing/2014/main" id="{F68A1757-8EC5-41BA-BCCA-62B357ACCAC5}"/>
              </a:ext>
            </a:extLst>
          </p:cNvPr>
          <p:cNvSpPr>
            <a:spLocks noGrp="1"/>
          </p:cNvSpPr>
          <p:nvPr/>
        </p:nvSpPr>
        <p:spPr>
          <a:xfrm>
            <a:off x="762000" y="8486775"/>
            <a:ext cx="16764000" cy="0"/>
          </a:xfrm>
          <a:prstGeom prst="line">
            <a:avLst/>
          </a:prstGeom>
          <a:noFill/>
          <a:ln w="19050">
            <a:solidFill>
              <a:srgbClr val="D9E4EB"/>
            </a:solidFill>
          </a:ln>
        </p:spPr>
        <p:txBody>
          <a:bodyPr/>
          <a:lstStyle/>
          <a:p>
            <a:endParaRPr lang="en-US"/>
          </a:p>
        </p:txBody>
      </p:sp>
      <p:sp>
        <p:nvSpPr>
          <p:cNvPr id="7" name="roundRect-007">
            <a:extLst>
              <a:ext uri="{FF2B5EF4-FFF2-40B4-BE49-F238E27FC236}">
                <a16:creationId xmlns:a16="http://schemas.microsoft.com/office/drawing/2014/main" id="{9B0A3144-78E2-4781-A777-768DF0B65401}"/>
              </a:ext>
            </a:extLst>
          </p:cNvPr>
          <p:cNvSpPr>
            <a:spLocks noGrp="1"/>
          </p:cNvSpPr>
          <p:nvPr/>
        </p:nvSpPr>
        <p:spPr>
          <a:xfrm>
            <a:off x="762000" y="2686050"/>
            <a:ext cx="16764000" cy="5448300"/>
          </a:xfrm>
          <a:prstGeom prst="roundRect">
            <a:avLst>
              <a:gd name="adj" fmla="val 3846"/>
            </a:avLst>
          </a:prstGeom>
          <a:solidFill>
            <a:srgbClr val="FFFFFF"/>
          </a:solidFill>
          <a:ln w="19050">
            <a:solidFill>
              <a:srgbClr val="D9E4EB"/>
            </a:solidFill>
          </a:ln>
        </p:spPr>
        <p:txBody>
          <a:bodyPr/>
          <a:lstStyle/>
          <a:p>
            <a:endParaRPr lang="en-US"/>
          </a:p>
        </p:txBody>
      </p:sp>
      <p:sp>
        <p:nvSpPr>
          <p:cNvPr id="8" name="roundRect-008">
            <a:extLst>
              <a:ext uri="{FF2B5EF4-FFF2-40B4-BE49-F238E27FC236}">
                <a16:creationId xmlns:a16="http://schemas.microsoft.com/office/drawing/2014/main" id="{3C2A455A-6074-4D81-8817-9726EF6E1541}"/>
              </a:ext>
            </a:extLst>
          </p:cNvPr>
          <p:cNvSpPr>
            <a:spLocks noGrp="1"/>
          </p:cNvSpPr>
          <p:nvPr/>
        </p:nvSpPr>
        <p:spPr>
          <a:xfrm>
            <a:off x="1066800" y="2905125"/>
            <a:ext cx="533400" cy="523875"/>
          </a:xfrm>
          <a:prstGeom prst="roundRect">
            <a:avLst>
              <a:gd name="adj" fmla="val 25455"/>
            </a:avLst>
          </a:prstGeom>
          <a:solidFill>
            <a:srgbClr val="165E89"/>
          </a:solidFill>
          <a:ln w="0">
            <a:noFill/>
          </a:ln>
        </p:spPr>
        <p:txBody>
          <a:bodyPr/>
          <a:lstStyle/>
          <a:p>
            <a:endParaRPr lang="en-US"/>
          </a:p>
        </p:txBody>
      </p:sp>
      <p:sp>
        <p:nvSpPr>
          <p:cNvPr id="9" name="text-009 1">
            <a:extLst>
              <a:ext uri="{FF2B5EF4-FFF2-40B4-BE49-F238E27FC236}">
                <a16:creationId xmlns:a16="http://schemas.microsoft.com/office/drawing/2014/main" id="{C2CDAD2E-E33B-4354-8648-10DF959EE707}"/>
              </a:ext>
            </a:extLst>
          </p:cNvPr>
          <p:cNvSpPr>
            <a:spLocks noGrp="1"/>
          </p:cNvSpPr>
          <p:nvPr/>
        </p:nvSpPr>
        <p:spPr>
          <a:xfrm>
            <a:off x="1238250" y="2952906"/>
            <a:ext cx="276225" cy="414338"/>
          </a:xfrm>
          <a:prstGeom prst="rect">
            <a:avLst/>
          </a:prstGeom>
          <a:noFill/>
          <a:ln w="0">
            <a:noFill/>
          </a:ln>
        </p:spPr>
        <p:txBody>
          <a:bodyPr wrap="none" lIns="0" tIns="0" rIns="0" bIns="0" anchor="t">
            <a:noAutofit/>
          </a:bodyPr>
          <a:lstStyle/>
          <a:p>
            <a:pPr algn="l">
              <a:lnSpc>
                <a:spcPct val="112500"/>
              </a:lnSpc>
              <a:buNone/>
              <a:defRPr sz="2175" b="1">
                <a:solidFill>
                  <a:srgbClr val="FFFFFF"/>
                </a:solidFill>
                <a:latin typeface="Segoe UI"/>
                <a:ea typeface="Segoe UI"/>
                <a:cs typeface="Segoe UI"/>
              </a:defRPr>
            </a:pPr>
            <a:r>
              <a:rPr sz="2175" b="1">
                <a:solidFill>
                  <a:srgbClr val="FFFFFF"/>
                </a:solidFill>
                <a:latin typeface="Segoe UI"/>
                <a:ea typeface="Segoe UI"/>
                <a:cs typeface="Segoe UI"/>
              </a:rPr>
              <a:t>1</a:t>
            </a:r>
          </a:p>
        </p:txBody>
      </p:sp>
      <p:sp>
        <p:nvSpPr>
          <p:cNvPr id="10" name="text-010 Define the analysis goal">
            <a:extLst>
              <a:ext uri="{FF2B5EF4-FFF2-40B4-BE49-F238E27FC236}">
                <a16:creationId xmlns:a16="http://schemas.microsoft.com/office/drawing/2014/main" id="{2AAF2050-4755-4EE1-842D-25A4B8E04928}"/>
              </a:ext>
            </a:extLst>
          </p:cNvPr>
          <p:cNvSpPr>
            <a:spLocks noGrp="1"/>
          </p:cNvSpPr>
          <p:nvPr/>
        </p:nvSpPr>
        <p:spPr>
          <a:xfrm>
            <a:off x="1885950" y="2942730"/>
            <a:ext cx="7524750" cy="471488"/>
          </a:xfrm>
          <a:prstGeom prst="rect">
            <a:avLst/>
          </a:prstGeom>
          <a:noFill/>
          <a:ln w="0">
            <a:noFill/>
          </a:ln>
        </p:spPr>
        <p:txBody>
          <a:bodyPr wrap="none" lIns="0" tIns="0" rIns="0" bIns="0" anchor="t">
            <a:noAutofit/>
          </a:bodyPr>
          <a:lstStyle/>
          <a:p>
            <a:pPr algn="l">
              <a:lnSpc>
                <a:spcPct val="112500"/>
              </a:lnSpc>
              <a:buNone/>
              <a:defRPr sz="2250" b="1">
                <a:solidFill>
                  <a:srgbClr val="183047"/>
                </a:solidFill>
                <a:latin typeface="Segoe UI"/>
                <a:ea typeface="Segoe UI"/>
                <a:cs typeface="Segoe UI"/>
              </a:defRPr>
            </a:pPr>
            <a:r>
              <a:rPr sz="2250" b="1">
                <a:solidFill>
                  <a:srgbClr val="183047"/>
                </a:solidFill>
                <a:latin typeface="Segoe UI"/>
                <a:ea typeface="Segoe UI"/>
                <a:cs typeface="Segoe UI"/>
              </a:rPr>
              <a:t>Define the analysis goal</a:t>
            </a:r>
          </a:p>
        </p:txBody>
      </p:sp>
      <p:sp>
        <p:nvSpPr>
          <p:cNvPr id="11" name="text-011 Scope, estimand, endpoint, and inputs">
            <a:extLst>
              <a:ext uri="{FF2B5EF4-FFF2-40B4-BE49-F238E27FC236}">
                <a16:creationId xmlns:a16="http://schemas.microsoft.com/office/drawing/2014/main" id="{9631D501-D57C-4114-8458-A71074A45078}"/>
              </a:ext>
            </a:extLst>
          </p:cNvPr>
          <p:cNvSpPr>
            <a:spLocks noGrp="1"/>
          </p:cNvSpPr>
          <p:nvPr/>
        </p:nvSpPr>
        <p:spPr>
          <a:xfrm>
            <a:off x="9525000" y="2964386"/>
            <a:ext cx="767715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dirty="0">
                <a:solidFill>
                  <a:srgbClr val="183047"/>
                </a:solidFill>
                <a:latin typeface="Segoe UI"/>
                <a:ea typeface="Segoe UI"/>
                <a:cs typeface="Segoe UI"/>
              </a:rPr>
              <a:t>Scope, </a:t>
            </a:r>
            <a:r>
              <a:rPr sz="1950" b="0" dirty="0" err="1">
                <a:solidFill>
                  <a:srgbClr val="183047"/>
                </a:solidFill>
                <a:latin typeface="Segoe UI"/>
                <a:ea typeface="Segoe UI"/>
                <a:cs typeface="Segoe UI"/>
              </a:rPr>
              <a:t>estimand</a:t>
            </a:r>
            <a:r>
              <a:rPr sz="1950" b="0">
                <a:solidFill>
                  <a:srgbClr val="183047"/>
                </a:solidFill>
                <a:latin typeface="Segoe UI"/>
                <a:ea typeface="Segoe UI"/>
                <a:cs typeface="Segoe UI"/>
              </a:rPr>
              <a:t>, endpoint, and inputs</a:t>
            </a:r>
          </a:p>
        </p:txBody>
      </p:sp>
      <p:sp>
        <p:nvSpPr>
          <p:cNvPr id="12" name="line-012-1">
            <a:extLst>
              <a:ext uri="{FF2B5EF4-FFF2-40B4-BE49-F238E27FC236}">
                <a16:creationId xmlns:a16="http://schemas.microsoft.com/office/drawing/2014/main" id="{ED169DC5-E601-43A1-8C22-29D3A24BE2E9}"/>
              </a:ext>
            </a:extLst>
          </p:cNvPr>
          <p:cNvSpPr>
            <a:spLocks noGrp="1"/>
          </p:cNvSpPr>
          <p:nvPr/>
        </p:nvSpPr>
        <p:spPr>
          <a:xfrm>
            <a:off x="1885950" y="3600450"/>
            <a:ext cx="15297150" cy="0"/>
          </a:xfrm>
          <a:prstGeom prst="line">
            <a:avLst/>
          </a:prstGeom>
          <a:noFill/>
          <a:ln w="9525">
            <a:solidFill>
              <a:srgbClr val="D9E4EB"/>
            </a:solidFill>
          </a:ln>
        </p:spPr>
        <p:txBody>
          <a:bodyPr/>
          <a:lstStyle/>
          <a:p>
            <a:endParaRPr lang="en-US"/>
          </a:p>
        </p:txBody>
      </p:sp>
      <p:sp>
        <p:nvSpPr>
          <p:cNvPr id="13" name="roundRect-013">
            <a:extLst>
              <a:ext uri="{FF2B5EF4-FFF2-40B4-BE49-F238E27FC236}">
                <a16:creationId xmlns:a16="http://schemas.microsoft.com/office/drawing/2014/main" id="{EEC66BC8-E2B2-4880-A1CF-F371FE21420C}"/>
              </a:ext>
            </a:extLst>
          </p:cNvPr>
          <p:cNvSpPr>
            <a:spLocks noGrp="1"/>
          </p:cNvSpPr>
          <p:nvPr/>
        </p:nvSpPr>
        <p:spPr>
          <a:xfrm>
            <a:off x="1066800" y="3743325"/>
            <a:ext cx="533400" cy="523875"/>
          </a:xfrm>
          <a:prstGeom prst="roundRect">
            <a:avLst>
              <a:gd name="adj" fmla="val 25455"/>
            </a:avLst>
          </a:prstGeom>
          <a:solidFill>
            <a:srgbClr val="165E89"/>
          </a:solidFill>
          <a:ln w="0">
            <a:noFill/>
          </a:ln>
        </p:spPr>
        <p:txBody>
          <a:bodyPr/>
          <a:lstStyle/>
          <a:p>
            <a:endParaRPr lang="en-US"/>
          </a:p>
        </p:txBody>
      </p:sp>
      <p:sp>
        <p:nvSpPr>
          <p:cNvPr id="14" name="text-014 2">
            <a:extLst>
              <a:ext uri="{FF2B5EF4-FFF2-40B4-BE49-F238E27FC236}">
                <a16:creationId xmlns:a16="http://schemas.microsoft.com/office/drawing/2014/main" id="{8ECBA0C4-73BA-4CA4-85F2-47921A238F55}"/>
              </a:ext>
            </a:extLst>
          </p:cNvPr>
          <p:cNvSpPr>
            <a:spLocks noGrp="1"/>
          </p:cNvSpPr>
          <p:nvPr/>
        </p:nvSpPr>
        <p:spPr>
          <a:xfrm>
            <a:off x="1238250" y="3791106"/>
            <a:ext cx="276225" cy="414338"/>
          </a:xfrm>
          <a:prstGeom prst="rect">
            <a:avLst/>
          </a:prstGeom>
          <a:noFill/>
          <a:ln w="0">
            <a:noFill/>
          </a:ln>
        </p:spPr>
        <p:txBody>
          <a:bodyPr wrap="none" lIns="0" tIns="0" rIns="0" bIns="0" anchor="t">
            <a:noAutofit/>
          </a:bodyPr>
          <a:lstStyle/>
          <a:p>
            <a:pPr algn="l">
              <a:lnSpc>
                <a:spcPct val="112500"/>
              </a:lnSpc>
              <a:buNone/>
              <a:defRPr sz="2175" b="1">
                <a:solidFill>
                  <a:srgbClr val="FFFFFF"/>
                </a:solidFill>
                <a:latin typeface="Segoe UI"/>
                <a:ea typeface="Segoe UI"/>
                <a:cs typeface="Segoe UI"/>
              </a:defRPr>
            </a:pPr>
            <a:r>
              <a:rPr sz="2175" b="1">
                <a:solidFill>
                  <a:srgbClr val="FFFFFF"/>
                </a:solidFill>
                <a:latin typeface="Segoe UI"/>
                <a:ea typeface="Segoe UI"/>
                <a:cs typeface="Segoe UI"/>
              </a:rPr>
              <a:t>2</a:t>
            </a:r>
          </a:p>
        </p:txBody>
      </p:sp>
      <p:sp>
        <p:nvSpPr>
          <p:cNvPr id="15" name="text-015 Build SAP extraction">
            <a:extLst>
              <a:ext uri="{FF2B5EF4-FFF2-40B4-BE49-F238E27FC236}">
                <a16:creationId xmlns:a16="http://schemas.microsoft.com/office/drawing/2014/main" id="{A852A33E-039D-4328-9825-0190A9B1E7B6}"/>
              </a:ext>
            </a:extLst>
          </p:cNvPr>
          <p:cNvSpPr>
            <a:spLocks noGrp="1"/>
          </p:cNvSpPr>
          <p:nvPr/>
        </p:nvSpPr>
        <p:spPr>
          <a:xfrm>
            <a:off x="1885950" y="3780930"/>
            <a:ext cx="7524750" cy="471488"/>
          </a:xfrm>
          <a:prstGeom prst="rect">
            <a:avLst/>
          </a:prstGeom>
          <a:noFill/>
          <a:ln w="0">
            <a:noFill/>
          </a:ln>
        </p:spPr>
        <p:txBody>
          <a:bodyPr wrap="none" lIns="0" tIns="0" rIns="0" bIns="0" anchor="t">
            <a:noAutofit/>
          </a:bodyPr>
          <a:lstStyle/>
          <a:p>
            <a:pPr algn="l">
              <a:lnSpc>
                <a:spcPct val="112500"/>
              </a:lnSpc>
              <a:buNone/>
              <a:defRPr sz="2250" b="1">
                <a:solidFill>
                  <a:srgbClr val="183047"/>
                </a:solidFill>
                <a:latin typeface="Segoe UI"/>
                <a:ea typeface="Segoe UI"/>
                <a:cs typeface="Segoe UI"/>
              </a:defRPr>
            </a:pPr>
            <a:r>
              <a:rPr sz="2250" b="1">
                <a:solidFill>
                  <a:srgbClr val="183047"/>
                </a:solidFill>
                <a:latin typeface="Segoe UI"/>
                <a:ea typeface="Segoe UI"/>
                <a:cs typeface="Segoe UI"/>
              </a:rPr>
              <a:t>Build SAP extraction</a:t>
            </a:r>
          </a:p>
        </p:txBody>
      </p:sp>
      <p:sp>
        <p:nvSpPr>
          <p:cNvPr id="16" name="text-016 Turn the plan into an analysis contract">
            <a:extLst>
              <a:ext uri="{FF2B5EF4-FFF2-40B4-BE49-F238E27FC236}">
                <a16:creationId xmlns:a16="http://schemas.microsoft.com/office/drawing/2014/main" id="{86C3FF67-6928-44EF-AC1D-8302CA65109F}"/>
              </a:ext>
            </a:extLst>
          </p:cNvPr>
          <p:cNvSpPr>
            <a:spLocks noGrp="1"/>
          </p:cNvSpPr>
          <p:nvPr/>
        </p:nvSpPr>
        <p:spPr>
          <a:xfrm>
            <a:off x="9525000" y="3802586"/>
            <a:ext cx="767715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a:solidFill>
                  <a:srgbClr val="183047"/>
                </a:solidFill>
                <a:latin typeface="Segoe UI"/>
                <a:ea typeface="Segoe UI"/>
                <a:cs typeface="Segoe UI"/>
              </a:rPr>
              <a:t>Turn the plan into an analysis contract</a:t>
            </a:r>
          </a:p>
        </p:txBody>
      </p:sp>
      <p:sp>
        <p:nvSpPr>
          <p:cNvPr id="17" name="line-017-1">
            <a:extLst>
              <a:ext uri="{FF2B5EF4-FFF2-40B4-BE49-F238E27FC236}">
                <a16:creationId xmlns:a16="http://schemas.microsoft.com/office/drawing/2014/main" id="{58D645B2-F13C-4C74-A728-948D4A5AC959}"/>
              </a:ext>
            </a:extLst>
          </p:cNvPr>
          <p:cNvSpPr>
            <a:spLocks noGrp="1"/>
          </p:cNvSpPr>
          <p:nvPr/>
        </p:nvSpPr>
        <p:spPr>
          <a:xfrm>
            <a:off x="1885950" y="4438650"/>
            <a:ext cx="15297150" cy="0"/>
          </a:xfrm>
          <a:prstGeom prst="line">
            <a:avLst/>
          </a:prstGeom>
          <a:noFill/>
          <a:ln w="9525">
            <a:solidFill>
              <a:srgbClr val="D9E4EB"/>
            </a:solidFill>
          </a:ln>
        </p:spPr>
        <p:txBody>
          <a:bodyPr/>
          <a:lstStyle/>
          <a:p>
            <a:endParaRPr lang="en-US"/>
          </a:p>
        </p:txBody>
      </p:sp>
      <p:sp>
        <p:nvSpPr>
          <p:cNvPr id="18" name="roundRect-018">
            <a:extLst>
              <a:ext uri="{FF2B5EF4-FFF2-40B4-BE49-F238E27FC236}">
                <a16:creationId xmlns:a16="http://schemas.microsoft.com/office/drawing/2014/main" id="{8FDD647A-EDCA-4289-8083-54A9B80D7226}"/>
              </a:ext>
            </a:extLst>
          </p:cNvPr>
          <p:cNvSpPr>
            <a:spLocks noGrp="1"/>
          </p:cNvSpPr>
          <p:nvPr/>
        </p:nvSpPr>
        <p:spPr>
          <a:xfrm>
            <a:off x="1066800" y="4581525"/>
            <a:ext cx="533400" cy="523875"/>
          </a:xfrm>
          <a:prstGeom prst="roundRect">
            <a:avLst>
              <a:gd name="adj" fmla="val 25455"/>
            </a:avLst>
          </a:prstGeom>
          <a:solidFill>
            <a:srgbClr val="165E89"/>
          </a:solidFill>
          <a:ln w="0">
            <a:noFill/>
          </a:ln>
        </p:spPr>
        <p:txBody>
          <a:bodyPr/>
          <a:lstStyle/>
          <a:p>
            <a:endParaRPr lang="en-US"/>
          </a:p>
        </p:txBody>
      </p:sp>
      <p:sp>
        <p:nvSpPr>
          <p:cNvPr id="19" name="text-019 3">
            <a:extLst>
              <a:ext uri="{FF2B5EF4-FFF2-40B4-BE49-F238E27FC236}">
                <a16:creationId xmlns:a16="http://schemas.microsoft.com/office/drawing/2014/main" id="{9EFA33CF-A7C1-43BF-B321-2A3CEB2B0A59}"/>
              </a:ext>
            </a:extLst>
          </p:cNvPr>
          <p:cNvSpPr>
            <a:spLocks noGrp="1"/>
          </p:cNvSpPr>
          <p:nvPr/>
        </p:nvSpPr>
        <p:spPr>
          <a:xfrm>
            <a:off x="1238250" y="4629306"/>
            <a:ext cx="276225" cy="414338"/>
          </a:xfrm>
          <a:prstGeom prst="rect">
            <a:avLst/>
          </a:prstGeom>
          <a:noFill/>
          <a:ln w="0">
            <a:noFill/>
          </a:ln>
        </p:spPr>
        <p:txBody>
          <a:bodyPr wrap="none" lIns="0" tIns="0" rIns="0" bIns="0" anchor="t">
            <a:noAutofit/>
          </a:bodyPr>
          <a:lstStyle/>
          <a:p>
            <a:pPr algn="l">
              <a:lnSpc>
                <a:spcPct val="112500"/>
              </a:lnSpc>
              <a:buNone/>
              <a:defRPr sz="2175" b="1">
                <a:solidFill>
                  <a:srgbClr val="FFFFFF"/>
                </a:solidFill>
                <a:latin typeface="Segoe UI"/>
                <a:ea typeface="Segoe UI"/>
                <a:cs typeface="Segoe UI"/>
              </a:defRPr>
            </a:pPr>
            <a:r>
              <a:rPr sz="2175" b="1">
                <a:solidFill>
                  <a:srgbClr val="FFFFFF"/>
                </a:solidFill>
                <a:latin typeface="Segoe UI"/>
                <a:ea typeface="Segoe UI"/>
                <a:cs typeface="Segoe UI"/>
              </a:rPr>
              <a:t>3</a:t>
            </a:r>
          </a:p>
        </p:txBody>
      </p:sp>
      <p:sp>
        <p:nvSpPr>
          <p:cNvPr id="20" name="text-020 Add state and data protection">
            <a:extLst>
              <a:ext uri="{FF2B5EF4-FFF2-40B4-BE49-F238E27FC236}">
                <a16:creationId xmlns:a16="http://schemas.microsoft.com/office/drawing/2014/main" id="{9E630798-9A97-42B3-B22C-39C970E233AB}"/>
              </a:ext>
            </a:extLst>
          </p:cNvPr>
          <p:cNvSpPr>
            <a:spLocks noGrp="1"/>
          </p:cNvSpPr>
          <p:nvPr/>
        </p:nvSpPr>
        <p:spPr>
          <a:xfrm>
            <a:off x="1885950" y="4619130"/>
            <a:ext cx="7524750" cy="471488"/>
          </a:xfrm>
          <a:prstGeom prst="rect">
            <a:avLst/>
          </a:prstGeom>
          <a:noFill/>
          <a:ln w="0">
            <a:noFill/>
          </a:ln>
        </p:spPr>
        <p:txBody>
          <a:bodyPr wrap="none" lIns="0" tIns="0" rIns="0" bIns="0" anchor="t">
            <a:noAutofit/>
          </a:bodyPr>
          <a:lstStyle/>
          <a:p>
            <a:pPr algn="l">
              <a:lnSpc>
                <a:spcPct val="112500"/>
              </a:lnSpc>
              <a:buNone/>
              <a:defRPr sz="2250" b="1">
                <a:solidFill>
                  <a:srgbClr val="183047"/>
                </a:solidFill>
                <a:latin typeface="Segoe UI"/>
                <a:ea typeface="Segoe UI"/>
                <a:cs typeface="Segoe UI"/>
              </a:defRPr>
            </a:pPr>
            <a:r>
              <a:rPr sz="2250" b="1">
                <a:solidFill>
                  <a:srgbClr val="183047"/>
                </a:solidFill>
                <a:latin typeface="Segoe UI"/>
                <a:ea typeface="Segoe UI"/>
                <a:cs typeface="Segoe UI"/>
              </a:rPr>
              <a:t>Add state and data protection</a:t>
            </a:r>
          </a:p>
        </p:txBody>
      </p:sp>
      <p:sp>
        <p:nvSpPr>
          <p:cNvPr id="21" name="text-021 Record artifacts and protect source files">
            <a:extLst>
              <a:ext uri="{FF2B5EF4-FFF2-40B4-BE49-F238E27FC236}">
                <a16:creationId xmlns:a16="http://schemas.microsoft.com/office/drawing/2014/main" id="{D3EAB902-9466-4D11-8D49-D9D79A57FCEA}"/>
              </a:ext>
            </a:extLst>
          </p:cNvPr>
          <p:cNvSpPr>
            <a:spLocks noGrp="1"/>
          </p:cNvSpPr>
          <p:nvPr/>
        </p:nvSpPr>
        <p:spPr>
          <a:xfrm>
            <a:off x="9525000" y="4640786"/>
            <a:ext cx="767715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a:solidFill>
                  <a:srgbClr val="183047"/>
                </a:solidFill>
                <a:latin typeface="Segoe UI"/>
                <a:ea typeface="Segoe UI"/>
                <a:cs typeface="Segoe UI"/>
              </a:rPr>
              <a:t>Record artifacts and protect source files</a:t>
            </a:r>
          </a:p>
        </p:txBody>
      </p:sp>
      <p:sp>
        <p:nvSpPr>
          <p:cNvPr id="22" name="line-022-1">
            <a:extLst>
              <a:ext uri="{FF2B5EF4-FFF2-40B4-BE49-F238E27FC236}">
                <a16:creationId xmlns:a16="http://schemas.microsoft.com/office/drawing/2014/main" id="{366EF4A3-9F63-42EB-A5C6-4E21AC69104E}"/>
              </a:ext>
            </a:extLst>
          </p:cNvPr>
          <p:cNvSpPr>
            <a:spLocks noGrp="1"/>
          </p:cNvSpPr>
          <p:nvPr/>
        </p:nvSpPr>
        <p:spPr>
          <a:xfrm>
            <a:off x="1885950" y="5276850"/>
            <a:ext cx="15297150" cy="0"/>
          </a:xfrm>
          <a:prstGeom prst="line">
            <a:avLst/>
          </a:prstGeom>
          <a:noFill/>
          <a:ln w="9525">
            <a:solidFill>
              <a:srgbClr val="D9E4EB"/>
            </a:solidFill>
          </a:ln>
        </p:spPr>
        <p:txBody>
          <a:bodyPr/>
          <a:lstStyle/>
          <a:p>
            <a:endParaRPr lang="en-US"/>
          </a:p>
        </p:txBody>
      </p:sp>
      <p:sp>
        <p:nvSpPr>
          <p:cNvPr id="23" name="roundRect-023">
            <a:extLst>
              <a:ext uri="{FF2B5EF4-FFF2-40B4-BE49-F238E27FC236}">
                <a16:creationId xmlns:a16="http://schemas.microsoft.com/office/drawing/2014/main" id="{F0BCE5AA-B233-43BD-91AB-3181FF6B3B06}"/>
              </a:ext>
            </a:extLst>
          </p:cNvPr>
          <p:cNvSpPr>
            <a:spLocks noGrp="1"/>
          </p:cNvSpPr>
          <p:nvPr/>
        </p:nvSpPr>
        <p:spPr>
          <a:xfrm>
            <a:off x="1066800" y="5419725"/>
            <a:ext cx="533400" cy="523875"/>
          </a:xfrm>
          <a:prstGeom prst="roundRect">
            <a:avLst>
              <a:gd name="adj" fmla="val 25455"/>
            </a:avLst>
          </a:prstGeom>
          <a:solidFill>
            <a:srgbClr val="165E89"/>
          </a:solidFill>
          <a:ln w="0">
            <a:noFill/>
          </a:ln>
        </p:spPr>
        <p:txBody>
          <a:bodyPr/>
          <a:lstStyle/>
          <a:p>
            <a:endParaRPr lang="en-US"/>
          </a:p>
        </p:txBody>
      </p:sp>
      <p:sp>
        <p:nvSpPr>
          <p:cNvPr id="24" name="text-024 4">
            <a:extLst>
              <a:ext uri="{FF2B5EF4-FFF2-40B4-BE49-F238E27FC236}">
                <a16:creationId xmlns:a16="http://schemas.microsoft.com/office/drawing/2014/main" id="{41D55BA7-96E7-4C24-8C64-0FD0B08959D6}"/>
              </a:ext>
            </a:extLst>
          </p:cNvPr>
          <p:cNvSpPr>
            <a:spLocks noGrp="1"/>
          </p:cNvSpPr>
          <p:nvPr/>
        </p:nvSpPr>
        <p:spPr>
          <a:xfrm>
            <a:off x="1238250" y="5467506"/>
            <a:ext cx="276225" cy="414338"/>
          </a:xfrm>
          <a:prstGeom prst="rect">
            <a:avLst/>
          </a:prstGeom>
          <a:noFill/>
          <a:ln w="0">
            <a:noFill/>
          </a:ln>
        </p:spPr>
        <p:txBody>
          <a:bodyPr wrap="none" lIns="0" tIns="0" rIns="0" bIns="0" anchor="t">
            <a:noAutofit/>
          </a:bodyPr>
          <a:lstStyle/>
          <a:p>
            <a:pPr algn="l">
              <a:lnSpc>
                <a:spcPct val="112500"/>
              </a:lnSpc>
              <a:buNone/>
              <a:defRPr sz="2175" b="1">
                <a:solidFill>
                  <a:srgbClr val="FFFFFF"/>
                </a:solidFill>
                <a:latin typeface="Segoe UI"/>
                <a:ea typeface="Segoe UI"/>
                <a:cs typeface="Segoe UI"/>
              </a:defRPr>
            </a:pPr>
            <a:r>
              <a:rPr sz="2175" b="1">
                <a:solidFill>
                  <a:srgbClr val="FFFFFF"/>
                </a:solidFill>
                <a:latin typeface="Segoe UI"/>
                <a:ea typeface="Segoe UI"/>
                <a:cs typeface="Segoe UI"/>
              </a:rPr>
              <a:t>4</a:t>
            </a:r>
          </a:p>
        </p:txBody>
      </p:sp>
      <p:sp>
        <p:nvSpPr>
          <p:cNvPr id="25" name="text-025 Build readiness checks and the gate">
            <a:extLst>
              <a:ext uri="{FF2B5EF4-FFF2-40B4-BE49-F238E27FC236}">
                <a16:creationId xmlns:a16="http://schemas.microsoft.com/office/drawing/2014/main" id="{1D5AC25F-802A-47E3-B62C-D9077B3311C2}"/>
              </a:ext>
            </a:extLst>
          </p:cNvPr>
          <p:cNvSpPr>
            <a:spLocks noGrp="1"/>
          </p:cNvSpPr>
          <p:nvPr/>
        </p:nvSpPr>
        <p:spPr>
          <a:xfrm>
            <a:off x="1885950" y="5457330"/>
            <a:ext cx="7524750" cy="471488"/>
          </a:xfrm>
          <a:prstGeom prst="rect">
            <a:avLst/>
          </a:prstGeom>
          <a:noFill/>
          <a:ln w="0">
            <a:noFill/>
          </a:ln>
        </p:spPr>
        <p:txBody>
          <a:bodyPr wrap="none" lIns="0" tIns="0" rIns="0" bIns="0" anchor="t">
            <a:noAutofit/>
          </a:bodyPr>
          <a:lstStyle/>
          <a:p>
            <a:pPr algn="l">
              <a:lnSpc>
                <a:spcPct val="112500"/>
              </a:lnSpc>
              <a:buNone/>
              <a:defRPr sz="2250" b="1">
                <a:solidFill>
                  <a:srgbClr val="183047"/>
                </a:solidFill>
                <a:latin typeface="Segoe UI"/>
                <a:ea typeface="Segoe UI"/>
                <a:cs typeface="Segoe UI"/>
              </a:defRPr>
            </a:pPr>
            <a:r>
              <a:rPr sz="2250" b="1">
                <a:solidFill>
                  <a:srgbClr val="183047"/>
                </a:solidFill>
                <a:latin typeface="Segoe UI"/>
                <a:ea typeface="Segoe UI"/>
                <a:cs typeface="Segoe UI"/>
              </a:rPr>
              <a:t>Build readiness checks and the gate</a:t>
            </a:r>
          </a:p>
        </p:txBody>
      </p:sp>
      <p:sp>
        <p:nvSpPr>
          <p:cNvPr id="26" name="text-026 Check requirements; ALLOW or BLOCK">
            <a:extLst>
              <a:ext uri="{FF2B5EF4-FFF2-40B4-BE49-F238E27FC236}">
                <a16:creationId xmlns:a16="http://schemas.microsoft.com/office/drawing/2014/main" id="{51F2354E-C81B-4F8B-B24C-17A583E796CB}"/>
              </a:ext>
            </a:extLst>
          </p:cNvPr>
          <p:cNvSpPr>
            <a:spLocks noGrp="1"/>
          </p:cNvSpPr>
          <p:nvPr/>
        </p:nvSpPr>
        <p:spPr>
          <a:xfrm>
            <a:off x="9525000" y="5478986"/>
            <a:ext cx="767715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a:solidFill>
                  <a:srgbClr val="183047"/>
                </a:solidFill>
                <a:latin typeface="Segoe UI"/>
                <a:ea typeface="Segoe UI"/>
                <a:cs typeface="Segoe UI"/>
              </a:rPr>
              <a:t>Check requirements; ALLOW or BLOCK</a:t>
            </a:r>
          </a:p>
        </p:txBody>
      </p:sp>
      <p:sp>
        <p:nvSpPr>
          <p:cNvPr id="27" name="line-027-1">
            <a:extLst>
              <a:ext uri="{FF2B5EF4-FFF2-40B4-BE49-F238E27FC236}">
                <a16:creationId xmlns:a16="http://schemas.microsoft.com/office/drawing/2014/main" id="{6CE7B33A-7BC4-47A7-A832-228E47B39643}"/>
              </a:ext>
            </a:extLst>
          </p:cNvPr>
          <p:cNvSpPr>
            <a:spLocks noGrp="1"/>
          </p:cNvSpPr>
          <p:nvPr/>
        </p:nvSpPr>
        <p:spPr>
          <a:xfrm>
            <a:off x="1885950" y="6115050"/>
            <a:ext cx="15297150" cy="0"/>
          </a:xfrm>
          <a:prstGeom prst="line">
            <a:avLst/>
          </a:prstGeom>
          <a:noFill/>
          <a:ln w="9525">
            <a:solidFill>
              <a:srgbClr val="D9E4EB"/>
            </a:solidFill>
          </a:ln>
        </p:spPr>
        <p:txBody>
          <a:bodyPr/>
          <a:lstStyle/>
          <a:p>
            <a:endParaRPr lang="en-US"/>
          </a:p>
        </p:txBody>
      </p:sp>
      <p:sp>
        <p:nvSpPr>
          <p:cNvPr id="28" name="roundRect-028">
            <a:extLst>
              <a:ext uri="{FF2B5EF4-FFF2-40B4-BE49-F238E27FC236}">
                <a16:creationId xmlns:a16="http://schemas.microsoft.com/office/drawing/2014/main" id="{F9264141-3B9D-4FA0-A2E4-99AFE52EAC5C}"/>
              </a:ext>
            </a:extLst>
          </p:cNvPr>
          <p:cNvSpPr>
            <a:spLocks noGrp="1"/>
          </p:cNvSpPr>
          <p:nvPr/>
        </p:nvSpPr>
        <p:spPr>
          <a:xfrm>
            <a:off x="1066800" y="6257925"/>
            <a:ext cx="533400" cy="523875"/>
          </a:xfrm>
          <a:prstGeom prst="roundRect">
            <a:avLst>
              <a:gd name="adj" fmla="val 25455"/>
            </a:avLst>
          </a:prstGeom>
          <a:solidFill>
            <a:srgbClr val="165E89"/>
          </a:solidFill>
          <a:ln w="0">
            <a:noFill/>
          </a:ln>
        </p:spPr>
        <p:txBody>
          <a:bodyPr/>
          <a:lstStyle/>
          <a:p>
            <a:endParaRPr lang="en-US"/>
          </a:p>
        </p:txBody>
      </p:sp>
      <p:sp>
        <p:nvSpPr>
          <p:cNvPr id="29" name="text-029 5">
            <a:extLst>
              <a:ext uri="{FF2B5EF4-FFF2-40B4-BE49-F238E27FC236}">
                <a16:creationId xmlns:a16="http://schemas.microsoft.com/office/drawing/2014/main" id="{C86867D1-AE7E-4C17-902B-62BABC9FD5B3}"/>
              </a:ext>
            </a:extLst>
          </p:cNvPr>
          <p:cNvSpPr>
            <a:spLocks noGrp="1"/>
          </p:cNvSpPr>
          <p:nvPr/>
        </p:nvSpPr>
        <p:spPr>
          <a:xfrm>
            <a:off x="1238250" y="6305706"/>
            <a:ext cx="276225" cy="414338"/>
          </a:xfrm>
          <a:prstGeom prst="rect">
            <a:avLst/>
          </a:prstGeom>
          <a:noFill/>
          <a:ln w="0">
            <a:noFill/>
          </a:ln>
        </p:spPr>
        <p:txBody>
          <a:bodyPr wrap="none" lIns="0" tIns="0" rIns="0" bIns="0" anchor="t">
            <a:noAutofit/>
          </a:bodyPr>
          <a:lstStyle/>
          <a:p>
            <a:pPr algn="l">
              <a:lnSpc>
                <a:spcPct val="112500"/>
              </a:lnSpc>
              <a:buNone/>
              <a:defRPr sz="2175" b="1">
                <a:solidFill>
                  <a:srgbClr val="FFFFFF"/>
                </a:solidFill>
                <a:latin typeface="Segoe UI"/>
                <a:ea typeface="Segoe UI"/>
                <a:cs typeface="Segoe UI"/>
              </a:defRPr>
            </a:pPr>
            <a:r>
              <a:rPr sz="2175" b="1">
                <a:solidFill>
                  <a:srgbClr val="FFFFFF"/>
                </a:solidFill>
                <a:latin typeface="Segoe UI"/>
                <a:ea typeface="Segoe UI"/>
                <a:cs typeface="Segoe UI"/>
              </a:rPr>
              <a:t>5</a:t>
            </a:r>
          </a:p>
        </p:txBody>
      </p:sp>
      <p:sp>
        <p:nvSpPr>
          <p:cNvPr id="30" name="text-030 Add analysis and final review">
            <a:extLst>
              <a:ext uri="{FF2B5EF4-FFF2-40B4-BE49-F238E27FC236}">
                <a16:creationId xmlns:a16="http://schemas.microsoft.com/office/drawing/2014/main" id="{1AD3DE0D-1253-4E93-B1C9-51C1ABB58859}"/>
              </a:ext>
            </a:extLst>
          </p:cNvPr>
          <p:cNvSpPr>
            <a:spLocks noGrp="1"/>
          </p:cNvSpPr>
          <p:nvPr/>
        </p:nvSpPr>
        <p:spPr>
          <a:xfrm>
            <a:off x="1885950" y="6295530"/>
            <a:ext cx="7524750" cy="471488"/>
          </a:xfrm>
          <a:prstGeom prst="rect">
            <a:avLst/>
          </a:prstGeom>
          <a:noFill/>
          <a:ln w="0">
            <a:noFill/>
          </a:ln>
        </p:spPr>
        <p:txBody>
          <a:bodyPr wrap="none" lIns="0" tIns="0" rIns="0" bIns="0" anchor="t">
            <a:noAutofit/>
          </a:bodyPr>
          <a:lstStyle/>
          <a:p>
            <a:pPr algn="l">
              <a:lnSpc>
                <a:spcPct val="112500"/>
              </a:lnSpc>
              <a:buNone/>
              <a:defRPr sz="2250" b="1">
                <a:solidFill>
                  <a:srgbClr val="183047"/>
                </a:solidFill>
                <a:latin typeface="Segoe UI"/>
                <a:ea typeface="Segoe UI"/>
                <a:cs typeface="Segoe UI"/>
              </a:defRPr>
            </a:pPr>
            <a:r>
              <a:rPr sz="2250" b="1">
                <a:solidFill>
                  <a:srgbClr val="183047"/>
                </a:solidFill>
                <a:latin typeface="Segoe UI"/>
                <a:ea typeface="Segoe UI"/>
                <a:cs typeface="Segoe UI"/>
              </a:rPr>
              <a:t>Add analysis and final review</a:t>
            </a:r>
          </a:p>
        </p:txBody>
      </p:sp>
      <p:sp>
        <p:nvSpPr>
          <p:cNvPr id="31" name="text-031 Gate ANCOVA and check results before release">
            <a:extLst>
              <a:ext uri="{FF2B5EF4-FFF2-40B4-BE49-F238E27FC236}">
                <a16:creationId xmlns:a16="http://schemas.microsoft.com/office/drawing/2014/main" id="{174D735E-8E35-4D8E-A76C-69D99FBB06EF}"/>
              </a:ext>
            </a:extLst>
          </p:cNvPr>
          <p:cNvSpPr>
            <a:spLocks noGrp="1"/>
          </p:cNvSpPr>
          <p:nvPr/>
        </p:nvSpPr>
        <p:spPr>
          <a:xfrm>
            <a:off x="9525000" y="6317186"/>
            <a:ext cx="767715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dirty="0">
                <a:solidFill>
                  <a:srgbClr val="183047"/>
                </a:solidFill>
                <a:latin typeface="Segoe UI"/>
                <a:ea typeface="Segoe UI"/>
                <a:cs typeface="Segoe UI"/>
              </a:rPr>
              <a:t>Gate ANCOVA and check results before release</a:t>
            </a:r>
          </a:p>
        </p:txBody>
      </p:sp>
      <p:sp>
        <p:nvSpPr>
          <p:cNvPr id="32" name="line-032-1">
            <a:extLst>
              <a:ext uri="{FF2B5EF4-FFF2-40B4-BE49-F238E27FC236}">
                <a16:creationId xmlns:a16="http://schemas.microsoft.com/office/drawing/2014/main" id="{B099E6BA-6C27-4150-9638-BBA406892DFB}"/>
              </a:ext>
            </a:extLst>
          </p:cNvPr>
          <p:cNvSpPr>
            <a:spLocks noGrp="1"/>
          </p:cNvSpPr>
          <p:nvPr/>
        </p:nvSpPr>
        <p:spPr>
          <a:xfrm>
            <a:off x="1885950" y="6953250"/>
            <a:ext cx="15297150" cy="0"/>
          </a:xfrm>
          <a:prstGeom prst="line">
            <a:avLst/>
          </a:prstGeom>
          <a:noFill/>
          <a:ln w="9525">
            <a:solidFill>
              <a:srgbClr val="D9E4EB"/>
            </a:solidFill>
          </a:ln>
        </p:spPr>
        <p:txBody>
          <a:bodyPr/>
          <a:lstStyle/>
          <a:p>
            <a:endParaRPr lang="en-US"/>
          </a:p>
        </p:txBody>
      </p:sp>
      <p:sp>
        <p:nvSpPr>
          <p:cNvPr id="33" name="roundRect-033">
            <a:extLst>
              <a:ext uri="{FF2B5EF4-FFF2-40B4-BE49-F238E27FC236}">
                <a16:creationId xmlns:a16="http://schemas.microsoft.com/office/drawing/2014/main" id="{51E58AEB-5664-4CD1-AAFA-08B6949FB1FB}"/>
              </a:ext>
            </a:extLst>
          </p:cNvPr>
          <p:cNvSpPr>
            <a:spLocks noGrp="1"/>
          </p:cNvSpPr>
          <p:nvPr/>
        </p:nvSpPr>
        <p:spPr>
          <a:xfrm>
            <a:off x="1066800" y="7096125"/>
            <a:ext cx="533400" cy="523875"/>
          </a:xfrm>
          <a:prstGeom prst="roundRect">
            <a:avLst>
              <a:gd name="adj" fmla="val 25455"/>
            </a:avLst>
          </a:prstGeom>
          <a:solidFill>
            <a:srgbClr val="165E89"/>
          </a:solidFill>
          <a:ln w="0">
            <a:noFill/>
          </a:ln>
        </p:spPr>
        <p:txBody>
          <a:bodyPr/>
          <a:lstStyle/>
          <a:p>
            <a:endParaRPr lang="en-US"/>
          </a:p>
        </p:txBody>
      </p:sp>
      <p:sp>
        <p:nvSpPr>
          <p:cNvPr id="34" name="text-034 6">
            <a:extLst>
              <a:ext uri="{FF2B5EF4-FFF2-40B4-BE49-F238E27FC236}">
                <a16:creationId xmlns:a16="http://schemas.microsoft.com/office/drawing/2014/main" id="{E4D25227-0A0D-45E3-9B87-C6FF9CE7221C}"/>
              </a:ext>
            </a:extLst>
          </p:cNvPr>
          <p:cNvSpPr>
            <a:spLocks noGrp="1"/>
          </p:cNvSpPr>
          <p:nvPr/>
        </p:nvSpPr>
        <p:spPr>
          <a:xfrm>
            <a:off x="1238250" y="7143906"/>
            <a:ext cx="276225" cy="414338"/>
          </a:xfrm>
          <a:prstGeom prst="rect">
            <a:avLst/>
          </a:prstGeom>
          <a:noFill/>
          <a:ln w="0">
            <a:noFill/>
          </a:ln>
        </p:spPr>
        <p:txBody>
          <a:bodyPr wrap="none" lIns="0" tIns="0" rIns="0" bIns="0" anchor="t">
            <a:noAutofit/>
          </a:bodyPr>
          <a:lstStyle/>
          <a:p>
            <a:pPr algn="l">
              <a:lnSpc>
                <a:spcPct val="112500"/>
              </a:lnSpc>
              <a:buNone/>
              <a:defRPr sz="2175" b="1">
                <a:solidFill>
                  <a:srgbClr val="FFFFFF"/>
                </a:solidFill>
                <a:latin typeface="Segoe UI"/>
                <a:ea typeface="Segoe UI"/>
                <a:cs typeface="Segoe UI"/>
              </a:defRPr>
            </a:pPr>
            <a:r>
              <a:rPr sz="2175" b="1">
                <a:solidFill>
                  <a:srgbClr val="FFFFFF"/>
                </a:solidFill>
                <a:latin typeface="Segoe UI"/>
                <a:ea typeface="Segoe UI"/>
                <a:cs typeface="Segoe UI"/>
              </a:rPr>
              <a:t>6</a:t>
            </a:r>
          </a:p>
        </p:txBody>
      </p:sp>
      <p:sp>
        <p:nvSpPr>
          <p:cNvPr id="35" name="text-035 Connect the workflow skill">
            <a:extLst>
              <a:ext uri="{FF2B5EF4-FFF2-40B4-BE49-F238E27FC236}">
                <a16:creationId xmlns:a16="http://schemas.microsoft.com/office/drawing/2014/main" id="{D72E7571-11AF-410F-9BA2-AAD559F4DD5E}"/>
              </a:ext>
            </a:extLst>
          </p:cNvPr>
          <p:cNvSpPr>
            <a:spLocks noGrp="1"/>
          </p:cNvSpPr>
          <p:nvPr/>
        </p:nvSpPr>
        <p:spPr>
          <a:xfrm>
            <a:off x="1885950" y="7133730"/>
            <a:ext cx="7524750" cy="471488"/>
          </a:xfrm>
          <a:prstGeom prst="rect">
            <a:avLst/>
          </a:prstGeom>
          <a:noFill/>
          <a:ln w="0">
            <a:noFill/>
          </a:ln>
        </p:spPr>
        <p:txBody>
          <a:bodyPr wrap="none" lIns="0" tIns="0" rIns="0" bIns="0" anchor="t">
            <a:noAutofit/>
          </a:bodyPr>
          <a:lstStyle/>
          <a:p>
            <a:pPr algn="l">
              <a:lnSpc>
                <a:spcPct val="112500"/>
              </a:lnSpc>
              <a:buNone/>
              <a:defRPr sz="2250" b="1">
                <a:solidFill>
                  <a:srgbClr val="183047"/>
                </a:solidFill>
                <a:latin typeface="Segoe UI"/>
                <a:ea typeface="Segoe UI"/>
                <a:cs typeface="Segoe UI"/>
              </a:defRPr>
            </a:pPr>
            <a:r>
              <a:rPr sz="2250" b="1">
                <a:solidFill>
                  <a:srgbClr val="183047"/>
                </a:solidFill>
                <a:latin typeface="Segoe UI"/>
                <a:ea typeface="Segoe UI"/>
                <a:cs typeface="Segoe UI"/>
              </a:rPr>
              <a:t>Connect the workflow skill</a:t>
            </a:r>
          </a:p>
        </p:txBody>
      </p:sp>
      <p:sp>
        <p:nvSpPr>
          <p:cNvPr id="36" name="text-036 Guide the agent’s tasks and replies in conversation">
            <a:extLst>
              <a:ext uri="{FF2B5EF4-FFF2-40B4-BE49-F238E27FC236}">
                <a16:creationId xmlns:a16="http://schemas.microsoft.com/office/drawing/2014/main" id="{868D4A1B-5DFB-4661-9439-834F32293143}"/>
              </a:ext>
            </a:extLst>
          </p:cNvPr>
          <p:cNvSpPr>
            <a:spLocks noGrp="1"/>
          </p:cNvSpPr>
          <p:nvPr/>
        </p:nvSpPr>
        <p:spPr>
          <a:xfrm>
            <a:off x="9525000" y="7155386"/>
            <a:ext cx="7677150" cy="408623"/>
          </a:xfrm>
          <a:prstGeom prst="rect">
            <a:avLst/>
          </a:prstGeom>
          <a:noFill/>
          <a:ln w="0">
            <a:noFill/>
          </a:ln>
        </p:spPr>
        <p:txBody>
          <a:bodyPr wrap="none" lIns="0" tIns="0" rIns="0" bIns="0" anchor="t">
            <a:noAutofit/>
          </a:bodyPr>
          <a:lstStyle/>
          <a:p>
            <a:pPr algn="l">
              <a:lnSpc>
                <a:spcPct val="112500"/>
              </a:lnSpc>
              <a:buNone/>
              <a:defRPr sz="1950" b="0">
                <a:solidFill>
                  <a:srgbClr val="183047"/>
                </a:solidFill>
                <a:latin typeface="Segoe UI"/>
                <a:ea typeface="Segoe UI"/>
                <a:cs typeface="Segoe UI"/>
              </a:defRPr>
            </a:pPr>
            <a:r>
              <a:rPr sz="1950" b="0">
                <a:solidFill>
                  <a:srgbClr val="183047"/>
                </a:solidFill>
                <a:latin typeface="Segoe UI"/>
                <a:ea typeface="Segoe UI"/>
                <a:cs typeface="Segoe UI"/>
              </a:rPr>
              <a:t>Guide the agent’s tasks and replies in conversation</a:t>
            </a:r>
          </a:p>
        </p:txBody>
      </p:sp>
    </p:spTree>
    <p:extLst>
      <p:ext uri="{BB962C8B-B14F-4D97-AF65-F5344CB8AC3E}">
        <p14:creationId xmlns:p14="http://schemas.microsoft.com/office/powerpoint/2010/main" val="13786163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6605</Words>
  <Application>Microsoft Office PowerPoint</Application>
  <DocSecurity>0</DocSecurity>
  <PresentationFormat>Custom</PresentationFormat>
  <Paragraphs>631</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Calibri</vt:lpstr>
      <vt:lpstr>Consolas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
  <cp:lastModifiedBy/>
  <cp:revision>2</cp:revision>
  <dcterms:created xsi:type="dcterms:W3CDTF">2026-09-15T07:32:06Z</dcterms:created>
  <dcterms:modified xsi:type="dcterms:W3CDTF">2026-09-15T07:49:02Z</dcterms:modified>
</cp:coreProperties>
</file>